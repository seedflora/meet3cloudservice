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1c8fc54e15455b" /><Relationship Type="http://schemas.openxmlformats.org/officeDocument/2006/relationships/extended-properties" Target="/docProps/app.xml" Id="R519c4a82111045f2" /><Relationship Type="http://schemas.openxmlformats.org/officeDocument/2006/relationships/officeDocument" Target="/ppt/presentation.xml" Id="R8962881acf9e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423fc4a51498e"/>
  </p:sldMasterIdLst>
  <p:notesMasterIdLst>
    <p:notesMasterId xmlns:r="http://schemas.openxmlformats.org/officeDocument/2006/relationships" r:id="R4a26dde4d48a4ade"/>
  </p:notesMasterIdLst>
  <p:sldIdLst>
    <p:sldId xmlns:r="http://schemas.openxmlformats.org/officeDocument/2006/relationships" id="256" r:id="R06c02490d2364f60"/>
    <p:sldId xmlns:r="http://schemas.openxmlformats.org/officeDocument/2006/relationships" id="257" r:id="R4dabcbca1fa245ae"/>
    <p:sldId xmlns:r="http://schemas.openxmlformats.org/officeDocument/2006/relationships" id="258" r:id="Rdfa96098fad14457"/>
    <p:sldId xmlns:r="http://schemas.openxmlformats.org/officeDocument/2006/relationships" id="259" r:id="R3524acf2f42e4b24"/>
    <p:sldId xmlns:r="http://schemas.openxmlformats.org/officeDocument/2006/relationships" id="260" r:id="Rb927ee0052454755"/>
    <p:sldId xmlns:r="http://schemas.openxmlformats.org/officeDocument/2006/relationships" id="261" r:id="R1d696d3ec70f4dec"/>
    <p:sldId xmlns:r="http://schemas.openxmlformats.org/officeDocument/2006/relationships" id="262" r:id="R2083c61b16c84ee4"/>
    <p:sldId xmlns:r="http://schemas.openxmlformats.org/officeDocument/2006/relationships" id="263" r:id="R20e27643bf424dfb"/>
    <p:sldId xmlns:r="http://schemas.openxmlformats.org/officeDocument/2006/relationships" id="264" r:id="R44303beb12034f7b"/>
    <p:sldId xmlns:r="http://schemas.openxmlformats.org/officeDocument/2006/relationships" id="265" r:id="R995d13b67cfe4991"/>
    <p:sldId xmlns:r="http://schemas.openxmlformats.org/officeDocument/2006/relationships" id="266" r:id="Rb22ad46760fb45cb"/>
    <p:sldId xmlns:r="http://schemas.openxmlformats.org/officeDocument/2006/relationships" id="267" r:id="R351895614cc04c6c"/>
    <p:sldId xmlns:r="http://schemas.openxmlformats.org/officeDocument/2006/relationships" id="268" r:id="Ra6b92d106b9a4ea1"/>
    <p:sldId xmlns:r="http://schemas.openxmlformats.org/officeDocument/2006/relationships" id="269" r:id="Rb243151d13b2406b"/>
    <p:sldId xmlns:r="http://schemas.openxmlformats.org/officeDocument/2006/relationships" id="270" r:id="R0e2bfde360424682"/>
    <p:sldId xmlns:r="http://schemas.openxmlformats.org/officeDocument/2006/relationships" id="271" r:id="Rba9945c2b99548f9"/>
    <p:sldId xmlns:r="http://schemas.openxmlformats.org/officeDocument/2006/relationships" id="272" r:id="Rd31f9a4c1f6044f9"/>
    <p:sldId xmlns:r="http://schemas.openxmlformats.org/officeDocument/2006/relationships" id="273" r:id="R5e0468c2fce047a5"/>
    <p:sldId xmlns:r="http://schemas.openxmlformats.org/officeDocument/2006/relationships" id="274" r:id="R885f00c8fc3b4b33"/>
    <p:sldId xmlns:r="http://schemas.openxmlformats.org/officeDocument/2006/relationships" id="275" r:id="R7b119aa48c13430b"/>
    <p:sldId xmlns:r="http://schemas.openxmlformats.org/officeDocument/2006/relationships" id="276" r:id="R711d619b9dff4e86"/>
    <p:sldId xmlns:r="http://schemas.openxmlformats.org/officeDocument/2006/relationships" id="277" r:id="R37b24761f31a4f26"/>
    <p:sldId xmlns:r="http://schemas.openxmlformats.org/officeDocument/2006/relationships" id="278" r:id="Rc2cfd0ae435a4acf"/>
    <p:sldId xmlns:r="http://schemas.openxmlformats.org/officeDocument/2006/relationships" id="279" r:id="R2b0af34db3c449be"/>
    <p:sldId xmlns:r="http://schemas.openxmlformats.org/officeDocument/2006/relationships" id="280" r:id="R220bba8f3e9e4f1f"/>
    <p:sldId xmlns:r="http://schemas.openxmlformats.org/officeDocument/2006/relationships" id="281" r:id="R61a58be35a664919"/>
    <p:sldId xmlns:r="http://schemas.openxmlformats.org/officeDocument/2006/relationships" id="282" r:id="Rd38532e41b544227"/>
    <p:sldId xmlns:r="http://schemas.openxmlformats.org/officeDocument/2006/relationships" id="283" r:id="R8a3a0cb62abd49f5"/>
    <p:sldId xmlns:r="http://schemas.openxmlformats.org/officeDocument/2006/relationships" id="284" r:id="R96e79b62b287405d"/>
    <p:sldId xmlns:r="http://schemas.openxmlformats.org/officeDocument/2006/relationships" id="285" r:id="R2e7cda7bdf23452a"/>
    <p:sldId xmlns:r="http://schemas.openxmlformats.org/officeDocument/2006/relationships" id="286" r:id="Rd184eec83a6d4941"/>
    <p:sldId xmlns:r="http://schemas.openxmlformats.org/officeDocument/2006/relationships" id="287" r:id="R8724d5e1949145da"/>
    <p:sldId xmlns:r="http://schemas.openxmlformats.org/officeDocument/2006/relationships" id="288" r:id="Rd61fe8b5db5b4073"/>
    <p:sldId xmlns:r="http://schemas.openxmlformats.org/officeDocument/2006/relationships" id="289" r:id="R898d820cfcbd4f44"/>
    <p:sldId xmlns:r="http://schemas.openxmlformats.org/officeDocument/2006/relationships" id="290" r:id="R6ecd4abdc2304fcf"/>
    <p:sldId xmlns:r="http://schemas.openxmlformats.org/officeDocument/2006/relationships" id="291" r:id="R50697b36829c40af"/>
    <p:sldId xmlns:r="http://schemas.openxmlformats.org/officeDocument/2006/relationships" id="292" r:id="R0696247556cd4891"/>
    <p:sldId xmlns:r="http://schemas.openxmlformats.org/officeDocument/2006/relationships" id="293" r:id="Rf096365765164f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48f2ba2c34258" /><Relationship Type="http://schemas.openxmlformats.org/officeDocument/2006/relationships/slideMaster" Target="/ppt/slideMasters/slideMaster1.xml" Id="R2ef423fc4a51498e" /><Relationship Type="http://schemas.openxmlformats.org/officeDocument/2006/relationships/notesMaster" Target="/ppt/notesMasters/notesMaster1.xml" Id="R4a26dde4d48a4ade" /><Relationship Type="http://schemas.openxmlformats.org/officeDocument/2006/relationships/presProps" Target="/ppt/presProps.xml" Id="R8122a52eb62c4c0a" /><Relationship Type="http://schemas.openxmlformats.org/officeDocument/2006/relationships/viewProps" Target="/ppt/viewProps.xml" Id="R8bd29935ad694a4a" /><Relationship Type="http://schemas.openxmlformats.org/officeDocument/2006/relationships/tableStyles" Target="/ppt/tableStyles.xml" Id="Ra8a7f16f89424bea" /><Relationship Type="http://schemas.openxmlformats.org/officeDocument/2006/relationships/slide" Target="/ppt/slides/slide1.xml" Id="R06c02490d2364f60" /><Relationship Type="http://schemas.openxmlformats.org/officeDocument/2006/relationships/slide" Target="/ppt/slides/slide2.xml" Id="R4dabcbca1fa245ae" /><Relationship Type="http://schemas.openxmlformats.org/officeDocument/2006/relationships/slide" Target="/ppt/slides/slide3.xml" Id="Rdfa96098fad14457" /><Relationship Type="http://schemas.openxmlformats.org/officeDocument/2006/relationships/slide" Target="/ppt/slides/slide4.xml" Id="R3524acf2f42e4b24" /><Relationship Type="http://schemas.openxmlformats.org/officeDocument/2006/relationships/slide" Target="/ppt/slides/slide5.xml" Id="Rb927ee0052454755" /><Relationship Type="http://schemas.openxmlformats.org/officeDocument/2006/relationships/slide" Target="/ppt/slides/slide6.xml" Id="R1d696d3ec70f4dec" /><Relationship Type="http://schemas.openxmlformats.org/officeDocument/2006/relationships/slide" Target="/ppt/slides/slide7.xml" Id="R2083c61b16c84ee4" /><Relationship Type="http://schemas.openxmlformats.org/officeDocument/2006/relationships/slide" Target="/ppt/slides/slide8.xml" Id="R20e27643bf424dfb" /><Relationship Type="http://schemas.openxmlformats.org/officeDocument/2006/relationships/slide" Target="/ppt/slides/slide9.xml" Id="R44303beb12034f7b" /><Relationship Type="http://schemas.openxmlformats.org/officeDocument/2006/relationships/slide" Target="/ppt/slides/slide10.xml" Id="R995d13b67cfe4991" /><Relationship Type="http://schemas.openxmlformats.org/officeDocument/2006/relationships/slide" Target="/ppt/slides/slide11.xml" Id="Rb22ad46760fb45cb" /><Relationship Type="http://schemas.openxmlformats.org/officeDocument/2006/relationships/slide" Target="/ppt/slides/slide12.xml" Id="R351895614cc04c6c" /><Relationship Type="http://schemas.openxmlformats.org/officeDocument/2006/relationships/slide" Target="/ppt/slides/slide13.xml" Id="Ra6b92d106b9a4ea1" /><Relationship Type="http://schemas.openxmlformats.org/officeDocument/2006/relationships/slide" Target="/ppt/slides/slide14.xml" Id="Rb243151d13b2406b" /><Relationship Type="http://schemas.openxmlformats.org/officeDocument/2006/relationships/slide" Target="/ppt/slides/slide15.xml" Id="R0e2bfde360424682" /><Relationship Type="http://schemas.openxmlformats.org/officeDocument/2006/relationships/slide" Target="/ppt/slides/slide16.xml" Id="Rba9945c2b99548f9" /><Relationship Type="http://schemas.openxmlformats.org/officeDocument/2006/relationships/slide" Target="/ppt/slides/slide17.xml" Id="Rd31f9a4c1f6044f9" /><Relationship Type="http://schemas.openxmlformats.org/officeDocument/2006/relationships/slide" Target="/ppt/slides/slide18.xml" Id="R5e0468c2fce047a5" /><Relationship Type="http://schemas.openxmlformats.org/officeDocument/2006/relationships/slide" Target="/ppt/slides/slide19.xml" Id="R885f00c8fc3b4b33" /><Relationship Type="http://schemas.openxmlformats.org/officeDocument/2006/relationships/slide" Target="/ppt/slides/slide20.xml" Id="R7b119aa48c13430b" /><Relationship Type="http://schemas.openxmlformats.org/officeDocument/2006/relationships/slide" Target="/ppt/slides/slide21.xml" Id="R711d619b9dff4e86" /><Relationship Type="http://schemas.openxmlformats.org/officeDocument/2006/relationships/slide" Target="/ppt/slides/slide22.xml" Id="R37b24761f31a4f26" /><Relationship Type="http://schemas.openxmlformats.org/officeDocument/2006/relationships/slide" Target="/ppt/slides/slide23.xml" Id="Rc2cfd0ae435a4acf" /><Relationship Type="http://schemas.openxmlformats.org/officeDocument/2006/relationships/slide" Target="/ppt/slides/slide24.xml" Id="R2b0af34db3c449be" /><Relationship Type="http://schemas.openxmlformats.org/officeDocument/2006/relationships/slide" Target="/ppt/slides/slide25.xml" Id="R220bba8f3e9e4f1f" /><Relationship Type="http://schemas.openxmlformats.org/officeDocument/2006/relationships/slide" Target="/ppt/slides/slide26.xml" Id="R61a58be35a664919" /><Relationship Type="http://schemas.openxmlformats.org/officeDocument/2006/relationships/slide" Target="/ppt/slides/slide27.xml" Id="Rd38532e41b544227" /><Relationship Type="http://schemas.openxmlformats.org/officeDocument/2006/relationships/slide" Target="/ppt/slides/slide28.xml" Id="R8a3a0cb62abd49f5" /><Relationship Type="http://schemas.openxmlformats.org/officeDocument/2006/relationships/slide" Target="/ppt/slides/slide29.xml" Id="R96e79b62b287405d" /><Relationship Type="http://schemas.openxmlformats.org/officeDocument/2006/relationships/slide" Target="/ppt/slides/slide30.xml" Id="R2e7cda7bdf23452a" /><Relationship Type="http://schemas.openxmlformats.org/officeDocument/2006/relationships/slide" Target="/ppt/slides/slide31.xml" Id="Rd184eec83a6d4941" /><Relationship Type="http://schemas.openxmlformats.org/officeDocument/2006/relationships/slide" Target="/ppt/slides/slide32.xml" Id="R8724d5e1949145da" /><Relationship Type="http://schemas.openxmlformats.org/officeDocument/2006/relationships/slide" Target="/ppt/slides/slide33.xml" Id="Rd61fe8b5db5b4073" /><Relationship Type="http://schemas.openxmlformats.org/officeDocument/2006/relationships/slide" Target="/ppt/slides/slide34.xml" Id="R898d820cfcbd4f44" /><Relationship Type="http://schemas.openxmlformats.org/officeDocument/2006/relationships/slide" Target="/ppt/slides/slide35.xml" Id="R6ecd4abdc2304fcf" /><Relationship Type="http://schemas.openxmlformats.org/officeDocument/2006/relationships/slide" Target="/ppt/slides/slide36.xml" Id="R50697b36829c40af" /><Relationship Type="http://schemas.openxmlformats.org/officeDocument/2006/relationships/slide" Target="/ppt/slides/slide37.xml" Id="R0696247556cd4891" /><Relationship Type="http://schemas.openxmlformats.org/officeDocument/2006/relationships/slide" Target="/ppt/slides/slide38.xml" Id="Rf096365765164f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6c5f4281e84b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5718ad87e44390" /><Relationship Type="http://schemas.openxmlformats.org/officeDocument/2006/relationships/notesMaster" Target="/ppt/notesMasters/notesMaster1.xml" Id="R98457623425345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1fd2787a954d79" /><Relationship Type="http://schemas.openxmlformats.org/officeDocument/2006/relationships/notesMaster" Target="/ppt/notesMasters/notesMaster1.xml" Id="R42ecdac8a21f4a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eae24508d04c3c" /><Relationship Type="http://schemas.openxmlformats.org/officeDocument/2006/relationships/notesMaster" Target="/ppt/notesMasters/notesMaster1.xml" Id="Ra88b469f6d2844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0af73afcd04637" /><Relationship Type="http://schemas.openxmlformats.org/officeDocument/2006/relationships/notesMaster" Target="/ppt/notesMasters/notesMaster1.xml" Id="Raee9cb2d22e84d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05aeb153224313" /><Relationship Type="http://schemas.openxmlformats.org/officeDocument/2006/relationships/notesMaster" Target="/ppt/notesMasters/notesMaster1.xml" Id="R723e40789bf244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4ee34969844e0a" /><Relationship Type="http://schemas.openxmlformats.org/officeDocument/2006/relationships/notesMaster" Target="/ppt/notesMasters/notesMaster1.xml" Id="Rf9174ad2bc4243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ae6533f3a34947" /><Relationship Type="http://schemas.openxmlformats.org/officeDocument/2006/relationships/notesMaster" Target="/ppt/notesMasters/notesMaster1.xml" Id="R5797b528f73444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67af8a1e7648bc" /><Relationship Type="http://schemas.openxmlformats.org/officeDocument/2006/relationships/notesMaster" Target="/ppt/notesMasters/notesMaster1.xml" Id="Rab9e9c3bc09e49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eb5f5e5c824d00" /><Relationship Type="http://schemas.openxmlformats.org/officeDocument/2006/relationships/notesMaster" Target="/ppt/notesMasters/notesMaster1.xml" Id="Rb68148705c9e41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edaa9510134317" /><Relationship Type="http://schemas.openxmlformats.org/officeDocument/2006/relationships/notesMaster" Target="/ppt/notesMasters/notesMaster1.xml" Id="Rc4605d0f2a0243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0e079151e04a70" /><Relationship Type="http://schemas.openxmlformats.org/officeDocument/2006/relationships/notesMaster" Target="/ppt/notesMasters/notesMaster1.xml" Id="R2a5bba55258249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efe0dc9a524b81" /><Relationship Type="http://schemas.openxmlformats.org/officeDocument/2006/relationships/notesMaster" Target="/ppt/notesMasters/notesMaster1.xml" Id="Re8cc73e0f2054b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f3c9f89de14e13" /><Relationship Type="http://schemas.openxmlformats.org/officeDocument/2006/relationships/notesMaster" Target="/ppt/notesMasters/notesMaster1.xml" Id="R1a57ecd40efa48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a7e8d415934118" /><Relationship Type="http://schemas.openxmlformats.org/officeDocument/2006/relationships/notesMaster" Target="/ppt/notesMasters/notesMaster1.xml" Id="R6542325e58b14e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39616f66fd4742" /><Relationship Type="http://schemas.openxmlformats.org/officeDocument/2006/relationships/notesMaster" Target="/ppt/notesMasters/notesMaster1.xml" Id="Re61f0c58352241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8d5ee97fc64486" /><Relationship Type="http://schemas.openxmlformats.org/officeDocument/2006/relationships/notesMaster" Target="/ppt/notesMasters/notesMaster1.xml" Id="Rf618260df04e43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5763eb036f4be0" /><Relationship Type="http://schemas.openxmlformats.org/officeDocument/2006/relationships/notesMaster" Target="/ppt/notesMasters/notesMaster1.xml" Id="R782859be67c845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e631fa26bf485f" /><Relationship Type="http://schemas.openxmlformats.org/officeDocument/2006/relationships/notesMaster" Target="/ppt/notesMasters/notesMaster1.xml" Id="R74e0e00d43954a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5b4a52cad140bb" /><Relationship Type="http://schemas.openxmlformats.org/officeDocument/2006/relationships/notesMaster" Target="/ppt/notesMasters/notesMaster1.xml" Id="R8b4f6c06832a45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8603ae107c48f6" /><Relationship Type="http://schemas.openxmlformats.org/officeDocument/2006/relationships/notesMaster" Target="/ppt/notesMasters/notesMaster1.xml" Id="R42169fea93e047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d44e7e18e84b9d" /><Relationship Type="http://schemas.openxmlformats.org/officeDocument/2006/relationships/notesMaster" Target="/ppt/notesMasters/notesMaster1.xml" Id="Re1914fe5bd7449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5980dbece54d13" /><Relationship Type="http://schemas.openxmlformats.org/officeDocument/2006/relationships/notesMaster" Target="/ppt/notesMasters/notesMaster1.xml" Id="Rde3adaa167af42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4f859822b04dcf" /><Relationship Type="http://schemas.openxmlformats.org/officeDocument/2006/relationships/notesMaster" Target="/ppt/notesMasters/notesMaster1.xml" Id="R84a847b1fd8943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b5b454b9104a02" /><Relationship Type="http://schemas.openxmlformats.org/officeDocument/2006/relationships/notesMaster" Target="/ppt/notesMasters/notesMaster1.xml" Id="Re6adbb61d80948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31db6cad5d4965" /><Relationship Type="http://schemas.openxmlformats.org/officeDocument/2006/relationships/notesMaster" Target="/ppt/notesMasters/notesMaster1.xml" Id="Rea7d857bfa954a3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ef130011834750" /><Relationship Type="http://schemas.openxmlformats.org/officeDocument/2006/relationships/notesMaster" Target="/ppt/notesMasters/notesMaster1.xml" Id="R2132f75a138945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f2733ce7b44b79" /><Relationship Type="http://schemas.openxmlformats.org/officeDocument/2006/relationships/notesMaster" Target="/ppt/notesMasters/notesMaster1.xml" Id="R88bdee2d138645b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935d100a974f0f" /><Relationship Type="http://schemas.openxmlformats.org/officeDocument/2006/relationships/notesMaster" Target="/ppt/notesMasters/notesMaster1.xml" Id="Rf6c9d39467104f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70a130f8f246f2" /><Relationship Type="http://schemas.openxmlformats.org/officeDocument/2006/relationships/notesMaster" Target="/ppt/notesMasters/notesMaster1.xml" Id="R5fff6610453e46d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7a954022eb04200" /><Relationship Type="http://schemas.openxmlformats.org/officeDocument/2006/relationships/notesMaster" Target="/ppt/notesMasters/notesMaster1.xml" Id="R44f3a748320342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0887c2cf27423f" /><Relationship Type="http://schemas.openxmlformats.org/officeDocument/2006/relationships/notesMaster" Target="/ppt/notesMasters/notesMaster1.xml" Id="R79d3944888bb470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cd4ad685c394192" /><Relationship Type="http://schemas.openxmlformats.org/officeDocument/2006/relationships/notesMaster" Target="/ppt/notesMasters/notesMaster1.xml" Id="Rfbb771474444471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daf26f0d3454ff5" /><Relationship Type="http://schemas.openxmlformats.org/officeDocument/2006/relationships/notesMaster" Target="/ppt/notesMasters/notesMaster1.xml" Id="R6c1bc059e3724f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57a15b829847f9" /><Relationship Type="http://schemas.openxmlformats.org/officeDocument/2006/relationships/notesMaster" Target="/ppt/notesMasters/notesMaster1.xml" Id="R57fc3c8133424b5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3841098cd0a486a" /><Relationship Type="http://schemas.openxmlformats.org/officeDocument/2006/relationships/notesMaster" Target="/ppt/notesMasters/notesMaster1.xml" Id="R15ffd0fa0472418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1c23175913141e7" /><Relationship Type="http://schemas.openxmlformats.org/officeDocument/2006/relationships/notesMaster" Target="/ppt/notesMasters/notesMaster1.xml" Id="R217221f064cd403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b23dcb8d71f4577" /><Relationship Type="http://schemas.openxmlformats.org/officeDocument/2006/relationships/notesMaster" Target="/ppt/notesMasters/notesMaster1.xml" Id="R0efc54d172d4400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fd18783b814e22" /><Relationship Type="http://schemas.openxmlformats.org/officeDocument/2006/relationships/notesMaster" Target="/ppt/notesMasters/notesMaster1.xml" Id="Rfb58e1b1988340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ns0:p xmlns:ns0="http://schemas.openxmlformats.org/drawingml/2006/main">
            <ns0:r>
              <ns0:t>Rujukan pembaruan konsep 18 Oktober 2026:</ns0:t>
            </ns0:r>
          </ns0:p>
          <ns1:p xmlns:ns1="http://schemas.openxmlformats.org/drawingml/2006/main">
            <ns1:r>
              <ns1:t>https://www.rfc-editor.org/rfc/rfc9112.html</ns1:t>
            </ns1:r>
          </ns1:p>
          <ns2:p xmlns:ns2="http://schemas.openxmlformats.org/drawingml/2006/main">
            <ns2:r>
              <ns2:t>https://www.rfc-editor.org/rfc/rfc9113.html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DNS tidak memiliki satu TTL atau waktu lookup baku. Bandingkan dig web A, dig web AAAA, dan hasil resolver container. Rujukan: https://developers.cloudflare.com/learning-paths/cybersafe/concepts/what-is-dns/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Label pangsa pasar draft lama dihapus karena metode survei berubah dan tidak diperlukan untuk Lab 03. Fokus peran Nginx sebagai reverse proxy dan web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Google Transparency Report menunjukkan adopsi HTTPS pada Chrome, tetapi persentase berbeda menurut platform dan negara; karena itu tidak ditulis sebagai satu angka universal. Sumber: https://transparencyreport.google.com/https/overview?hl=en . Sertifikat TLS membuktikan kontrol atas domain yang diminta, bukan bahwa isi situs bebas phishing.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r>
              <a:t>
Let's Encrypt memerlukan kontrol domain/validasi ACME. Lab 03 lokal memakai sertifikat self-signed yang dibuat dengan scripts/make-cert.sh, sehingga tidak perlu domain publik. Rate limit dan masa berlaku berubah; cek https://letsencrypt.org/docs/rate-limits/ dan https://eff-certbot.readthedocs.io/en/stable/using.html (diakses 8 Oktober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RPS PDF, sesi 3. Perintah nmap di lab dibatasi ke stack lokal milik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lab03_codespaces_web_live.jpg. Gambar dipotong agar langkah dan keluaran terbaca. Repo: https://github.com/SeedFlora/meet3CloudService. URL Codespaces dipotong dari gambar. Pada akses luar Codespaces, browser menggunakan HTTPS dan port URL diteruskan ke nginx port 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lab03_codespaces_docker_live.jpg. Gambar dipotong agar langkah dan keluaran terbaca. Repo: https://github.com/SeedFlora/meet3CloudService. Perintah screenshot: docker compose ps; docker compose ps --format "{{.Service}} {{.State}} {{.Health}}" &amp;&amp; bash tests/smoke.sh | tail -n 4. Status pada screenshot adalah contoh hasil konfigurasi akhir.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lab03_docker_target.png. Gambar dipotong agar langkah dan keluaran terbaca. Repo: https://github.com/SeedFlora/meet3CloudService. Target dari salinan uji lokal setelah penyelesaian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lab03_web_https_target_top.png. Gambar dipotong agar langkah dan keluaran terbaca. Repo: https://github.com/SeedFlora/meet3CloudService. Browser mungkin memperingatkan sertifikat self-signed. Gambar target dari salinan uji lokal.</a:t>
            </a:r>
          </a:p>
          <a:p xmlns:a="http://schemas.openxmlformats.org/drawingml/2006/main">
            <a:r>
              <a:t>
Lab resmi: https://github.com/SeedFlora/meet3CloudService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kasus 503 pada screenshot untuk menelusuri urutan DNS → IP → TCP/port → TLS bila HTTPS → HTTP → reverse proxy → API → database. Perhatikan 503 dapat berasal dari API saat database gagal; jangan menyimpulkan dari satu status saja. Di praktik pakai dig/nslookup, nc/nmap hanya pada target lab, curl/wget, dan openssl. Sumber Cloudflare DNS dan curl dibuka 8 Oktober 2026. Penjelasan TLS: https://www.cloudflare.com/learning/ssl/how-does-ssl-work/ ; video TLS tambahan: https://developers.cloudflare.com/videos/strict-ssl-concepts/ .</a:t>
            </a:r>
          </a:p>
          <a:p xmlns:a="http://schemas.openxmlformats.org/drawingml/2006/main">
            <a:r>
              <a:t>Screenshot: D:\cloud services\P3\screenshots\lab-db-mati-503.png</a:t>
            </a:r>
          </a:p>
          <a:p xmlns:a="http://schemas.openxmlformats.org/drawingml/2006/main">
            <a:r>
              <a:t>Repo: https://github.com/SeedFlora/meet3CloudService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kasus 503 pada screenshot untuk menelusuri urutan DNS → IP → TCP/port → TLS bila HTTPS → HTTP → reverse proxy → API → database. Perhatikan 503 dapat berasal dari API saat database gagal; jangan menyimpulkan dari satu status saja. Di praktik pakai dig/nslookup, nc/nmap hanya pada target lab, curl/wget, dan openssl. Sumber Cloudflare DNS dan curl dibuka 8 Oktober 2026. Penjelasan TLS: https://www.cloudflare.com/learning/ssl/how-does-ssl-work/ ; video TLS tambahan: https://developers.cloudflare.com/videos/strict-ssl-concepts/ .</a:t>
            </a:r>
          </a:p>
          <a:p xmlns:a="http://schemas.openxmlformats.org/drawingml/2006/main">
            <a:r>
              <a:t>Video: https://developers.cloudflare.com/videos/the-online-address-book/</a:t>
            </a:r>
          </a:p>
          <a:p xmlns:a="http://schemas.openxmlformats.org/drawingml/2006/main">
            <a:r>
              <a:t>Artikel: https://developers.cloudflare.com/learning-paths/cybersafe/concepts/what-is-dns/</a:t>
            </a:r>
          </a:p>
          <a:p xmlns:a="http://schemas.openxmlformats.org/drawingml/2006/main">
            <a:r>
              <a:t>Rujukan tambahan: https://curl.se/docs/httpscripting.html</a:t>
            </a:r>
          </a:p>
          <a:p xmlns:a="http://schemas.openxmlformats.org/drawingml/2006/main">
            <a:r>
              <a:t>Rilis terkini: https://www.cloudflare.com/learning/ssl/how-does-ssl-work/</a:t>
            </a:r>
          </a:p>
          <a:p xmlns:a="http://schemas.openxmlformats.org/drawingml/2006/main">
            <a:r>
              <a:t>Repo lab: https://github.com/SeedFlora/meet3CloudService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f82f0af7d45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803a91b16480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f6a9d098ae4d43" /><Relationship Type="http://schemas.openxmlformats.org/officeDocument/2006/relationships/slideLayout" Target="/ppt/slideLayouts/slideLayout1.xml" Id="Rd3bdd05631844471" /><Relationship Type="http://schemas.openxmlformats.org/officeDocument/2006/relationships/slideLayout" Target="/ppt/slideLayouts/slideLayout2.xml" Id="R35eae1cd6c7b47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bdd05631844471"/>
    <p:sldLayoutId xmlns:r="http://schemas.openxmlformats.org/officeDocument/2006/relationships" id="2147483650" r:id="R35eae1cd6c7b471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dc436f1484ad8" /><Relationship Type="http://schemas.openxmlformats.org/officeDocument/2006/relationships/image" Target="/ppt/media/image.jpeg" Id="R6a5da28ed6574ecb" /><Relationship Type="http://schemas.openxmlformats.org/officeDocument/2006/relationships/image" Target="/ppt/media/image.png" Id="R1a0a22b6cc9c4838" /><Relationship Type="http://schemas.openxmlformats.org/officeDocument/2006/relationships/image" Target="/ppt/media/image2.png" Id="Reb7b123ecb5f44c2" /><Relationship Type="http://schemas.openxmlformats.org/officeDocument/2006/relationships/notesSlide" Target="/ppt/notesSlides/notesSlide1.xml" Id="R52e6b7fc65e74e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3e4724881401c" /><Relationship Type="http://schemas.openxmlformats.org/officeDocument/2006/relationships/image" Target="/ppt/media/image.png" Id="R291717956f24488d" /><Relationship Type="http://schemas.openxmlformats.org/officeDocument/2006/relationships/image" Target="/ppt/media/image2.png" Id="R9e11944789214e3f" /><Relationship Type="http://schemas.openxmlformats.org/officeDocument/2006/relationships/image" Target="/ppt/media/image3.png" Id="R2da050eb00054269" /><Relationship Type="http://schemas.openxmlformats.org/officeDocument/2006/relationships/image" Target="/ppt/media/image4.png" Id="Raac82f5b0a2240c9" /><Relationship Type="http://schemas.openxmlformats.org/officeDocument/2006/relationships/image" Target="/ppt/media/image5.png" Id="Rac0a2d8d2c2f47ef" /><Relationship Type="http://schemas.openxmlformats.org/officeDocument/2006/relationships/image" Target="/ppt/media/image6.png" Id="Rc3da7b2bfa6242dd" /><Relationship Type="http://schemas.openxmlformats.org/officeDocument/2006/relationships/image" Target="/ppt/media/image7.png" Id="R4fa3e530ddd54ee7" /><Relationship Type="http://schemas.openxmlformats.org/officeDocument/2006/relationships/notesSlide" Target="/ppt/notesSlides/notesSlide2.xml" Id="R2644ec2de0aa4b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3d5bc6bfb4256" /><Relationship Type="http://schemas.openxmlformats.org/officeDocument/2006/relationships/image" Target="/ppt/media/image.png" Id="R994633f5d32e4bf8" /><Relationship Type="http://schemas.openxmlformats.org/officeDocument/2006/relationships/image" Target="/ppt/media/image2.png" Id="R89fef709cf0c4eae" /><Relationship Type="http://schemas.openxmlformats.org/officeDocument/2006/relationships/image" Target="/ppt/media/image8.png" Id="Rabc9754c657a4134" /><Relationship Type="http://schemas.openxmlformats.org/officeDocument/2006/relationships/image" Target="/ppt/media/image9.png" Id="R744a864afb0d4b0d" /><Relationship Type="http://schemas.openxmlformats.org/officeDocument/2006/relationships/image" Target="/ppt/media/image10.png" Id="Rc3371c9d47e8450b" /><Relationship Type="http://schemas.openxmlformats.org/officeDocument/2006/relationships/image" Target="/ppt/media/image11.png" Id="R5f4a82dbc90345ba" /><Relationship Type="http://schemas.openxmlformats.org/officeDocument/2006/relationships/notesSlide" Target="/ppt/notesSlides/notesSlide3.xml" Id="R2d47668bf89a44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d4fb86d5d4103" /><Relationship Type="http://schemas.openxmlformats.org/officeDocument/2006/relationships/image" Target="/ppt/media/image.png" Id="Ra4d505857e08458e" /><Relationship Type="http://schemas.openxmlformats.org/officeDocument/2006/relationships/image" Target="/ppt/media/image2.png" Id="R0a1ee8b2f67b4fb1" /><Relationship Type="http://schemas.openxmlformats.org/officeDocument/2006/relationships/notesSlide" Target="/ppt/notesSlides/notesSlide4.xml" Id="R743ca1ede41a4a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b292d00004430" /><Relationship Type="http://schemas.openxmlformats.org/officeDocument/2006/relationships/image" Target="/ppt/media/image.png" Id="R4da8982a4f484a49" /><Relationship Type="http://schemas.openxmlformats.org/officeDocument/2006/relationships/image" Target="/ppt/media/image2.png" Id="R99de7ad0cbb647d1" /><Relationship Type="http://schemas.openxmlformats.org/officeDocument/2006/relationships/notesSlide" Target="/ppt/notesSlides/notesSlide5.xml" Id="R770a93cca7ad40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6e273b2ef410b" /><Relationship Type="http://schemas.openxmlformats.org/officeDocument/2006/relationships/image" Target="/ppt/media/image.png" Id="Rf7ac1b6224af432c" /><Relationship Type="http://schemas.openxmlformats.org/officeDocument/2006/relationships/image" Target="/ppt/media/image2.png" Id="Re2ea28bd794345de" /><Relationship Type="http://schemas.openxmlformats.org/officeDocument/2006/relationships/notesSlide" Target="/ppt/notesSlides/notesSlide6.xml" Id="R2ae598a0544d4d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5fb3619f84ce3" /><Relationship Type="http://schemas.openxmlformats.org/officeDocument/2006/relationships/image" Target="/ppt/media/image.png" Id="Rb10cc640b17941ee" /><Relationship Type="http://schemas.openxmlformats.org/officeDocument/2006/relationships/image" Target="/ppt/media/image2.png" Id="R7091896d71eb4b06" /><Relationship Type="http://schemas.openxmlformats.org/officeDocument/2006/relationships/image" Target="/ppt/media/image12.png" Id="Rd20912bdf07f4efe" /><Relationship Type="http://schemas.openxmlformats.org/officeDocument/2006/relationships/image" Target="/ppt/media/image13.png" Id="R645adc440d674a9f" /><Relationship Type="http://schemas.openxmlformats.org/officeDocument/2006/relationships/notesSlide" Target="/ppt/notesSlides/notesSlide7.xml" Id="Re222ecda133848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317c7dddb4e9e" /><Relationship Type="http://schemas.openxmlformats.org/officeDocument/2006/relationships/image" Target="/ppt/media/image.png" Id="Re4050492b71b456d" /><Relationship Type="http://schemas.openxmlformats.org/officeDocument/2006/relationships/image" Target="/ppt/media/image2.png" Id="Rb580d59a10d349ad" /><Relationship Type="http://schemas.openxmlformats.org/officeDocument/2006/relationships/notesSlide" Target="/ppt/notesSlides/notesSlide8.xml" Id="R17b99552983c47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53a8f687f4206" /><Relationship Type="http://schemas.openxmlformats.org/officeDocument/2006/relationships/image" Target="/ppt/media/image.png" Id="Reff8f547935741c1" /><Relationship Type="http://schemas.openxmlformats.org/officeDocument/2006/relationships/image" Target="/ppt/media/image2.png" Id="R775c4296c60f4289" /><Relationship Type="http://schemas.openxmlformats.org/officeDocument/2006/relationships/notesSlide" Target="/ppt/notesSlides/notesSlide9.xml" Id="Rc24390550d6946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90546ef6d4f3a" /><Relationship Type="http://schemas.openxmlformats.org/officeDocument/2006/relationships/image" Target="/ppt/media/image.png" Id="Rfc6f6028927b4ea0" /><Relationship Type="http://schemas.openxmlformats.org/officeDocument/2006/relationships/image" Target="/ppt/media/image2.png" Id="R591a066a2fea4174" /><Relationship Type="http://schemas.openxmlformats.org/officeDocument/2006/relationships/image" Target="/ppt/media/image14.png" Id="R474d1152bbce4453" /><Relationship Type="http://schemas.openxmlformats.org/officeDocument/2006/relationships/notesSlide" Target="/ppt/notesSlides/notesSlide10.xml" Id="Rf6fa065c1aa046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175758bc54bac" /><Relationship Type="http://schemas.openxmlformats.org/officeDocument/2006/relationships/image" Target="/ppt/media/image.png" Id="Rdbb2767d77a14c03" /><Relationship Type="http://schemas.openxmlformats.org/officeDocument/2006/relationships/image" Target="/ppt/media/image2.png" Id="R0b80c7f5c3a4447a" /><Relationship Type="http://schemas.openxmlformats.org/officeDocument/2006/relationships/notesSlide" Target="/ppt/notesSlides/notesSlide11.xml" Id="R04ada514370b46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22bdc31024486" /><Relationship Type="http://schemas.openxmlformats.org/officeDocument/2006/relationships/image" Target="/ppt/media/image.png" Id="R999dad5460004330" /><Relationship Type="http://schemas.openxmlformats.org/officeDocument/2006/relationships/image" Target="/ppt/media/image2.png" Id="R047fab6e2b6e4217" /><Relationship Type="http://schemas.openxmlformats.org/officeDocument/2006/relationships/notesSlide" Target="/ppt/notesSlides/notesSlide12.xml" Id="Re9fec3b67c4a46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00f6f9b684fb0" /><Relationship Type="http://schemas.openxmlformats.org/officeDocument/2006/relationships/image" Target="/ppt/media/image.png" Id="R4ab16f1945ed4da5" /><Relationship Type="http://schemas.openxmlformats.org/officeDocument/2006/relationships/image" Target="/ppt/media/image2.png" Id="Rf4d4529c2035479d" /><Relationship Type="http://schemas.openxmlformats.org/officeDocument/2006/relationships/notesSlide" Target="/ppt/notesSlides/notesSlide13.xml" Id="R1dea587b86a947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830039b314127" /><Relationship Type="http://schemas.openxmlformats.org/officeDocument/2006/relationships/image" Target="/ppt/media/image.png" Id="Rf8aabbd791c74d8c" /><Relationship Type="http://schemas.openxmlformats.org/officeDocument/2006/relationships/image" Target="/ppt/media/image2.png" Id="R9cc9b5baf91048ee" /><Relationship Type="http://schemas.openxmlformats.org/officeDocument/2006/relationships/notesSlide" Target="/ppt/notesSlides/notesSlide14.xml" Id="R7903cdddf7c947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f218f08b044ca" /><Relationship Type="http://schemas.openxmlformats.org/officeDocument/2006/relationships/image" Target="/ppt/media/image.png" Id="R439d22aafd824674" /><Relationship Type="http://schemas.openxmlformats.org/officeDocument/2006/relationships/image" Target="/ppt/media/image2.png" Id="R97b48a2eff2f45d9" /><Relationship Type="http://schemas.openxmlformats.org/officeDocument/2006/relationships/notesSlide" Target="/ppt/notesSlides/notesSlide15.xml" Id="R30fd72f1f55a46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9201eddce451a" /><Relationship Type="http://schemas.openxmlformats.org/officeDocument/2006/relationships/image" Target="/ppt/media/image.png" Id="R6c1ec03f68b04a7a" /><Relationship Type="http://schemas.openxmlformats.org/officeDocument/2006/relationships/image" Target="/ppt/media/image2.png" Id="Rdd9f7cc9adfa46e3" /><Relationship Type="http://schemas.openxmlformats.org/officeDocument/2006/relationships/notesSlide" Target="/ppt/notesSlides/notesSlide16.xml" Id="R75dbc61d85f649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09d24f9e64714" /><Relationship Type="http://schemas.openxmlformats.org/officeDocument/2006/relationships/image" Target="/ppt/media/image.png" Id="Re48e2ddd660f42ba" /><Relationship Type="http://schemas.openxmlformats.org/officeDocument/2006/relationships/image" Target="/ppt/media/image2.png" Id="R3fa87b56f22c4cc9" /><Relationship Type="http://schemas.openxmlformats.org/officeDocument/2006/relationships/notesSlide" Target="/ppt/notesSlides/notesSlide17.xml" Id="R11faf4695b4140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e4272260d4d67" /><Relationship Type="http://schemas.openxmlformats.org/officeDocument/2006/relationships/image" Target="/ppt/media/image.png" Id="Rd24c7779bfa748ad" /><Relationship Type="http://schemas.openxmlformats.org/officeDocument/2006/relationships/image" Target="/ppt/media/image2.png" Id="Rbdc71452246a4c21" /><Relationship Type="http://schemas.openxmlformats.org/officeDocument/2006/relationships/notesSlide" Target="/ppt/notesSlides/notesSlide18.xml" Id="Rde31e39a9da64b2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0c85285704256" /><Relationship Type="http://schemas.openxmlformats.org/officeDocument/2006/relationships/image" Target="/ppt/media/image.png" Id="R0f5b8ed33b6a48af" /><Relationship Type="http://schemas.openxmlformats.org/officeDocument/2006/relationships/image" Target="/ppt/media/image2.png" Id="Rb6f7f507210e4c21" /><Relationship Type="http://schemas.openxmlformats.org/officeDocument/2006/relationships/notesSlide" Target="/ppt/notesSlides/notesSlide19.xml" Id="R7b732abed61e4b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65e9bb32d433d" /><Relationship Type="http://schemas.openxmlformats.org/officeDocument/2006/relationships/image" Target="/ppt/media/image.png" Id="R15050e48f4f64107" /><Relationship Type="http://schemas.openxmlformats.org/officeDocument/2006/relationships/image" Target="/ppt/media/image2.png" Id="R2f17428fc77347ee" /><Relationship Type="http://schemas.openxmlformats.org/officeDocument/2006/relationships/image" Target="/ppt/media/image13.png" Id="R60ee37da7b4a414c" /><Relationship Type="http://schemas.openxmlformats.org/officeDocument/2006/relationships/image" Target="/ppt/media/image10.png" Id="R9237c847a4a34f18" /><Relationship Type="http://schemas.openxmlformats.org/officeDocument/2006/relationships/image" Target="/ppt/media/image15.png" Id="R33be751cf83e4b71" /><Relationship Type="http://schemas.openxmlformats.org/officeDocument/2006/relationships/notesSlide" Target="/ppt/notesSlides/notesSlide20.xml" Id="R0490027e909049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78ff332914620" /><Relationship Type="http://schemas.openxmlformats.org/officeDocument/2006/relationships/image" Target="/ppt/media/image.png" Id="R09a42172294b41b0" /><Relationship Type="http://schemas.openxmlformats.org/officeDocument/2006/relationships/image" Target="/ppt/media/image2.png" Id="R6bd773e3be8f4cbf" /><Relationship Type="http://schemas.openxmlformats.org/officeDocument/2006/relationships/image" Target="/ppt/media/image9.png" Id="R38a322a121704ac8" /><Relationship Type="http://schemas.openxmlformats.org/officeDocument/2006/relationships/image" Target="/ppt/media/image10.png" Id="R31e15cdd78a447f2" /><Relationship Type="http://schemas.openxmlformats.org/officeDocument/2006/relationships/image" Target="/ppt/media/image13.png" Id="Rc719fddbeb9d4cc7" /><Relationship Type="http://schemas.openxmlformats.org/officeDocument/2006/relationships/image" Target="/ppt/media/image16.png" Id="R9da1f0dc8d914d3b" /><Relationship Type="http://schemas.openxmlformats.org/officeDocument/2006/relationships/image" Target="/ppt/media/image17.png" Id="R11d6c221d8664e9e" /><Relationship Type="http://schemas.openxmlformats.org/officeDocument/2006/relationships/image" Target="/ppt/media/image18.png" Id="Rec0faed179bb4bc1" /><Relationship Type="http://schemas.openxmlformats.org/officeDocument/2006/relationships/image" Target="/ppt/media/image14.png" Id="Ra70d1fd3cb9242a4" /><Relationship Type="http://schemas.openxmlformats.org/officeDocument/2006/relationships/notesSlide" Target="/ppt/notesSlides/notesSlide21.xml" Id="R7c13e9de228b49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186ca4a3b4329" /><Relationship Type="http://schemas.openxmlformats.org/officeDocument/2006/relationships/image" Target="/ppt/media/image.png" Id="R02fb64964fe04ce1" /><Relationship Type="http://schemas.openxmlformats.org/officeDocument/2006/relationships/image" Target="/ppt/media/image2.png" Id="R2b1b6a80bfa64c54" /><Relationship Type="http://schemas.openxmlformats.org/officeDocument/2006/relationships/notesSlide" Target="/ppt/notesSlides/notesSlide22.xml" Id="Rba067b6c1ad044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8926773d44a37" /><Relationship Type="http://schemas.openxmlformats.org/officeDocument/2006/relationships/image" Target="/ppt/media/image.png" Id="R388274c2c2834a92" /><Relationship Type="http://schemas.openxmlformats.org/officeDocument/2006/relationships/image" Target="/ppt/media/image2.png" Id="Rf8f70b443f924286" /><Relationship Type="http://schemas.openxmlformats.org/officeDocument/2006/relationships/notesSlide" Target="/ppt/notesSlides/notesSlide23.xml" Id="R2bc20e6a121b46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c7b4cec7444a8" /><Relationship Type="http://schemas.openxmlformats.org/officeDocument/2006/relationships/image" Target="/ppt/media/image.png" Id="Ra5af472cf19348af" /><Relationship Type="http://schemas.openxmlformats.org/officeDocument/2006/relationships/image" Target="/ppt/media/image2.png" Id="R4cf0a0e0c5494224" /><Relationship Type="http://schemas.openxmlformats.org/officeDocument/2006/relationships/image" Target="/ppt/media/image19.png" Id="R12292e9f3c274c7c" /><Relationship Type="http://schemas.openxmlformats.org/officeDocument/2006/relationships/image" Target="/ppt/media/image18.png" Id="Rf5eeaa619f054db8" /><Relationship Type="http://schemas.openxmlformats.org/officeDocument/2006/relationships/image" Target="/ppt/media/image20.png" Id="R875a8c775bf74761" /><Relationship Type="http://schemas.openxmlformats.org/officeDocument/2006/relationships/notesSlide" Target="/ppt/notesSlides/notesSlide24.xml" Id="R425fa712a94640c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777ee70554ed6" /><Relationship Type="http://schemas.openxmlformats.org/officeDocument/2006/relationships/image" Target="/ppt/media/image.png" Id="R6ae3a817ca694b6c" /><Relationship Type="http://schemas.openxmlformats.org/officeDocument/2006/relationships/image" Target="/ppt/media/image2.png" Id="Rc3082748114646cb" /><Relationship Type="http://schemas.openxmlformats.org/officeDocument/2006/relationships/notesSlide" Target="/ppt/notesSlides/notesSlide25.xml" Id="R8e3f8bb401b04e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36c4515c24700" /><Relationship Type="http://schemas.openxmlformats.org/officeDocument/2006/relationships/image" Target="/ppt/media/image.png" Id="R1255d8cace474ea0" /><Relationship Type="http://schemas.openxmlformats.org/officeDocument/2006/relationships/image" Target="/ppt/media/image2.png" Id="R6349456fc11f4774" /><Relationship Type="http://schemas.openxmlformats.org/officeDocument/2006/relationships/image" Target="/ppt/media/image21.png" Id="Racfb9f4c1dec4eb0" /><Relationship Type="http://schemas.openxmlformats.org/officeDocument/2006/relationships/image" Target="/ppt/media/image22.png" Id="Rb703d3e6966243e9" /><Relationship Type="http://schemas.openxmlformats.org/officeDocument/2006/relationships/notesSlide" Target="/ppt/notesSlides/notesSlide26.xml" Id="R08daadb53cde420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9db0fca454bd0" /><Relationship Type="http://schemas.openxmlformats.org/officeDocument/2006/relationships/image" Target="/ppt/media/image.png" Id="R8040e3e791b94d9f" /><Relationship Type="http://schemas.openxmlformats.org/officeDocument/2006/relationships/image" Target="/ppt/media/image2.png" Id="Reb3806f96e6c4d2a" /><Relationship Type="http://schemas.openxmlformats.org/officeDocument/2006/relationships/notesSlide" Target="/ppt/notesSlides/notesSlide27.xml" Id="R25db5c79fe3147a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fd0b911654204" /><Relationship Type="http://schemas.openxmlformats.org/officeDocument/2006/relationships/image" Target="/ppt/media/image.png" Id="R4a4b86220fab4315" /><Relationship Type="http://schemas.openxmlformats.org/officeDocument/2006/relationships/image" Target="/ppt/media/image2.png" Id="R5684fdae00024b7e" /><Relationship Type="http://schemas.openxmlformats.org/officeDocument/2006/relationships/notesSlide" Target="/ppt/notesSlides/notesSlide28.xml" Id="R167cebc6271d44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246189f1c4ce9" /><Relationship Type="http://schemas.openxmlformats.org/officeDocument/2006/relationships/image" Target="/ppt/media/image.png" Id="Rc45e3645254d4aa1" /><Relationship Type="http://schemas.openxmlformats.org/officeDocument/2006/relationships/image" Target="/ppt/media/image2.png" Id="Rb25ac7dcec0743de" /><Relationship Type="http://schemas.openxmlformats.org/officeDocument/2006/relationships/image" Target="/ppt/media/image12.png" Id="Raa3c4c9067b442ed" /><Relationship Type="http://schemas.openxmlformats.org/officeDocument/2006/relationships/image" Target="/ppt/media/image13.png" Id="Rbfc637f0cd8c466c" /><Relationship Type="http://schemas.openxmlformats.org/officeDocument/2006/relationships/notesSlide" Target="/ppt/notesSlides/notesSlide29.xml" Id="Rf54be4985b12454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bc19f728a46c4" /><Relationship Type="http://schemas.openxmlformats.org/officeDocument/2006/relationships/image" Target="/ppt/media/image.png" Id="Rb5a5c7b782f947c2" /><Relationship Type="http://schemas.openxmlformats.org/officeDocument/2006/relationships/image" Target="/ppt/media/image2.png" Id="R2f4698fe99ca40c5" /><Relationship Type="http://schemas.openxmlformats.org/officeDocument/2006/relationships/notesSlide" Target="/ppt/notesSlides/notesSlide30.xml" Id="R98ee1c1a6798415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c9176371c4bd4" /><Relationship Type="http://schemas.openxmlformats.org/officeDocument/2006/relationships/image" Target="/ppt/media/image.png" Id="R56cf9b95fd644b4e" /><Relationship Type="http://schemas.openxmlformats.org/officeDocument/2006/relationships/image" Target="/ppt/media/image2.png" Id="R1d2f72f3f2ba4897" /><Relationship Type="http://schemas.openxmlformats.org/officeDocument/2006/relationships/image" Target="/ppt/media/image23.png" Id="Rb627d04ff0e64fbe" /><Relationship Type="http://schemas.openxmlformats.org/officeDocument/2006/relationships/image" Target="/ppt/media/image24.png" Id="R505c9294148149c0" /><Relationship Type="http://schemas.openxmlformats.org/officeDocument/2006/relationships/image" Target="/ppt/media/image25.png" Id="R65632e9843cd416e" /><Relationship Type="http://schemas.openxmlformats.org/officeDocument/2006/relationships/notesSlide" Target="/ppt/notesSlides/notesSlide31.xml" Id="R057ae99acce34f9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31e9e5d22d4ab4" /><Relationship Type="http://schemas.openxmlformats.org/officeDocument/2006/relationships/notesSlide" Target="/ppt/notesSlides/notesSlide32.xml" Id="R44246d2b30bc427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2f2b24ccc4189" /><Relationship Type="http://schemas.openxmlformats.org/officeDocument/2006/relationships/image" Target="/ppt/media/image2.jpeg" Id="Rddc7d2e9a4474533" /><Relationship Type="http://schemas.openxmlformats.org/officeDocument/2006/relationships/notesSlide" Target="/ppt/notesSlides/notesSlide33.xml" Id="Rfc810ee9a9a74c7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0d3cbff45408f" /><Relationship Type="http://schemas.openxmlformats.org/officeDocument/2006/relationships/image" Target="/ppt/media/image3.jpeg" Id="R4468111a99184a62" /><Relationship Type="http://schemas.openxmlformats.org/officeDocument/2006/relationships/notesSlide" Target="/ppt/notesSlides/notesSlide34.xml" Id="R5d7c93cf426d479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0cf820a3b4433" /><Relationship Type="http://schemas.openxmlformats.org/officeDocument/2006/relationships/image" Target="/ppt/media/image26.png" Id="R08064455160347d7" /><Relationship Type="http://schemas.openxmlformats.org/officeDocument/2006/relationships/notesSlide" Target="/ppt/notesSlides/notesSlide35.xml" Id="Re35e0b6bdd4e4c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e351b4e9e4988" /><Relationship Type="http://schemas.openxmlformats.org/officeDocument/2006/relationships/image" Target="/ppt/media/image27.png" Id="R9bd32237f87a4247" /><Relationship Type="http://schemas.openxmlformats.org/officeDocument/2006/relationships/notesSlide" Target="/ppt/notesSlides/notesSlide36.xml" Id="Rc9222086d192478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9af9c7c8b44ce" /><Relationship Type="http://schemas.openxmlformats.org/officeDocument/2006/relationships/image" Target="/ppt/media/image28.png" Id="Rf232cf30d7644c19" /><Relationship Type="http://schemas.openxmlformats.org/officeDocument/2006/relationships/notesSlide" Target="/ppt/notesSlides/notesSlide37.xml" Id="R56b1dca3805d457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3b1bf6dce4de7" /><Relationship Type="http://schemas.openxmlformats.org/officeDocument/2006/relationships/hyperlink" Target="https://developers.cloudflare.com/videos/the-online-address-book/" TargetMode="External" Id="R7a38ae7b42f84d61" /><Relationship Type="http://schemas.openxmlformats.org/officeDocument/2006/relationships/hyperlink" Target="https://developers.cloudflare.com/learning-paths/cybersafe/concepts/what-is-dns/" TargetMode="External" Id="R0cbfefc1f4b142fe" /><Relationship Type="http://schemas.openxmlformats.org/officeDocument/2006/relationships/hyperlink" Target="https://curl.se/docs/httpscripting.html" TargetMode="External" Id="Rcbba763250e84524" /><Relationship Type="http://schemas.openxmlformats.org/officeDocument/2006/relationships/hyperlink" Target="https://www.cloudflare.com/learning/ssl/how-does-ssl-work/" TargetMode="External" Id="Rc2202a50aa5f404c" /><Relationship Type="http://schemas.openxmlformats.org/officeDocument/2006/relationships/hyperlink" Target="https://github.com/SeedFlora/meet3CloudService" TargetMode="External" Id="Rb3e6db0c721a48b1" /><Relationship Type="http://schemas.openxmlformats.org/officeDocument/2006/relationships/notesSlide" Target="/ppt/notesSlides/notesSlide38.xml" Id="R46effe8f98504f9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a5da28ed6574ec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a22b6cc9c4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b123ecb5f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813759E8-31BC-436F-A6C8-396DC7E2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CAA59EEC-2CE5-4C5B-92F9-14A78A91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11247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NETWORKING &amp; WEB SERVICE</a:t>
            </a:r>
            <a:endParaRPr sz="48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321C3C6-0030-4F5E-A334-7236EE1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1247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HTTP, DNS, Reverse Proxy, TLS</a:t>
            </a:r>
            <a:endParaRPr sz="2400"/>
          </a:p>
        </p:txBody>
      </p:sp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761A09F-DB7B-4EAF-B5A7-08D5EEDA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530A75F-28ED-4A28-A3C0-0CC3D94F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3  |  100 MENIT</a:t>
            </a:r>
            <a:endParaRPr sz="1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9A44D99-2B18-49B6-915C-CB1AEF17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7C6DBCA-1EDC-4122-8D75-B556768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97360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950103-3B7E-476A-BA0A-3CF4EA0A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EEA581-B551-4B62-93BB-8058FF67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3957CC-D094-42E3-91C2-D4CB3747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717956f24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194478921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72D7334-DE07-460A-AEE2-48A345C7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69863CF-B555-4DD0-B19B-3D99327A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Pertemuan 2 &amp; Agenda Hari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CDDF163-DE4F-4928-94C3-C25C713F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OS ke Jaringan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BF05597-01DB-4908-BC67-91DFED90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CDEC286-3064-4F77-B7E6-B7F96B6F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DI PERTEMUAN 2, KITA SUDAH: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Linux Fundamentals</a:t>
            </a:r>
            <a:endParaRPr sz="1100"/>
          </a:p>
        </p:txBody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050eb0005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EC099B2-B288-45F2-BBCC-C4B02F26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Filesystem &amp; navigation (FHS, cd/ls/pwd)</a:t>
            </a:r>
            <a:endParaRPr sz="1200"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82f5b0a2240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9CBCEB2E-7EBF-4EF0-B698-51DE42B2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Pipes &amp; redirects (grep, find, xargs)</a:t>
            </a:r>
            <a:endParaRPr sz="1200"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a2d8d2c2f47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FBCA2DFD-FA2A-43B3-A3D3-0C437763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Permission rwx + chmod numeric (755, 600)</a:t>
            </a:r>
            <a:endParaRPr sz="1200"/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a7b2bfa6242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51F82C33-328D-46C4-A01F-06796C07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Package management (apt, dnf) + systemd</a:t>
            </a:r>
            <a:endParaRPr sz="1200"/>
          </a:p>
        </p:txBody>
      </p:sp>
      <p:pic>
        <p:nvPicPr>
          <p:cNvPr id="5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3e530ddd5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138B6C4D-6E7E-4104-8EFF-5A710F12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SSH key authentication ke server cloud</a:t>
            </a:r>
            <a:endParaRPr sz="12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3C03318E-97B4-4358-AEC3-C79E9ADD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219CFDD5-E856-4EF0-8C74-3E8D91E4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HARI INI, KITA AKAN: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Networking + Web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F47A24C9-0384-43FF-8246-AC6CA607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Networking foundations (TCP/IP, IP+port)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HTTP/HTTPS protocol (methods, status, headers)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DNS resolution (record types, dig)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Web server &amp; reverse proxy (Nginx)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TLS &amp; HTTPS (Let's Encrypt, certbot)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SSH tunneling (port forwarding)</a:t>
            </a:r>
            <a:endParaRPr sz="1200"/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B3D91745-EA8F-4CC1-8C2A-B6A3C9F5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Praktikum 3: repo Docker dapat dijalankan di Codespaces atau Docker lokal.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1663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BB0592-7415-44D4-98E8-C97AD174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490DF0-3F7B-4898-80FC-FFF9BC00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A333A2-A523-452B-8E3D-FB69BC9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633f5d32e4b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ef709cf0c4e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CAAEBB9-A8AA-4B87-A401-B3F96BA7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B8F15EA-FC39-482A-A118-9CCFFCB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49A282-9124-429C-A9E2-55E1D460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3C95CA7-82F2-4F17-8C9F-936DF6C9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3CE5F9F-9C3F-498D-9AC8-97B9FC84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DAB440CD-BE45-45D1-AE29-0B9CB42F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49E3158-7531-4B4C-9A02-8D86DE3E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9754c657a4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9281D6A6-4D09-4949-A257-6A2EB4D9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Menjelaskan</a:t>
            </a:r>
            <a:endParaRPr sz="18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789623D-A468-4353-ACC8-806EE9A2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alur HTTP request/response, methods, dan status codes dengan benar.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CFFA5A4C-FF7B-44AB-A2E0-BCF65AC1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AB875463-813C-4795-8EAF-153FEA3D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0D71BC76-3E36-427A-BACD-137B78B0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0D299D8D-33AA-4B41-88E1-19FC51C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a864afb0d4b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7F1D59C-FC69-4A6B-A687-477CB159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Mengkonfigurasi</a:t>
            </a:r>
            <a:endParaRPr sz="18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998AA6CB-B2C4-454E-96D7-58CFEF96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DNS record (A, CNAME, MX, TXT) untuk domain custom.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A18F745E-9004-4931-B820-6A714184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0B9C85CD-EDE6-4CE8-A614-19A335AA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6F5EAF7-5FD7-42A4-AC0A-68B4C43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3B8E6924-857B-41DA-9F27-0A36144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71c9d47e8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02FF0DC6-3D4D-4CAD-80D0-5BF4064F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Mengsetup</a:t>
            </a:r>
            <a:endParaRPr sz="18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F9241562-6643-4298-A0B6-E6E0558D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Nginx sebagai reverse proxy + HTTPS dengan Let's Encrypt.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7A3F5F3C-C16E-42D9-8D7D-6D4A939E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2050E384-F40B-4202-8C80-0A891F8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A642BC97-4E0D-4719-A222-E85288AB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49131E89-DE46-41ED-B28F-CBA9A4E6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a82dbc90345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3D3C1598-E2E9-4E93-AE1B-F9FBEECC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Mendiagnosis</a:t>
            </a:r>
            <a:endParaRPr sz="18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DFC573A2-9CE3-4F08-B2BF-29E1995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masalah jaringan pakai curl, dig, ss, dan ssh tunneling.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CBE8CCD9-FE3E-4C70-B928-3FA17E7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LO2 (Apply – networking fondasi untuk deploy aplikasi)  +  LO1 (Analyze – pilih method, status code, record type)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13083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52745A-C7B2-4A82-BD41-985076FD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363110-C2B4-4566-92D3-86C61A32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7659AD4-9204-4DF5-97EB-3704A373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674633C-CEAD-4734-A43F-650C4961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7CCD180-D50F-45ED-AB18-9DC37B63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7CA0B15-A76B-498D-B556-4C5C4D4F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94C73A7-1AEC-422D-B01E-A12F8E39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505857e0845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ee8b2f67b4f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EF68FBE-3387-45D9-B7CC-1C84A5B3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5F3AEDD-6A3E-4787-9590-593B2501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Networking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Foundations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00BCE07-4EBC-493D-9058-249465BC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7F549A9-80F8-4ED1-9545-70FFCE2B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TCP/IP, port, dan model client-server - fondasi semua kerja di internet.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57972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5612D7-E131-4236-A990-954D2744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322412-01A9-4AB5-AB04-A0E8E58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0360AC-5FC5-4EF5-A655-F52139C4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8982a4f484a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e7ad0cbb647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7DAD47C-AA5F-4AD6-A8B1-2881525D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05E90C1-7919-4BEE-BADF-760BC9F7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TCP/IP - 4 Layer Stack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760F4AA-357A-4B9A-83ED-C050ED90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Bagaimana data perjalanan dari laptop Anda ke server cloud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D3052ED-6EA9-47A7-A785-74462BA7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7F573D9-D3CA-4AE3-B69D-950CD3A8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8216865-9216-46C4-9675-5365D8AA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4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41C39E0-9E21-4BB9-A829-B3A5DFCB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</a:t>
            </a:r>
            <a:endParaRPr sz="18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AFDEDDB-23CE-43E8-9B36-925E075D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50876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Format data yang dipahami aplikasi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F973946-E238-4AFB-BD0D-091E74D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92024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HTTP, HTTPS, SSH, DNS, SMTP, FTP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CAD6844-CA44-4006-A5D5-0A8BB53D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5087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FDCE94B-1E4A-4E43-BA1E-96FAE171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4572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Browser kirim GET /home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4853067-F9AF-4282-92B6-EDE5D652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D315B7D-2D3B-47BA-8579-F4936A9F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B928163-F62B-457A-BBCD-2ACDFCB3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3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D9D33C0-4B2C-4000-950C-FDAC6E82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Transport</a:t>
            </a:r>
            <a:endParaRPr sz="18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7C21623-9AF7-48E0-8895-AC4946A0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60604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Reliability + multiplexing via ports</a:t>
            </a:r>
            <a:endParaRPr sz="12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891A529-6C8E-453B-BC67-7D7CA54E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01752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TCP (reliable), UDP (fast)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23051E6-1E7A-47F5-B50A-F23BE774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0604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7D6E04CA-47B4-4FC7-9CB0-03885209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880360"/>
            <a:ext cx="4572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TCP handshake + port 443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5A123F70-94BF-486B-BA94-CFE1F0FE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2711382A-8824-4FC2-B4AF-B7D0A22E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1A8CFDCD-24D2-4297-BEFE-F8E75021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2</a:t>
            </a:r>
            <a:endParaRPr sz="10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144FA2DA-7A49-43EB-8342-C2C9E0D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Internet</a:t>
            </a:r>
            <a:endParaRPr sz="18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D5C86B6F-D8ED-4D45-869A-32206152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70332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Routing antar jaringan via IP address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CA606BE-6FD0-4676-AED4-E7B6424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1148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IP, ICMP, routing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391775B-9F13-4CAF-8F73-1BC233EF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7033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E21A43E-CE0F-423C-B5F0-0F512BC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977640"/>
            <a:ext cx="4572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Packet routed ke 13.250.1.2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1CAD7120-7AF1-4F99-89A5-A6264E4F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12471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F71DF8A-FF68-436C-990A-659595A0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BF7D61C-18BE-46CC-B489-BDCB9D1E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1</a:t>
            </a:r>
            <a:endParaRPr sz="10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BB40AF5F-9EE9-47ED-9D74-8865F5A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Link</a:t>
            </a:r>
            <a:endParaRPr sz="18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468A4C04-A2CB-4E31-BDCD-B565FF14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8006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Physical transmission (kabel, WiFi)</a:t>
            </a:r>
            <a:endParaRPr sz="12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4ECE2FB0-68F1-4B1E-9837-7A59A4B4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2120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Ethernet, WiFi, MAC address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09113F09-073F-4AA1-91F8-2129A10D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006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E34832A-E1A0-46A7-94B9-CEBEC70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074920"/>
            <a:ext cx="4572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Frame via WiFi router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917099C0-318A-4069-8650-1280FCD0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93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Mnemonic: 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Saat akses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github.com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: Application (HTTP) → Transport (TCP port 443) → Internet (IP routing) → Link (WiFi/Ethernet).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2858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1D2012-5B1B-4B4E-9B70-17C1D0E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3E98D4-EC03-4FAB-89E4-3B787AF6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A14687-0A73-455E-9E34-CD34D6BD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c1b6224af43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a28bd794345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F980E58-087B-4F92-8402-CE22F1B0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5D2C8A4-BE28-44E8-86FC-4BEA66CC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IP Address + Port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F21C3DC-B873-4F51-8D17-77B62662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Alamat building + nomor pintu apartemen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F2034D2-9CE7-4EFD-9591-9D85ADA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A62B0F6-282D-4B82-960B-920A27C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3ACE475-1E98-4A70-B10E-578DAB80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IP ADDRESS  -  Alamat Mesin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43FFD41-B978-4C18-A3B6-8D419EE6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IPv4: </a:t>
            </a:r>
            <a:r>
              <a:rPr sz="13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192.168.1.10</a:t>
            </a: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 (32-bit, ~4.3 miliar alamat)</a:t>
            </a:r>
            <a:endParaRPr sz="11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IPv6: </a:t>
            </a:r>
            <a:r>
              <a:rPr sz="13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2001:db8::8a2e:370:7334</a:t>
            </a: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 (128-bit, masa depan)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1B717B5-108D-484E-B3FE-8408B043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Private: </a:t>
            </a: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10.0.0.0/8, 172.16.0.0/12, 192.168.0.0/16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Public: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alamat unik di internet (alokasi ISP / cloud provider)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C8FEE48-EFA8-4510-B64B-1D531934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97FFFC9-32F0-4F3F-A0CE-CDACA77C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DD4B3566-D9A3-436C-853B-2F6BBE6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  -  Nomor Layanan</a:t>
            </a:r>
            <a:endParaRPr sz="1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14FE03F-C9E7-40E8-B06F-CAA4523A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120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16-bit angka: </a:t>
            </a:r>
            <a:r>
              <a:rPr sz="13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0 - 65535</a:t>
            </a:r>
            <a:endParaRPr sz="11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Identifikasi service mana di sebuah mesin.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26B268B-7440-4618-AC0E-4A6CD14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5120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Well-known: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0-1023 (butuh root)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Registered: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1024-49151 (user app)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Dynamic: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49152-65535 (ephemeral)</a:t>
            </a:r>
            <a:endParaRPr sz="11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86D9229-0896-4B4B-B904-66963482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Port yang Wajib Hafal</a:t>
            </a:r>
            <a:endParaRPr sz="14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E2434D-1C63-4217-A18D-4303AF37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27024B7E-CE36-41B7-8190-8171A07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92FAED4-3664-4767-A85C-3D1874AD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22</a:t>
            </a:r>
            <a:endParaRPr sz="16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5C000E2-1BC2-4262-9769-F367EE5A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5196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SSH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B2B6AB5-0818-4C68-9816-D5D0E7A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61772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Remote shell</a:t>
            </a:r>
            <a:endParaRPr sz="9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E32AE79A-5A04-4AC4-B323-1652FAA7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0624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14D6EFB7-398A-4C84-BDD3-7D44FF3D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0624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236EE6-CEDE-4D29-94DE-1F8D583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0624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53</a:t>
            </a:r>
            <a:endParaRPr sz="16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BEEFE49-41CE-4404-8B87-65E7201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25196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DNS</a:t>
            </a:r>
            <a:endParaRPr sz="12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1419948-2E03-4FEA-9EC8-BFBF6792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61772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Domain lookup</a:t>
            </a:r>
            <a:endParaRPr sz="9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C8A0EF31-5FFF-47A3-B592-145C7DE7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0624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2F9A662-4EEE-40F3-BC4E-02036A31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0624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C88AE13-C4EA-4BF0-8C06-4079FD7A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0624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80</a:t>
            </a:r>
            <a:endParaRPr sz="16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FA9C21AB-D22F-4C0D-925A-F692FB89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25196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HTTP</a:t>
            </a:r>
            <a:endParaRPr sz="12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1B19E4AF-8B3A-49C1-8519-E83DEDCD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61772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Web (plain)</a:t>
            </a:r>
            <a:endParaRPr sz="9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09A95BC1-8EBB-446A-B560-DCBD32A1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28131FBA-FB16-477E-B6FE-B46F332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43812B-6E38-40D0-9185-6E889891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443</a:t>
            </a:r>
            <a:endParaRPr sz="16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23705DCD-E412-4DC8-B79F-E869BE20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25196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HTTPS</a:t>
            </a:r>
            <a:endParaRPr sz="12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62FC1AF7-10FC-4241-8589-CEC7FD6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61772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Web (TLS)</a:t>
            </a:r>
            <a:endParaRPr sz="900"/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A047C8D-7BB2-49F5-A46B-122BB59F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0624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B686F58B-E1AB-414E-A7C7-9D31A525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0624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8B8661E-AD9B-4C85-9A0B-24EBB850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0624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3000</a:t>
            </a:r>
            <a:endParaRPr sz="16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D7AB1A36-BDE4-4378-B042-AE9A409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25196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Dev</a:t>
            </a:r>
            <a:endParaRPr sz="12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72282778-0B61-4672-B82C-DA596C5B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61772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Node.js, React</a:t>
            </a:r>
            <a:endParaRPr sz="9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C971575A-3D0E-4512-871A-629A7169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636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9D2EA044-49F1-4926-AF1C-8B5491C4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636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D9A7EAC8-4987-4BAF-BCAE-F8B14682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636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3306</a:t>
            </a:r>
            <a:endParaRPr sz="16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7C982C18-109F-4BBA-81D9-D95596AF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2120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MySQL</a:t>
            </a:r>
            <a:endParaRPr sz="12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FBD51169-256E-43D4-87E8-AE3D28DA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778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Database</a:t>
            </a:r>
            <a:endParaRPr sz="900"/>
          </a:p>
        </p:txBody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646D4200-1444-4380-A2DD-BE06A33D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6636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2" name="Shape 48">
            <a:extLst xmlns:a="http://schemas.openxmlformats.org/drawingml/2006/main">
              <a:ext uri="{FF2B5EF4-FFF2-40B4-BE49-F238E27FC236}">
                <a16:creationId xmlns:a16="http://schemas.microsoft.com/office/drawing/2014/main" id="{565E314E-579C-419B-8FFF-2F2BC68A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6636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4C732123-7F2A-4BB9-9AB3-1823425F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6636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5432</a:t>
            </a:r>
            <a:endParaRPr sz="16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1DDF0F63-CBBE-45FC-AFA3-C76E0766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2120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Postgres</a:t>
            </a:r>
            <a:endParaRPr sz="1200"/>
          </a:p>
        </p:txBody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36467BD1-26F1-4534-AF02-8111112A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5778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Database</a:t>
            </a:r>
            <a:endParaRPr sz="900"/>
          </a:p>
        </p:txBody>
      </p:sp>
      <p:sp>
        <p:nvSpPr>
          <p:cNvPr id="56" name="Shape 52">
            <a:extLst xmlns:a="http://schemas.openxmlformats.org/drawingml/2006/main">
              <a:ext uri="{FF2B5EF4-FFF2-40B4-BE49-F238E27FC236}">
                <a16:creationId xmlns:a16="http://schemas.microsoft.com/office/drawing/2014/main" id="{821D6F1E-3457-43BB-BA22-14A92AC9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6636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7" name="Shape 53">
            <a:extLst xmlns:a="http://schemas.openxmlformats.org/drawingml/2006/main">
              <a:ext uri="{FF2B5EF4-FFF2-40B4-BE49-F238E27FC236}">
                <a16:creationId xmlns:a16="http://schemas.microsoft.com/office/drawing/2014/main" id="{7CB9E7BB-556C-49CE-9EE1-374BCDEF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6636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8" name="Text 54">
            <a:extLst xmlns:a="http://schemas.openxmlformats.org/drawingml/2006/main">
              <a:ext uri="{FF2B5EF4-FFF2-40B4-BE49-F238E27FC236}">
                <a16:creationId xmlns:a16="http://schemas.microsoft.com/office/drawing/2014/main" id="{F80DE308-F398-4080-9582-E9F5DD7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6636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6379</a:t>
            </a:r>
            <a:endParaRPr sz="1600"/>
          </a:p>
        </p:txBody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42D88AE7-1334-4201-9006-F87D04C8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2120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Redis</a:t>
            </a:r>
            <a:endParaRPr sz="1200"/>
          </a:p>
        </p:txBody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33C2A465-5087-40B5-BBAE-02FA7345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5778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Cache/KV</a:t>
            </a:r>
            <a:endParaRPr sz="900"/>
          </a:p>
        </p:txBody>
      </p:sp>
      <p:sp>
        <p:nvSpPr>
          <p:cNvPr id="61" name="Shape 57">
            <a:extLst xmlns:a="http://schemas.openxmlformats.org/drawingml/2006/main">
              <a:ext uri="{FF2B5EF4-FFF2-40B4-BE49-F238E27FC236}">
                <a16:creationId xmlns:a16="http://schemas.microsoft.com/office/drawing/2014/main" id="{9A8F21FB-6E15-4CF0-A0A0-63BEC56D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6636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855511BE-D72F-4556-A427-EFC695CE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6636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D1ABB08D-237A-4F0B-8CC2-4AC4B713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6636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8000</a:t>
            </a:r>
            <a:endParaRPr sz="1600"/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E64AAA22-DEB2-48CF-A511-2F0ADC57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2120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Django</a:t>
            </a:r>
            <a:endParaRPr sz="1200"/>
          </a:p>
        </p:txBody>
      </p:sp>
      <p:sp>
        <p:nvSpPr>
          <p:cNvPr id="65" name="Text 61">
            <a:extLst xmlns:a="http://schemas.openxmlformats.org/drawingml/2006/main">
              <a:ext uri="{FF2B5EF4-FFF2-40B4-BE49-F238E27FC236}">
                <a16:creationId xmlns:a16="http://schemas.microsoft.com/office/drawing/2014/main" id="{5B1051A9-73D6-4EAD-81A6-17B634D5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5778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Python dev</a:t>
            </a:r>
            <a:endParaRPr sz="900"/>
          </a:p>
        </p:txBody>
      </p:sp>
      <p:sp>
        <p:nvSpPr>
          <p:cNvPr id="66" name="Shape 62">
            <a:extLst xmlns:a="http://schemas.openxmlformats.org/drawingml/2006/main">
              <a:ext uri="{FF2B5EF4-FFF2-40B4-BE49-F238E27FC236}">
                <a16:creationId xmlns:a16="http://schemas.microsoft.com/office/drawing/2014/main" id="{D2E360DB-1707-4147-860F-67F5C03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66360"/>
            <a:ext cx="21945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7" name="Shape 63">
            <a:extLst xmlns:a="http://schemas.openxmlformats.org/drawingml/2006/main">
              <a:ext uri="{FF2B5EF4-FFF2-40B4-BE49-F238E27FC236}">
                <a16:creationId xmlns:a16="http://schemas.microsoft.com/office/drawing/2014/main" id="{81A7E06D-E035-4767-9B44-8FB85826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66360"/>
            <a:ext cx="7772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8" name="Text 64">
            <a:extLst xmlns:a="http://schemas.openxmlformats.org/drawingml/2006/main">
              <a:ext uri="{FF2B5EF4-FFF2-40B4-BE49-F238E27FC236}">
                <a16:creationId xmlns:a16="http://schemas.microsoft.com/office/drawing/2014/main" id="{62F6C637-171F-4880-97ED-E374481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66360"/>
            <a:ext cx="777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8080</a:t>
            </a:r>
            <a:endParaRPr sz="1600"/>
          </a:p>
        </p:txBody>
      </p:sp>
      <p:sp>
        <p:nvSpPr>
          <p:cNvPr id="69" name="Text 65">
            <a:extLst xmlns:a="http://schemas.openxmlformats.org/drawingml/2006/main">
              <a:ext uri="{FF2B5EF4-FFF2-40B4-BE49-F238E27FC236}">
                <a16:creationId xmlns:a16="http://schemas.microsoft.com/office/drawing/2014/main" id="{ECFFA4FE-6B0A-4667-B162-01B9CE4A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52120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Alt HTTP</a:t>
            </a:r>
            <a:endParaRPr sz="1200"/>
          </a:p>
        </p:txBody>
      </p:sp>
      <p:sp>
        <p:nvSpPr>
          <p:cNvPr id="70" name="Text 66">
            <a:extLst xmlns:a="http://schemas.openxmlformats.org/drawingml/2006/main">
              <a:ext uri="{FF2B5EF4-FFF2-40B4-BE49-F238E27FC236}">
                <a16:creationId xmlns:a16="http://schemas.microsoft.com/office/drawing/2014/main" id="{DA4E4C72-88DC-4BBD-B007-14AC84E8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55778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Proxy/dev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80749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CC7F62-A376-424B-AB53-37D23C49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D36D4E-553D-4F21-BA80-79C90FA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B8848E-3FF7-4CFD-B917-C36F3F8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cc640b17941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1896d71eb4b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F638072-4D47-4EAA-9FDB-9B0BDA50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6458219-1090-4F51-89C2-9CB0EB2A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Client-Server Model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3E7FD06-F3DA-4C10-9445-E49A9C49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Pola komunikasi paling umum di internet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32E432F-7F8D-44C1-B5FD-9BE2E3B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40BDF69-4469-4CF1-8DBC-73654D9B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4560"/>
            <a:ext cx="2286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912bdf07f4e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200" y="246888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1BF54D9-57F0-4B57-8E80-D48D5237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CLIENT</a:t>
            </a:r>
            <a:endParaRPr sz="14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3FE347E-AD26-48DC-A14B-C9A13322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Browser, mobile app, CLI</a:t>
            </a:r>
            <a:endParaRPr sz="10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CCF83F57-EA11-46C8-90D6-EA0769F2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8880"/>
            <a:ext cx="5486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F349325-98C1-46B2-8AFD-5D3D1A7E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888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REQUEST  (GET /home)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3B9E7E7-0B5D-46D0-8170-92BDF2BE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00400"/>
            <a:ext cx="5486400" cy="4572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BDEBE44-C3AC-480C-BD4B-1E2F3FF1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20040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RESPONSE  (200 OK + HTML)</a:t>
            </a:r>
            <a:endParaRPr sz="12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6AFC509A-C716-4F97-B189-947EBCAF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194560"/>
            <a:ext cx="2286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adc440d674a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6920" y="246888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C59DEF9E-3858-4CC9-B062-7371947E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42900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SERVER</a:t>
            </a:r>
            <a:endParaRPr sz="14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7AAE9ED3-7179-4C34-909B-F32E258E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70332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Nginx, Node.js, API backend</a:t>
            </a:r>
            <a:endParaRPr sz="10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B11340C1-5A0A-4E00-9330-3B0C1006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 Buka github.com</a:t>
            </a:r>
            <a:endParaRPr sz="13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3DCB98E9-1AFE-47FF-9BBF-34960A34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EABCF60-75A9-4C88-88D2-CB30C13D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2D4E6464-478D-4CF2-9234-1B7BA81B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2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EBC73FD-2D79-452D-AA39-18554816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94960"/>
            <a:ext cx="1645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Browser resolve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'github.com'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 IP (DNS)</a:t>
            </a:r>
            <a:endParaRPr sz="95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35F821C7-A067-4DAE-87BF-5D1393F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4924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FAA664B3-AF05-4388-8018-BBCEC1F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4406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BEB29627-0C26-4E4D-BB6B-331C038E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440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200"/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EF12E3A4-BB81-453F-8B92-CCB99864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94960"/>
            <a:ext cx="1645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koneksi TCP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 IP:443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(HTTPS)</a:t>
            </a:r>
            <a:endParaRPr sz="950"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2BCBAC0E-3E83-4420-9D95-8F63D259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34924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C462DFDA-4C96-4ECD-A12B-0DCB1793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406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FFCFBCE7-F7F0-431F-94A6-5D8CDE60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440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2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38E3A4DE-38B2-44D7-BBC7-277B6B8D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5394960"/>
            <a:ext cx="1645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TLS handshake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(certificate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verification)</a:t>
            </a:r>
            <a:endParaRPr sz="950"/>
          </a:p>
        </p:txBody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2144A63B-C2B9-4399-986F-7640236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34924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ADACE5A5-3189-4AA3-A04E-29D6D71C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406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1E339EA4-4CC3-43A2-A5C6-F0AACE5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40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200"/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EB02319E-3659-49B3-9E3A-5BAA901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394960"/>
            <a:ext cx="1645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Kirim HTTP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GET / + headers</a:t>
            </a:r>
            <a:endParaRPr sz="950"/>
          </a:p>
        </p:txBody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D07DE340-9219-4CFD-B8BE-59286C40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34924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5">
            <a:extLst xmlns:a="http://schemas.openxmlformats.org/drawingml/2006/main">
              <a:ext uri="{FF2B5EF4-FFF2-40B4-BE49-F238E27FC236}">
                <a16:creationId xmlns:a16="http://schemas.microsoft.com/office/drawing/2014/main" id="{3E453DCB-3C6A-4E5C-B6C8-9E3209F6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54406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2" name="Text 36">
            <a:extLst xmlns:a="http://schemas.openxmlformats.org/drawingml/2006/main">
              <a:ext uri="{FF2B5EF4-FFF2-40B4-BE49-F238E27FC236}">
                <a16:creationId xmlns:a16="http://schemas.microsoft.com/office/drawing/2014/main" id="{46BEC73D-430E-4A5F-B7C1-323A01A1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54406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200"/>
          </a:p>
        </p:txBody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730EEEB2-B0F4-4865-A0AC-0432B280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94960"/>
            <a:ext cx="1645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proses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kirim response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(HTML/JSON)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579732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4B710F-D28D-4B48-A741-B502B426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20F778-7442-41CA-859D-5A73D58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604BF2-D151-4FE5-B20E-60427929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D0DCF15-1304-465E-B2DA-EBECBA9F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C4A512-6903-4B00-8685-EA175859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6E87998-9B84-486E-813B-50F6FECE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3F3804-1C56-44A8-9E4A-24DD97E3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50492b71b45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0d59a10d349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CD167C1-881B-4934-A065-2558756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7F99C09-A51D-4D96-B727-6B31647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HTTP/HTTPS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Protocol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5DFCD30-780E-47EE-A53B-5412EC3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7F6D455-E00B-4440-B857-2623B18D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Bahasa utama web - request, response, methods, dan status codes.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31579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C21EA9-5D99-4C71-A6DD-B2B02BAB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77EEE5-2703-4279-923E-26C9EA6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55D789-03E5-47DA-8B4C-6778C386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8f547935741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c4296c60f4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2E02D12-7361-49E1-939A-B19CB94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D41CE77-C4B9-48C1-A6E6-F2D06895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HTTP Request &amp; Response Anatomy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A697E3C-ACB9-4B3C-B6A4-D1F2356E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Struktur pesan HTTP yang dipertukarkan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887948C-91D0-41B7-ADE6-1EDC8312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D598C98-34AC-4BE2-93C5-4F25999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F0B8EA9-7CD6-411B-A8C3-737622FE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REQUEST  (client -&gt; server)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75D164F-DB85-4F8F-A295-71C9C65B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5212080" cy="402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0373CE7-D8E3-4866-9DBA-973C58D1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52120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3AB53E-40DE-4F86-9585-23F0F75D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396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73DBED-7755-43D6-8579-C1F40C6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396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FDF7195-A4D2-47FD-B772-A4EF2ACC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96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141EEE81-1911-452F-90BC-C331600D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05740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HTTP/1.1 request</a:t>
            </a:r>
            <a:endParaRPr sz="9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795FE91-329A-43E3-A12B-A00D5979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23160"/>
            <a:ext cx="493776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POST /api/users HTTP/1.1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Host: api.example.com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Content-Type: application/json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Authorization: Bearer eyJhbGc...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User-Agent: curl/8.4.0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Content-Length: 47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"name": "Budi",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"email": "budi@bdg.id"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Struktur: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Start line (method + path + ver)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Headers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Empty line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Body (JSON / form / file)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4DD8325-5E03-4434-B40F-26A41ED1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91B2FC4-F196-4C8F-914E-56E50E9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C9B8C74-0515-44F6-8126-65C957E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RESPONSE  (server -&gt; client)</a:t>
            </a:r>
            <a:endParaRPr sz="14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0A404F45-0E3A-438D-A691-0FF09FB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120640" cy="402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734168B7-AAB0-4A7E-8A77-EB707653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1206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197356AB-8A70-4A85-B5E0-32B91798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396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CE6A3E9A-E43C-40B5-BF0B-473E631E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396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35AD4938-5925-4B48-B5D8-553B70B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1396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D9C5A98-6860-4570-A460-B6477317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05740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HTTP/1.1 response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8629053C-C1EF-43B4-8A5A-31C24ADF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23160"/>
            <a:ext cx="484632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HTTP/1.1 201 Created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Content-Type: application/json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Content-Length: 89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Date: Wed, 15 May 2026 09:14:23 GMT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Cache-Control: no-cache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Location: /api/users/42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"id": 42,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"name": "Budi",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"created": "2026-05-15T09:14:23Z"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Struktur: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Status line (ver + code + reason)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Headers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Empty line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Body (JSON / HTML / file)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72954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6DCC89-563C-49EC-94A1-48364FE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CB3DCF-B3AA-432D-8E08-018A514C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EAA814-46D0-4315-8E8E-CD701B5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f6028927b4e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a066a2fea4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37D6AEB-AECF-4B46-B51A-B116F564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935872C-B1A0-4952-9F83-34F424CD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HTTP Methods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A1CEFE8-D1AA-4796-B890-3BA93242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verb yang menyatakan niat request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9827735-36ED-4766-BFD5-05636A19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65760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7A8F971-7307-40A8-9F1B-DCF7B0CE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955D00E-EB37-4FBA-B022-49F75C19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</a:t>
            </a:r>
            <a:endParaRPr sz="2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A70D16E-AD7B-4B78-A2A2-CF624CC0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 + Idempotent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C2BE98B-7173-45E7-B97D-E8C16111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Tujuan: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Ambil resource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Body: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body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F72D2BD-2BB1-4E79-A819-CA39754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CDC5C0F-AB2D-4613-9B3B-78AA69CE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 /api/users/42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0E4094D-22E8-4996-88B6-BCD84DB2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417320"/>
            <a:ext cx="365760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018C9DE-F649-4D2B-A9F6-C02F694B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41732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406120E4-6522-41AD-9B21-53905B55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POST</a:t>
            </a:r>
            <a:endParaRPr sz="24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0CBF33E-90C3-486C-86D3-EA4D44F7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 idempotent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B3B75C0-38B8-4652-A633-0E406B35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9456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Tujuan: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 resource baru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Body: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Body wajib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5E8B114-4A16-4433-8636-89ED8AC4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0896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06BF1A1-09B9-4D5C-9482-B5C67B6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10896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POST /api/users  + JSON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75CCF10F-B3E6-4CE6-A338-7DDA4839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65760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182E150E-2AB1-41E9-8B27-D84D8D87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CE04971-80AE-493C-841F-68BE18CD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1732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PUT</a:t>
            </a:r>
            <a:endParaRPr sz="24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68463F8F-F64D-4C73-9208-439385C7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1732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Idempotent</a:t>
            </a:r>
            <a:endParaRPr sz="10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BEB5B87-193F-4402-8526-29C0641E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456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Tujuan: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Replace seluruh resource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Body: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Body wajib</a:t>
            </a:r>
            <a:endParaRPr sz="11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19FA7A41-CFB1-4EDC-814F-586550FD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896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BC33C2A8-17FE-49F2-A05E-F8520A86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0896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PUT /api/users/42 + JSON</a:t>
            </a:r>
            <a:endParaRPr sz="10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F6C4E1D6-4548-49BD-A8DC-DBB255D4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65760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BFA1268B-DEEF-4375-97EC-BB49A30E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3878198-C6DA-4FD0-A712-EA1F91F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PATCH</a:t>
            </a:r>
            <a:endParaRPr sz="2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9D8AFD11-197D-47EF-93F7-12E0B261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 idempotent</a:t>
            </a:r>
            <a:endParaRPr sz="1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CB236C4F-5B1A-445E-BFD3-01DBD72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Tujuan: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Update sebagian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Body: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Body wajib</a:t>
            </a:r>
            <a:endParaRPr sz="11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FF18C1CA-D408-4589-AB5C-8C9F6513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7FD7EB4-A533-4806-A47B-DDB3674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PATCH /api/users/42 + diff</a:t>
            </a:r>
            <a:endParaRPr sz="10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36DA8FFC-0B2F-4E29-80CB-B2BD1D80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794760"/>
            <a:ext cx="365760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4F9755B2-5190-4916-B949-D7306CAF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7947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B7A2351F-661F-497E-A3E6-3B7F490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DELETE</a:t>
            </a:r>
            <a:endParaRPr sz="24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3A16EC33-92B5-415A-93B7-9356A866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Idempotent</a:t>
            </a:r>
            <a:endParaRPr sz="10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7D67F83D-3681-4D9F-9E7C-409B46AD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57200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Tujuan: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Hapus resource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Body: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body</a:t>
            </a:r>
            <a:endParaRPr sz="11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40765137-4509-4A76-A143-93FF6DFD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48640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111DD195-01FA-4741-991C-C041AF1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48640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DELETE /api/users/42</a:t>
            </a:r>
            <a:endParaRPr sz="100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A347F270-B962-4514-8BF1-CDF7A6A7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794760"/>
            <a:ext cx="365760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29A4F01A-643E-48CC-B619-41DD9EF6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7947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54BF312F-2DCE-47C4-8193-47805AD3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476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HEAD</a:t>
            </a:r>
            <a:endParaRPr sz="24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80CD303C-D01C-4F15-91F9-757E8BF4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476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 + Idempotent</a:t>
            </a:r>
            <a:endParaRPr sz="10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EE7C7E0E-E273-4318-89C6-3AE8CA6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7200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Tujuan: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GET tanpa body (cek meta)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Body: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body</a:t>
            </a:r>
            <a:endParaRPr sz="1100"/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48E49BAA-C65E-4048-B475-18C2CDF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32918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D4CC06F8-158A-417D-9DFE-476DC5FE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86400"/>
            <a:ext cx="3108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HEAD /file.zip (cek size)</a:t>
            </a:r>
            <a:endParaRPr sz="1000"/>
          </a:p>
        </p:txBody>
      </p:sp>
      <p:sp>
        <p:nvSpPr>
          <p:cNvPr id="52" name="Shape 48">
            <a:extLst xmlns:a="http://schemas.openxmlformats.org/drawingml/2006/main">
              <a:ext uri="{FF2B5EF4-FFF2-40B4-BE49-F238E27FC236}">
                <a16:creationId xmlns:a16="http://schemas.microsoft.com/office/drawing/2014/main" id="{556844C4-F84E-4EC3-9D75-01DF8C9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10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d1152bbce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09904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54" name="Text 49">
            <a:extLst xmlns:a="http://schemas.openxmlformats.org/drawingml/2006/main">
              <a:ext uri="{FF2B5EF4-FFF2-40B4-BE49-F238E27FC236}">
                <a16:creationId xmlns:a16="http://schemas.microsoft.com/office/drawing/2014/main" id="{18FB4302-E36D-4B37-90C4-2629AB17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603504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Idempotent: </a:t>
            </a: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kirim 1x atau 5x hasilnya sama. GET/PUT/DELETE idempotent. POST tidak.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427097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FD0A78-B08F-485D-8423-2632960C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1F259C-DE03-4CF6-BDA6-AE1BA72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D32267F-C76B-40D4-9B9D-3EBF4295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2767d77a14c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0c7f5c3a4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E792B1B-C42D-4A0D-9C09-65ACC757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FB50CA0-BEE5-4F39-88E5-2F008DCE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HTTP Status Codes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E07A351-C5C0-4A7C-B8F0-A968576F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Angka 3-digit yang ngasih tahu hasil request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007DC3A-A5DD-46AC-9255-BC44062F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2402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DDDC350-B6F7-4486-AE64-0527F877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2402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B44B07A-05B8-45CB-9764-581EEF5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2240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1xx</a:t>
            </a:r>
            <a:endParaRPr sz="36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04E1304-D1C6-4E3D-97EF-BE9A3C54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Informational</a:t>
            </a:r>
            <a:endParaRPr sz="12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6D3F4D6-617E-4043-8F9E-675F19B0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06040"/>
            <a:ext cx="1965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Request diterima, masih diproses. Jarang dilihat langsung.</a:t>
            </a:r>
            <a:endParaRPr sz="10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C9313A1-D973-41FF-A077-3E4857E8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66160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D566D1D-4BC0-4885-9C8A-6C1B6D35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90ED687-8306-40D9-A436-C0C40F26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86200"/>
            <a:ext cx="19659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100 Continue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101 Switching Protocols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103 Early Hints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9D1EDF4-B485-4E85-9DE3-AF667361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417320"/>
            <a:ext cx="22402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C511B85-6EC6-480C-824F-3D66C3C1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417320"/>
            <a:ext cx="22402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D8EB011-62D8-4BE2-811C-4BFC12B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508760"/>
            <a:ext cx="2240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2xx</a:t>
            </a:r>
            <a:endParaRPr sz="36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8AC9B4D-43ED-49E8-9F45-29B2699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</a:t>
            </a:r>
            <a:endParaRPr sz="1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F5FD7B1-64A4-4235-9A57-588B9041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606040"/>
            <a:ext cx="1965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Request berhasil. Yang paling sering Anda lihat.</a:t>
            </a:r>
            <a:endParaRPr sz="10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CABADE2-9F3C-4D7B-84F1-D8794960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566160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5DC8664-4F54-45D4-B606-455E5046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61188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23C243-10DA-435E-A9D0-AEA2122B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886200"/>
            <a:ext cx="19659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200 OK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201 Created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204 No Content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FC7786E5-F2C9-484D-BC38-556E3B4C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417320"/>
            <a:ext cx="22402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95BC57B1-E7E6-415D-A12F-14A9A841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417320"/>
            <a:ext cx="22402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69951FC-7FF8-485F-865A-B1109B5E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508760"/>
            <a:ext cx="2240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3xx</a:t>
            </a:r>
            <a:endParaRPr sz="36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EF56561C-6219-45B2-8640-73EB961E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Redirect</a:t>
            </a:r>
            <a:endParaRPr sz="12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51236C6-3177-46F6-98E7-3E85138B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2606040"/>
            <a:ext cx="1965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Resource pindah - client harus follow.</a:t>
            </a:r>
            <a:endParaRPr sz="10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3A1C1DD-E7A9-4A2C-9779-25342A6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566160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2FC0F67-FA14-4B9C-9372-55DDBB57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61188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E6BFC72E-2036-4E4D-A46C-26E0937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886200"/>
            <a:ext cx="19659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301 Moved Permanently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302 Found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304 Not Modified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5E85082B-B518-471E-A150-516358C6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1417320"/>
            <a:ext cx="22402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A32DB6B3-0896-470E-8DEA-F2B44B5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1417320"/>
            <a:ext cx="22402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C7C9EE7-0DF4-4B4F-9C11-D9C1D18B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1508760"/>
            <a:ext cx="2240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4xx</a:t>
            </a:r>
            <a:endParaRPr sz="36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CF80CED6-A23A-4CCE-91F1-42AFC55B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 Error</a:t>
            </a:r>
            <a:endParaRPr sz="12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236F3BE-6FE4-42EF-91BB-677DA3AB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2606040"/>
            <a:ext cx="1965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Kesalahan dari sisi client - request salah.</a:t>
            </a:r>
            <a:endParaRPr sz="10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79F5EBD7-C222-4863-9750-9774843D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3566160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D756A274-CFB7-41D7-A87A-B58982BC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361188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2C59A955-D6EA-4589-B43C-6F110B5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3886200"/>
            <a:ext cx="19659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400 Bad Request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401 Unauthorized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403 Forbidden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404 Not Found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429 Too Many Req</a:t>
            </a:r>
            <a:endParaRPr sz="10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BA1EB07D-2384-4E77-8062-2690A998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417320"/>
            <a:ext cx="22402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3DDB941B-E394-47AE-8891-EEA9E459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417320"/>
            <a:ext cx="22402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47949B32-5B92-4915-BCE1-CC45DB82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508760"/>
            <a:ext cx="2240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5xx</a:t>
            </a:r>
            <a:endParaRPr sz="36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100890F8-3491-4DFB-9970-CEDDD873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Server Error</a:t>
            </a:r>
            <a:endParaRPr sz="12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F335B89D-A7CB-4A4A-835D-6B2767F7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606040"/>
            <a:ext cx="1965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bermasalah - bukan salah client.</a:t>
            </a:r>
            <a:endParaRPr sz="100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8A9A3096-565B-41E6-869C-3FC963EE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566160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0A63BCD2-0E5A-435C-BF4F-5620B1AA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611880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AE9B5B33-C112-47A3-BBA4-6CD63F99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886200"/>
            <a:ext cx="19659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500 Internal Server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502 Bad Gateway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503 Service Unavail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504 Gateway Timeout</a:t>
            </a:r>
            <a:endParaRPr sz="10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BCA66AA8-E16D-46EC-AC13-B91354A8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Wajib hafal: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200, 201, 301, 401, 403, 404, 500, 502, 504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 -  yang muncul di production sehari-hari.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75023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FAA00B-3C6B-47CF-926B-9CE77090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F36048-B230-4CE6-BE8C-1DE6B1F8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671139-3A7A-4F8C-89BB-AD5D816E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dad5460004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fab6e2b6e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0871355-EA35-42A7-94F2-DBA8933F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5758E9D-C241-4411-8D2C-7E304D2D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HTTP Headers yang Penting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A3E9B5A-7380-400A-960A-547BA749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Metadata yang menyertai request/response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A726C95-8F31-4C6C-8A18-FF3D2E17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0D95270-5887-4BE0-8960-46435AC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23507C9-CF9C-4F45-910C-60E5C06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REQUEST HEADERS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535A3EC-807E-409D-9297-E08119C9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DADFF4-455E-4F9C-B304-A17FC04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Host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1F25D99-F662-4E26-8EF2-EB97132F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0574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domain target (wajib di HTTP/1.1)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27C793E-0D9E-4ED9-B27E-E6F670B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E709B30-3938-4611-BB41-BC665276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User-Agent</a:t>
            </a:r>
            <a:endParaRPr sz="12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F3778F6-99E1-41CC-B1FB-4E5847BD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6974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info client (browser / library)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BE270E1-AFEE-4047-A8D5-57692102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A4E0A50-A549-4BD3-8D7A-AFFDAEFF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Accept</a:t>
            </a:r>
            <a:endParaRPr sz="12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5F7AC965-483D-4217-8276-559EB94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33756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format yg bisa diterima (application/json)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8B150C6-9873-49DB-964B-66459E55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FF3D4CA-687D-4139-8F19-FDDC47E1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Authorization</a:t>
            </a:r>
            <a:endParaRPr sz="12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955B760-F812-46E3-A37D-CE620675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97764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auth token (Bearer xxx, Basic xxx)</a:t>
            </a:r>
            <a:endParaRPr sz="10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6BF5B9F-C1BC-4BB3-B19D-02E7AC12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78EC8D1-F049-4259-BBE4-FD45B83A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Content-Type</a:t>
            </a:r>
            <a:endParaRPr sz="12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CF58082B-3F7F-401F-B168-4CFC6DB6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61772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format body yang dikirim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DFDB65E-B8F0-43C4-982C-6734D509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922D3D6F-C778-48CB-800B-F2CD7D36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578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Cookie</a:t>
            </a:r>
            <a:endParaRPr sz="12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F730A7F-1FB8-46B6-A7D8-519AD48D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25780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session info dari browser</a:t>
            </a:r>
            <a:endParaRPr sz="10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1372D583-09F1-4B8F-A06A-FCAE0E4C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7B0E217-BBAC-4CA7-8EA4-6C40D544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17751ED-7E8F-4F11-810A-B495CB30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RESPONSE HEADERS</a:t>
            </a:r>
            <a:endParaRPr sz="14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B6581F15-67CD-465D-B9FF-22925007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0733FE82-8805-41BB-9FBD-C90797B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740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Content-Type</a:t>
            </a:r>
            <a:endParaRPr sz="11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FAA5EE5-2435-445B-B8F9-6BE1CAE7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05740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format body response (application/json)</a:t>
            </a:r>
            <a:endParaRPr sz="10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1BD7E9E2-AECF-4430-B735-E0597199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176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17161A8D-9E9A-43C3-9FB1-46C3D05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974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Cache-Control</a:t>
            </a:r>
            <a:endParaRPr sz="11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B2D2EC4-5623-4ACD-AC84-249A3830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69748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policy caching (no-cache, max-age=3600)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70A07E16-93B3-43D5-86AC-18416F36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184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0AC901C4-22E6-41DC-B541-B4FFB2B7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375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Set-Cookie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A2410EB2-B3C0-4179-963F-3DC26E16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33756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set cookie ke browser</a:t>
            </a:r>
            <a:endParaRPr sz="10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ACEFCEEC-A7FF-4EA1-8120-CF7417F4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192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DCBC9E6F-9E7B-4E34-ACEE-9586CE38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9776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Location</a:t>
            </a:r>
            <a:endParaRPr sz="11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B1D029D5-9B06-422D-830A-CA6F0B3C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97764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URL redirect (untuk 3xx)</a:t>
            </a:r>
            <a:endParaRPr sz="10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FF1E7EBC-D3A8-41CA-AAF2-CE658201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AE0A28C0-80FD-498A-B68D-8EEC39FF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Access-Control-*</a:t>
            </a:r>
            <a:endParaRPr sz="11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623D3660-0B82-48D2-A3B6-E4AFFA3B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1772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CORS - domain mana yang boleh akses</a:t>
            </a:r>
            <a:endParaRPr sz="1000"/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56967FB2-7BBC-4DC1-AA1D-9E98D19E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208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8DB9ACB6-B820-45BB-9601-DE46B30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25780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X-RateLimit-*</a:t>
            </a:r>
            <a:endParaRPr sz="11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89EA6D6A-0E39-4DCD-A234-18EAD567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257800"/>
            <a:ext cx="2697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info rate limiting (sisa quota)</a:t>
            </a:r>
            <a:endParaRPr sz="1000"/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63C6B483-1147-42F1-BC48-A2252FE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 debugging: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headers sering jadi sumber bug - cek dulu sebelum cek body. Open DevTools -&gt; Network tab.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531018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82920D-28A0-42C9-A294-45C2A89B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941E7F-E048-4C7E-BEBD-22B6CD3E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32C0DF-A0CE-4552-B074-526E2C8A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16f1945ed4d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4529c203547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5818EA0-CA42-484B-9B17-8D86634A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C222423-BAE9-42DF-9CE1-83D7C9CD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curl - Swiss Army Knife untuk HTTP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9AE81D3-9233-4B79-86D0-5F3CBAEE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Wajib bisa untuk test API dari CLI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8E6700F-F139-4287-8D1E-707CF813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0292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91E2301-0F14-4786-AFC5-4EC707E2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Flag yang Wajib Tahu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4C21A66-A106-4B3C-9EA0-6815E709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4663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2A6E6983-68D9-4603-A6FF-5E2FCB83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554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A069A5F-36C2-4AD0-82ED-0151A5FE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-X METHOD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62C6A97-348F-44A4-AF07-F604799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1168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Pilih method (GET default)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FFF79EB-E1E2-44FF-A374-7FF3BD73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4663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12AFC56-5AB3-451D-BD87-DF3C15AC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1554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3D4DD9C4-64AD-4889-BB46-0F0F80BE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-H 'K: V'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754A97D-C482-486E-9D66-5BDF6017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Tambah header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E85BE29F-5776-4D57-B869-5BAD3E14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4663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56DC0B6-C0C3-4240-AE50-11C0590F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1554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7FF9709-58CD-4178-A6FD-B5327A72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752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-d 'data'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91AD4AB-C38D-4D19-8FDD-CBF880BA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1752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Kirim body (auto-POST)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0E5AB28F-A6F5-4C96-84FD-7E7B52A9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4663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6E1C4D5-57FB-4345-BEBD-22C51130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1554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1EE5AA5C-B663-4F9E-B752-29B2C34B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044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-i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CE46E54-403E-4F38-A18A-A2B2BD2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044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Include response headers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FD2F2C4-B876-4222-AC42-BFC4FD7E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4663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5B63B61-159F-4590-A702-BD1F7201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1554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CF7DEB0-F950-411C-8377-99C3DF1F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-v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30038DAD-6404-4DA1-9CFE-15965D56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2336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Verbose - tampilkan request</a:t>
            </a:r>
            <a:endParaRPr sz="10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6369438-6129-447B-B8DA-EA82A81E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4663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BC34BB9A-97C4-453F-AA08-DC18593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1554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BDB30456-B2F4-4A92-83B0-2EEB867D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-L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BE0190E6-C806-4D6C-B17D-BF94DA8B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2628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Follow redirect</a:t>
            </a:r>
            <a:endParaRPr sz="10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BD066A8D-6230-4988-84CB-A6546060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4663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26F093A9-A5BD-4418-A10B-45C195BA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554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6663142-FF7E-4D8E-80BA-6D0B524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-o file</a:t>
            </a:r>
            <a:endParaRPr sz="11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6DE0DEFF-87BB-4970-8664-5D96A034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2920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Save output ke file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FF1167C2-1A50-49EB-9939-1DE397E7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46634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F948820E-796F-4B7A-A09F-EC1B25F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15544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7EE331E7-3FB0-4B2F-A733-2A2BFF5E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2120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-s</a:t>
            </a:r>
            <a:endParaRPr sz="11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24EBD061-04BA-4260-B53F-57EFE87E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3212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Silent (no progress bar)</a:t>
            </a:r>
            <a:endParaRPr sz="100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2B4EBF59-BF61-44AD-877C-FAF05A9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FB8CA9F2-9B7D-4217-B3BC-8AB4EB20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BDAFF9C2-45E0-46EF-8B86-454E2F19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7224BAC2-7F35-4456-A0AC-B6662560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07A3147A-79D9-43F9-A6EE-E7F909F9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E36F22B8-BA9B-413E-9546-6D004CAA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curl in action</a:t>
            </a:r>
            <a:endParaRPr sz="9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61F3406E-783E-4702-9630-AFDA8EF8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83080"/>
            <a:ext cx="5669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Simple GET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https://api.github.com/users/torvalds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POST JSON dengan auth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-X POST https://api.example.com/users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-H 'Content-Type: application/json'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-H 'Authorization: Bearer xxx'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-d '{"name":"Budi"}'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Verbose - lihat headers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-v https://example.com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&gt; GET / HTTP/2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&gt; Host: example.com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&lt; HTTP/2 200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&lt; content-type: text/html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Test API dengan jq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-s api.example.com | jq '.users[].name'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345982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D923D1-7432-4660-8FE8-B6CF0C6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C297D6-CBE6-428C-BE64-50D35A7C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51C7F35-4DFA-4C38-A547-76F0566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abbd791c74d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9b5baf910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9F1C022-6B60-4F81-A8DD-7A4AA1A9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EB05D4D-131A-4B14-9ADF-96557BF1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HTTP/1.1 vs HTTP/2 vs HTTP/3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89D03C6-F00C-41F2-B0F9-9227316D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Evolusi protokol untuk web yang lebih cepat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C236494-B36B-4A53-860D-F9641728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C8507DF-A5FE-46E3-9575-4B5ADD65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2F90074-2730-4A52-8D7C-69FAEB21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HTTP/1.1</a:t>
            </a:r>
            <a:endParaRPr sz="2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224D329-1DD3-4F28-BC54-6111D965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1997</a:t>
            </a:r>
            <a:endParaRPr sz="1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2600872-700D-4256-9635-9308DFA4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TCP, dapat memakai TLS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E24170B-AF4E-4A5A-8B53-24182069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Karakteristik: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936D3B6A-3B07-4A44-B946-6C3683E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32461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Text-based protocol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Persistent connection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Respons berurutan, rawan antrean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Header tanpa kompresi HPACK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E0D83A00-DC3A-4771-981C-E48E5059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3337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609FB297-ABAE-4771-B65F-664721BD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 </a:t>
            </a: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Legacy systems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E95398B-539F-4DBC-811D-FB287AF2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EADA4FD-3CE9-4F21-A31F-CDE04C20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9C3AEB4-FB85-49BD-943D-169C0D0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0876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HTTP/2</a:t>
            </a:r>
            <a:endParaRPr sz="2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18C7E8F-98E5-46AD-A45E-F38018F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0876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2015</a:t>
            </a:r>
            <a:endParaRPr sz="14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FFB2E6-C968-4B09-909E-BC92B3A4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TCP + binary, browser memakai TLS</a:t>
            </a:r>
            <a:endParaRPr sz="10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E78545C-80BB-42E7-83C7-DA8541DB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7744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Karakteristik: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0AC7CD25-AC95-43A3-A662-E528DE73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7480"/>
            <a:ext cx="32461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Binary framing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Multiplexing (req paralel)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Header compression (HPACK)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push (jarang dipakai)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CFB07B69-3F34-432D-A9F2-FE3E6BC2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440680"/>
            <a:ext cx="3337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D19D753C-4E8B-4D46-952B-73705BA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4406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 </a:t>
            </a: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 web modern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005B500-9672-427A-8DC4-1E89735C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9DA6F3C9-45B4-4311-AC08-2C9B87A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85AE10A4-C4A4-43CF-8351-AC92D2F2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0876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HTTP/3</a:t>
            </a:r>
            <a:endParaRPr sz="2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707C800-2B27-440A-93AE-8C096219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0876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2022</a:t>
            </a:r>
            <a:endParaRPr sz="14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23E8A20-4033-44B9-9259-AFACCBC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2024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QUIC (atas UDP)</a:t>
            </a:r>
            <a:endParaRPr sz="10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30330A9E-135F-475A-B9F5-A597753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7744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Karakteristik: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45772D51-4DE1-4D57-9A17-73973EDB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97480"/>
            <a:ext cx="32461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UDP + QUIC, bukan TCP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TCP head-of-line blocking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0-RTT connection setup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Better di mobile / lossy network</a:t>
            </a:r>
            <a:endParaRPr sz="105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1ED8D75F-A710-46C5-BA75-6B546475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40680"/>
            <a:ext cx="3337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5BA9437-CC99-4434-8D25-91817E2C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406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 </a:t>
            </a: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Cloudflare, YouTube, Google</a:t>
            </a:r>
            <a:endParaRPr sz="10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B11E8D2F-C565-4142-87D8-CA2DC9D1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Real-world: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Vercel, Cloudflare, dan kebanyakan cloud serve HTTP/2 + HTTP/3 by default. Browser nego otomatis lewat ALPN saat TLS handshake.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438992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8B17A1-8FB1-4DD0-B16A-9A1E4CE5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81F19D-AD0C-461F-9C14-73FE63AE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CDBB0F5-6C0F-41B5-BE60-BB6F7BD7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54F7837-CDF2-4EF8-A706-4A5E2F67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AB4A4EB-A810-4877-88A7-1754476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789B4B5-DA60-427F-983D-044B91DF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FF74F6-2F22-4903-9966-A7AFA07C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d22aafd824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48a2eff2f45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4C053A2-F537-436A-9470-266A1CAB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285125F-ED82-4481-9468-1F5C85D0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Domain Name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(DNS)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DE2A67A-922E-439A-94E1-346C6A63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CD31CCE-6B7B-4870-A940-80EF421F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Bagaimana 'github.com' diterjemahkan jadi alamat IP server.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631880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2C5D11-2233-42DA-AF76-F6E8267B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1F4AFD-1870-432D-8A4A-779CE4C2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A42B165-AA3F-4CE1-9F2B-8EFEA0F9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ec03f68b04a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f7cc9adfa46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1F3C9AA-9814-422E-8AB9-F6AFFAE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37C864B-8C5B-460B-B5EF-C369C3E1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DNS Resolution Flow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5D62132-6EA1-4ABE-9AD8-B8AB2C82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Dari typing URL ke IP - 6 langkah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E528AE-BF97-4432-BD06-798D9D5C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F23C61E-3C6B-42CC-BD45-7E782094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7772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4184328-C153-46F1-864C-88FD52D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777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4C3CFD4-08D8-44AC-B30A-A457B5E8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46304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Browser</a:t>
            </a:r>
            <a:endParaRPr sz="1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90F1117-C920-4C0D-82D2-4B2483DD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6304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cache lokal (recent lookups)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E65D2D21-5764-4824-9467-90B653FC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0552"/>
            <a:ext cx="11247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B66426E-0AA2-4885-855C-15E9AA7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0552"/>
            <a:ext cx="7772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0311F0-516C-4A0A-86A8-F3A8BB34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0552"/>
            <a:ext cx="777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2C03963-AB3A-46B8-8230-091B65EA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76272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OS Resolver</a:t>
            </a:r>
            <a:endParaRPr sz="14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F6CAE8A-A10B-415B-814E-9860449D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76272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/etc/hosts + OS cache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3B8FE136-C4AA-465E-9619-FD9B8BF3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3784"/>
            <a:ext cx="11247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E6A4DCB-2255-42D1-A603-9B8434E9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3784"/>
            <a:ext cx="7772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482C603-FA1D-488B-9542-78A8B53A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3784"/>
            <a:ext cx="777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4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F598D5A-E894-4B84-8429-30C9500B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89504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Recursive Resolver</a:t>
            </a:r>
            <a:endParaRPr sz="14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776B24F-DF2F-41F9-B094-C0B7F8F0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889504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DNS server ISP / 1.1.1.1 / 8.8.8.8</a:t>
            </a:r>
            <a:endParaRPr sz="11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E3C90C78-EF5A-4BBF-952F-12D0B145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7016"/>
            <a:ext cx="11247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7AC1D84F-4E8E-4D79-BFA0-820F8116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7016"/>
            <a:ext cx="7772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1523700-1B92-4DDA-AEE0-DB889FED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7016"/>
            <a:ext cx="777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4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277F834-9943-40AB-9010-A0D20937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02736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Root Server</a:t>
            </a:r>
            <a:endParaRPr sz="14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CD50F16E-6266-49EC-AC0A-A63CC6A2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02736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Tanya: 'siapa yang punya .com?'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A63BD7AB-066F-4FDF-8382-0D798D01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0248"/>
            <a:ext cx="11247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CDC00FF7-40AB-4895-B0C9-BF56EF89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0248"/>
            <a:ext cx="7772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7118526C-D207-40D1-9A7B-1280CBA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0248"/>
            <a:ext cx="777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24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570931A8-D665-4D49-B20D-88AF080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315968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TLD Server</a:t>
            </a:r>
            <a:endParaRPr sz="1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AEDDAA3F-F863-49BC-8496-6227F4FA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31596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Tanya: 'siapa authoritative untuk github.com?'</a:t>
            </a:r>
            <a:endParaRPr sz="11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F20A311-37B2-4D8D-A96A-193E0C2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11247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238E5DB0-A325-4C0A-95B3-EFF3E2A1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7772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626F6212-F653-4C98-90A9-A84B511C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777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24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E1CF613-CFD0-41A7-9983-3402307C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2920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Authoritative NS</a:t>
            </a:r>
            <a:endParaRPr sz="14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CF19750E-997C-4690-9BBF-13D83BCD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02920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Jawab: alamat A/AAAA github.com dapat berubah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6B034D0-D510-4CF0-B791-9FABFC44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Waktu lookup bergantung resolver dan jaringan; hasil dapat tersimpan di cache.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TTL (Time To Live)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menentukan lama cache; nilainya bergantung konfigurasi record.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833058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3C4205-6E3D-4B5C-917A-791BCFB2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56BCB9-59FB-4A07-952D-15FFC1A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DE2A3A-C9AB-49F6-9D4F-404EBAC6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e2ddd660f42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87b56f22c4c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D2F8F9B-7E5A-4C87-A46F-BF70D2F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FEBD9F8-F57F-483F-955D-6ECBDA2A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DNS Record Types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EF4648A-B375-4266-AF77-7E5E22F3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Macam-macam info yang bisa disimpan di DNS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06E7B31-1672-4CC2-B808-CD8090B4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5756B95-F0EF-4788-B712-36069D4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9FE1C47-7A8E-4FF7-B333-DC7297DF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</a:t>
            </a:r>
            <a:endParaRPr sz="26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A5F0852-EE28-4816-AC25-2F70443C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IPv4 address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3FBD22D-5683-4D76-A85E-0711C2BA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E8EF73D-395E-45D1-B68A-E4D06827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AE6C509-5D8E-47A2-9D76-F02AF7CE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github.com -&gt; 140.82.114.4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DB3372CA-DBAF-4625-8F2E-83CEB53E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C6A961CD-519E-4509-99AD-A372B909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Domain ke server (paling umum)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05FC398-22B5-4CE3-86C4-F8AC3579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BE86B280-6E61-418D-BC76-FAA954ED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AF6AFF6-5663-494C-BBF0-50E12F0A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AAAA</a:t>
            </a:r>
            <a:endParaRPr sz="26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0329184-EAFE-42E0-9CBE-4DD6315C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1732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IPv6 address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ABBE259-0BF4-41BA-8AC8-63AC97A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945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95CE217F-D547-4E72-91A9-EE57EBC6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231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1C586A4-1047-4A3B-8D75-043F171C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31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github.com -&gt; 2606:50c0:8000::153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3C4C12A2-F12A-405E-A1C7-5C49DE4D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260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B2FB585-D010-4576-B2C0-170AFE9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15468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Domain ke server IPv6</a:t>
            </a:r>
            <a:endParaRPr sz="11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8A3EDCDF-8DB3-4A02-91FD-2C5BC07E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252BDF9-1CD9-4C22-8762-9A261EA5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2265DC25-8AA5-436C-8B9D-B53DDD64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1732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CNAME</a:t>
            </a:r>
            <a:endParaRPr sz="26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4AA68F80-93C9-45D4-924F-CDB5D5A0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1732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Alias domain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9699674-3B87-437D-B4EE-1A71AA98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9456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BA50DC2-89BE-4C2B-8D53-065804C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2316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6D7E055-B2A9-4217-BAAE-4A295072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42316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www -&gt; github.com</a:t>
            </a:r>
            <a:endParaRPr sz="1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F4FAC619-5F21-42B5-9DEF-4278852F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2608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4E2719-0742-43C5-99B8-E5BEFE6B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15468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Sub-domain pointing ke domain lain</a:t>
            </a:r>
            <a:endParaRPr sz="11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BAEF86C9-CC37-400C-90C7-C5B7C7A3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BBF3BA8-E7C5-48B9-B829-8216A141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44445930-C294-4677-B015-14B10983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MX</a:t>
            </a:r>
            <a:endParaRPr sz="26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A4D5F393-B820-4094-B623-1E85C15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Mail server</a:t>
            </a:r>
            <a:endParaRPr sz="11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03809737-F2F2-419E-BF8D-D8F81656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6BD5FC0A-FA79-41E7-996C-646C3F82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05EB521C-8AFE-4768-AA2C-0B567F4C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github.com -&gt; aspmx.l.google.com</a:t>
            </a:r>
            <a:endParaRPr sz="10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E1A4996B-4906-4F85-AEEE-F5FE94AC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841201-2A63-4AD9-88BC-9C5F76D4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Email routing (Gmail, custom domain)</a:t>
            </a:r>
            <a:endParaRPr sz="1100"/>
          </a:p>
        </p:txBody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C7D3B65A-61D5-43A2-B85F-65B1301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35E457D3-3D88-45A9-B448-1A801C47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7C9A18AF-0376-4A56-98DC-A8D98E4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9476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TXT</a:t>
            </a:r>
            <a:endParaRPr sz="26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98261FF7-BF5E-490A-AF84-27A5D0C4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9476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Text arbitrary</a:t>
            </a:r>
            <a:endParaRPr sz="11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4688B293-C69C-4A4F-9617-2DC76975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6176DCA5-1B9B-43F2-9E49-0317E941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80060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738FFC93-14C6-4F04-9E14-245F5A5D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v=spf1 include:_spf.google.com</a:t>
            </a:r>
            <a:endParaRPr sz="100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F30ACF46-98E2-4094-B498-1579ACC6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D584A699-E132-498C-AD80-0E3AA4D3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53212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Verifikasi domain, SPF, DKIM</a:t>
            </a:r>
            <a:endParaRPr sz="1100"/>
          </a:p>
        </p:txBody>
      </p:sp>
      <p:sp>
        <p:nvSpPr>
          <p:cNvPr id="55" name="Shape 51">
            <a:extLst xmlns:a="http://schemas.openxmlformats.org/drawingml/2006/main">
              <a:ext uri="{FF2B5EF4-FFF2-40B4-BE49-F238E27FC236}">
                <a16:creationId xmlns:a16="http://schemas.microsoft.com/office/drawing/2014/main" id="{F752925D-DF25-4460-AC2D-E02161F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6" name="Shape 52">
            <a:extLst xmlns:a="http://schemas.openxmlformats.org/drawingml/2006/main">
              <a:ext uri="{FF2B5EF4-FFF2-40B4-BE49-F238E27FC236}">
                <a16:creationId xmlns:a16="http://schemas.microsoft.com/office/drawing/2014/main" id="{C35D8719-9C51-42A0-98E6-B40B41A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513E4778-D1CC-4207-B338-D54C5127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79476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NS</a:t>
            </a:r>
            <a:endParaRPr sz="2600"/>
          </a:p>
        </p:txBody>
      </p:sp>
      <p:sp>
        <p:nvSpPr>
          <p:cNvPr id="58" name="Text 54">
            <a:extLst xmlns:a="http://schemas.openxmlformats.org/drawingml/2006/main">
              <a:ext uri="{FF2B5EF4-FFF2-40B4-BE49-F238E27FC236}">
                <a16:creationId xmlns:a16="http://schemas.microsoft.com/office/drawing/2014/main" id="{83086481-06D2-4ECC-B61E-B291F3E5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794760"/>
            <a:ext cx="3337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 server</a:t>
            </a:r>
            <a:endParaRPr sz="1100"/>
          </a:p>
        </p:txBody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6F60BF98-6F19-48E0-965A-AF6563F9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57200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Contoh:</a:t>
            </a:r>
            <a:endParaRPr sz="900"/>
          </a:p>
        </p:txBody>
      </p:sp>
      <p:sp>
        <p:nvSpPr>
          <p:cNvPr id="60" name="Shape 56">
            <a:extLst xmlns:a="http://schemas.openxmlformats.org/drawingml/2006/main">
              <a:ext uri="{FF2B5EF4-FFF2-40B4-BE49-F238E27FC236}">
                <a16:creationId xmlns:a16="http://schemas.microsoft.com/office/drawing/2014/main" id="{3032E930-B461-4A93-B48F-5ABA2A48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00600"/>
            <a:ext cx="33375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1" name="Text 57">
            <a:extLst xmlns:a="http://schemas.openxmlformats.org/drawingml/2006/main">
              <a:ext uri="{FF2B5EF4-FFF2-40B4-BE49-F238E27FC236}">
                <a16:creationId xmlns:a16="http://schemas.microsoft.com/office/drawing/2014/main" id="{B0500D6F-B4A1-4FC1-81C3-916ED4A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0060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github.com -&gt; ns-421.awsdns-52.com</a:t>
            </a:r>
            <a:endParaRPr sz="1000"/>
          </a:p>
        </p:txBody>
      </p:sp>
      <p:sp>
        <p:nvSpPr>
          <p:cNvPr id="62" name="Text 58">
            <a:extLst xmlns:a="http://schemas.openxmlformats.org/drawingml/2006/main">
              <a:ext uri="{FF2B5EF4-FFF2-40B4-BE49-F238E27FC236}">
                <a16:creationId xmlns:a16="http://schemas.microsoft.com/office/drawing/2014/main" id="{9234947A-55A3-4C15-BDBD-DD864D63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31A1ECA7-23D0-47D0-9866-E4FDECC9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53212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Delegasi ke authoritative NS</a:t>
            </a:r>
            <a:endParaRPr sz="1100"/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12B0230D-E2DA-4E9C-9B8D-E2B7839B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Essential untuk Anda: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(point ke server),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CNAME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(Vercel/Netlify deploy biasa pakai ini), </a:t>
            </a:r>
            <a:r>
              <a:rPr sz="1100" b="1" i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TXT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(verifikasi ownership Google Search Console, Cloudflare).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46915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8A8700-4F35-439A-A4F5-82629A8F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F7D156-43B9-4E48-B010-11746A1F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7B79706-B7EA-42CE-8686-F87D8120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c7779bfa7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71452246a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2A4E8B5-F16F-4AA1-BCC9-6CFAD9CB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BA00B42-FFC3-48D8-AF9E-38DEB41F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dig &amp; nslookup - DNS Debugging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64C5C4A-5208-45F5-B0CC-4842A5BF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Tool wajib saat domain bermasalah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97ED8A8-DA76-490A-9C09-9A46647A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0292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53C773-EEFB-4646-BA3A-12D444CA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dig - the modern way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C6B975E-2D09-4ACA-A14B-CB7FDBFA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4663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Tampilkan info DNS lengkap. Default pakai resolver sistem.</a:t>
            </a:r>
            <a:endParaRPr sz="11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529C3CE-22FA-4D9D-966D-DF9CD202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4663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DC5B2F5-78F2-4776-9A85-E453AB3B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31720"/>
            <a:ext cx="22860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E143A3C-0A05-4E2C-BC20-A52D5E1E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dig github.com</a:t>
            </a:r>
            <a:endParaRPr sz="1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1892284-84DF-47B6-AD26-78BCE1F4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3172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Lookup A record (default)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59460C5-122F-466B-9C0F-22FC5579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4663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180B36C9-71E0-42E7-9603-C8D642CB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2860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4D0417A3-6238-42FE-AF0C-DD0F1EA1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dig github.com AAAA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F86BF606-006F-463D-B035-C1E3714B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2608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Lookup IPv6 (AAAA)</a:t>
            </a:r>
            <a:endParaRPr sz="1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518CCC8-3DD5-41F6-8FAC-A5A7EB35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4663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CD96AFA2-3E18-4438-9176-9FC570A0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22860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C43F008-70E3-47FB-ABBE-B4A6CD6C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044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dig github.com MX</a:t>
            </a:r>
            <a:endParaRPr sz="10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84B7E53-AB03-4880-AAF4-6B9D31C1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52044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Cari mail server</a:t>
            </a:r>
            <a:endParaRPr sz="10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087A28E6-4266-4C4D-9F38-A2DCB364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4663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FDD40F2F-6043-4FAF-ABA6-C2450731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22860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9B5CB05-6C07-4D65-8031-1D44B14A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dig +short github.com</a:t>
            </a:r>
            <a:endParaRPr sz="10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3557AF39-D273-4889-9747-2CC7564D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11480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Output ringkas, IP saja</a:t>
            </a:r>
            <a:endParaRPr sz="10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099F43B-0B69-4393-9786-0DC5A834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4663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CCB823A2-958B-435A-A9C3-E037A1C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22860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52ADE50B-F8A1-45D8-8628-1273487E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dig +trace github.com</a:t>
            </a:r>
            <a:endParaRPr sz="10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F1DFF48-AF43-4119-B4CF-F4A8BF23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70916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Trace dari root - debug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CF98E067-9154-411A-B3D4-4B996211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4663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1F4ADC3B-51EC-4B57-9FB1-09700DBB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22860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A5C2443F-5079-43AD-ABC1-EDA86AF9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352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dig @1.1.1.1 example.com</a:t>
            </a:r>
            <a:endParaRPr sz="10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213695C-9BB2-4777-8718-36862BF0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303520"/>
            <a:ext cx="2194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resolver Cloudflare</a:t>
            </a:r>
            <a:endParaRPr sz="10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C88F056C-412E-4DC9-8171-FF4263E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02EABF9E-27E3-4339-A39E-9484361E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917BD685-50AD-43E9-8773-C3C8D89C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FB2B38D9-7BC1-42C9-BC8F-DA39B58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D2798D25-97CA-4E45-93A0-70ACAD26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36B5F419-3F5E-4318-A0A3-42E4DB0B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dig in action</a:t>
            </a:r>
            <a:endParaRPr sz="9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9C955AB-9E36-4089-83C6-A7382A4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83080"/>
            <a:ext cx="5669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dig github.com +short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140.82.114.4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dig github.com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;; ANSWER SECTION: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github.com.   60   IN   A   140.82.114.4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;; AUTHORITY SECTION: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github.com. 86400 IN NS ns-421.awsdns-52.com.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;; Query time: 28 msec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;; SERVER: 192.168.1.1#53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Lookup MX record (mail server)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dig gmail.com MX +short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10 alt2.gmail-smtp-in.l.google.com.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20 alt3.gmail-smtp-in.l.google.com.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5  gmail-smtp-in.l.google.com.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51738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F20106A-E8C4-4058-86E0-B3F48FC5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C0A723-72E5-4B6B-B6A4-A3FD78B0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E14BCB1-9A76-49AB-A159-ADE69F55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DA428A-4D8D-4EB5-9318-4CF82F64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831158A-7B62-4CA4-AF17-0ED3422B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7B8ABFE-FAB5-4F72-909C-FA70B549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7F3C8B2-1F6F-483B-A103-C3E10DBE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b8ed33b6a48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7f507210e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4129A97-F2FE-48F4-8578-22E3685C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012211A-EED3-48CD-AA4A-AB783698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Server &amp;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Reverse Proxy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C88B883-7469-442E-A7D4-9D8932A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3B7F1A-8C58-4567-9F73-6A0AC54A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Nginx, Apache, dan kenapa reverse proxy jadi standar production.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629226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F92171-5453-49E5-95C6-D89DDFA6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D04F25-553F-4D38-BB5A-4F8B395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4AB0BEC-4964-47E6-BBAC-A4C2370F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50e48f4f64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7428fc77347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3F8A3AA-3AD8-4E65-BD2A-ABF5E8F2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6755870-4098-4908-875A-C134A647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Apa itu Web Server?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1109B88-CF36-4DA8-9A9D-97EFA4AE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Software yang serve HTTP request - bisa static file atau dynamic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E76FBAC-F858-4914-AAE3-E49CACD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e37da7b4a41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9164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836E2713-B8C0-4840-A56F-1113D111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5448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Web server = process yang listen di port 80/443 dan respond HTTP request.</a:t>
            </a:r>
            <a:endParaRPr sz="16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80C7063B-A07D-4A39-8F86-00C87A19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65960"/>
            <a:ext cx="9601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Tugas: terima request, baca file dari disk (static) atau forward ke app server (dynamic), kembalikan response.</a:t>
            </a:r>
            <a:endParaRPr sz="12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901398CA-7C53-4EB5-8F51-B52005FE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Web Server Populer</a:t>
            </a:r>
            <a:endParaRPr sz="14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52ED2696-2517-4A0D-AC1C-6E69084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974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A9C7818D-C0FA-487C-BA20-5146D9F0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639"/>
          </a:solidFill>
          <a:ln xmlns:a="http://schemas.openxmlformats.org/drawingml/2006/main" w="12700">
            <a:solidFill>
              <a:srgbClr val="009639"/>
            </a:solidFill>
            <a:prstDash val="solid"/>
          </a:ln>
        </p:spPr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7c847a4a34f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34747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C8D58030-A4E8-4B88-B108-C66DC14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Nginx</a:t>
            </a:r>
            <a:endParaRPr sz="160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1DEB0348-605E-4BBF-BF02-59137A3A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109728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6C506550-0C8D-4832-954C-AF9F05CE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Reverse proxy</a:t>
            </a:r>
            <a:endParaRPr sz="10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A4BD0D7D-45D4-4A54-886C-A87029B3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937760"/>
            <a:ext cx="2423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Event-driven, performa tinggi. Standar reverse proxy modern.</a:t>
            </a:r>
            <a:endParaRPr sz="110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7AC5E100-A12B-4CC5-856A-3CCFFE97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200400"/>
            <a:ext cx="26974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F62A706B-8511-4416-A3C2-CF330AEC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20040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128"/>
          </a:solidFill>
          <a:ln xmlns:a="http://schemas.openxmlformats.org/drawingml/2006/main" w="12700">
            <a:solidFill>
              <a:srgbClr val="D22128"/>
            </a:solidFill>
            <a:prstDash val="solid"/>
          </a:ln>
        </p:spPr>
      </p:sp>
      <p:pic>
        <p:nvPicPr>
          <p:cNvPr id="7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e37da7b4a41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7972" y="34747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010F6980-4B5A-4A62-AE02-AC7CA285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416052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Apache</a:t>
            </a:r>
            <a:endParaRPr sz="1600"/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904E5C11-206E-4FB7-90F4-B00CB6A3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372" y="4572000"/>
            <a:ext cx="109728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79563D07-78B4-414D-8E7C-B1328777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372" y="45720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server</a:t>
            </a:r>
            <a:endParaRPr sz="10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A118030F-5720-4911-BB91-19C09361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4937760"/>
            <a:ext cx="2423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Veteran sejak 1995. .htaccess + module-based. PHP friendly.</a:t>
            </a:r>
            <a:endParaRPr sz="11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6C65DB78-1D27-4223-8FCD-0855F74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200400"/>
            <a:ext cx="26974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2522479B-A4C5-45C4-BB55-8942FE0E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20040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8C0"/>
          </a:solidFill>
          <a:ln xmlns:a="http://schemas.openxmlformats.org/drawingml/2006/main" w="12700">
            <a:solidFill>
              <a:srgbClr val="1F88C0"/>
            </a:solidFill>
            <a:prstDash val="solid"/>
          </a:ln>
        </p:spPr>
      </p:sp>
      <p:pic>
        <p:nvPicPr>
          <p:cNvPr id="8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e37da7b4a41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0044" y="34747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28504881-9775-4D92-B0AD-745E2EF6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16052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Caddy</a:t>
            </a:r>
            <a:endParaRPr sz="1600"/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76583E74-3715-4DED-A8B8-D06279C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444" y="4572000"/>
            <a:ext cx="109728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FF6E0A86-E4FF-4202-B7E6-0667BDD3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444" y="45720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HTTPS otomatis</a:t>
            </a:r>
            <a:endParaRPr sz="10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F2E38C16-D305-4C67-8AC6-520C4121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937760"/>
            <a:ext cx="2423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HTTPS otomatis dari Let's Encrypt. Config simple (Caddyfile).</a:t>
            </a:r>
            <a:endParaRPr sz="1100"/>
          </a:p>
        </p:txBody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EC4236F8-4359-4B6C-9DAF-FEB93EA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200400"/>
            <a:ext cx="269748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DD036786-309A-4078-AE61-1771F65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20040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020"/>
          </a:solidFill>
          <a:ln xmlns:a="http://schemas.openxmlformats.org/drawingml/2006/main" w="12700">
            <a:solidFill>
              <a:srgbClr val="F38020"/>
            </a:solidFill>
            <a:prstDash val="solid"/>
          </a:ln>
        </p:spPr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e751cf83e4b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2116" y="34747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BAE18E57-D2CA-4032-9DDA-E0C50737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416052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Cloudflare</a:t>
            </a:r>
            <a:endParaRPr sz="1600"/>
          </a:p>
        </p:txBody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9633D3B1-A4AF-4385-9675-72FE03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516" y="4572000"/>
            <a:ext cx="109728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6E990E42-5561-40B5-9699-F4F5B177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516" y="45720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Share: Edge</a:t>
            </a:r>
            <a:endParaRPr sz="10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FBAD4ADC-2F04-4AC7-ACAC-92A10DA4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937760"/>
            <a:ext cx="2423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Bukan self-hosted - CDN + edge worker. Banyak situs di belakang ini.</a:t>
            </a:r>
            <a:endParaRPr sz="110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DC5F3D27-019F-475E-8398-C87880F4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Pangsa pasar berubah; fokus fungsi tiap layanan.</a:t>
            </a: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kita: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Nginx (paling banyak dipakai untuk reverse proxy + serve static asset).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318081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67549A7-B2DF-4AD4-84D1-2C127CAC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3A48B4-A8BC-4849-A76C-4926149D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CA3D39-A251-4E6E-BB39-D64C3F01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42172294b41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773e3be8f4c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16B2908-9694-4E3E-890B-DF00C807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9FFCA9D-2D08-493F-8300-EBD6C382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Reverse Proxy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29B3D38-FE0C-46E6-A44A-519C624A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Nginx di depan app server - pattern paling umum production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BD8DB77-A708-44C9-AF1C-C8917780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48AD014-2F43-4559-BDDC-828F7515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86000"/>
            <a:ext cx="18288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7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322a121704a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7320" y="260604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AF22E0C-6520-4805-95C2-EEEAA757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INTERNET</a:t>
            </a:r>
            <a:endParaRPr sz="12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BA962B2E-8CBB-474B-B05D-969178DB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8920"/>
            <a:ext cx="9144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3DE41E14-1C2A-444D-BF6E-1CD86376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194560"/>
            <a:ext cx="210312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7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15cdd78a447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6280" y="2331720"/>
            <a:ext cx="731520" cy="73152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82AC3F23-B17D-498E-937E-1E82EAD1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10896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NGINX</a:t>
            </a:r>
            <a:endParaRPr sz="13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A455E5BE-1018-4E75-B48B-E7E85C5A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42900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:80, :443</a:t>
            </a:r>
            <a:endParaRPr sz="110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26195943-6074-4DCC-8501-A460C960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9144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1735B16C-1316-4C5B-94AE-86C6E01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788920"/>
            <a:ext cx="9144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AE9028EE-8627-43AE-A1EA-752CEA5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49040"/>
            <a:ext cx="9144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9FF9FADD-A29B-40E6-8602-19940759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554480"/>
            <a:ext cx="42976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pic>
        <p:nvPicPr>
          <p:cNvPr id="8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9fddbeb9d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0920" y="173736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891CE737-A0BF-4F17-BC52-8D7DB93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45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Next.js app</a:t>
            </a:r>
            <a:endParaRPr sz="1400"/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034716F2-C290-4585-9AF9-A10D861D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16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ED7AA"/>
                </a:solidFill>
                <a:latin typeface="Consolas"/>
                <a:ea typeface="Consolas"/>
                <a:cs typeface="Consolas"/>
              </a:rPr>
              <a:t>:3000</a:t>
            </a:r>
            <a:endParaRPr sz="1100"/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5BA40909-23CC-4B20-BC75-C6836A6C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514600"/>
            <a:ext cx="42976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pic>
        <p:nvPicPr>
          <p:cNvPr id="8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9fddbeb9d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0920" y="26974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39729269-4C1D-48DA-BE3F-653543D3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60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backend</a:t>
            </a:r>
            <a:endParaRPr sz="1400"/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BC653653-2C2D-4191-93C9-491B114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ED7AA"/>
                </a:solidFill>
                <a:latin typeface="Consolas"/>
                <a:ea typeface="Consolas"/>
                <a:cs typeface="Consolas"/>
              </a:rPr>
              <a:t>:8000</a:t>
            </a:r>
            <a:endParaRPr sz="1100"/>
          </a:p>
        </p:txBody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2018695F-78B2-4A29-9251-942392A7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474720"/>
            <a:ext cx="42976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pic>
        <p:nvPicPr>
          <p:cNvPr id="9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9fddbeb9d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0920" y="36576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2" name="Text 23">
            <a:extLst xmlns:a="http://schemas.openxmlformats.org/drawingml/2006/main">
              <a:ext uri="{FF2B5EF4-FFF2-40B4-BE49-F238E27FC236}">
                <a16:creationId xmlns:a16="http://schemas.microsoft.com/office/drawing/2014/main" id="{8F07A93D-1A30-42FB-9C20-065C36C2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61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Static files</a:t>
            </a:r>
            <a:endParaRPr sz="1400"/>
          </a:p>
        </p:txBody>
      </p:sp>
      <p:sp>
        <p:nvSpPr>
          <p:cNvPr id="33" name="Text 24">
            <a:extLst xmlns:a="http://schemas.openxmlformats.org/drawingml/2006/main">
              <a:ext uri="{FF2B5EF4-FFF2-40B4-BE49-F238E27FC236}">
                <a16:creationId xmlns:a16="http://schemas.microsoft.com/office/drawing/2014/main" id="{1C95876F-4AD4-4E9A-AF22-CFCCD11C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ED7AA"/>
                </a:solidFill>
                <a:latin typeface="Consolas"/>
                <a:ea typeface="Consolas"/>
                <a:cs typeface="Consolas"/>
              </a:rPr>
              <a:t>/var/www</a:t>
            </a:r>
            <a:endParaRPr sz="1100"/>
          </a:p>
        </p:txBody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FB265980-A744-4E3A-815B-63512FC2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Kenapa Pakai Reverse Proxy?</a:t>
            </a:r>
            <a:endParaRPr sz="1400"/>
          </a:p>
        </p:txBody>
      </p:sp>
      <p:sp>
        <p:nvSpPr>
          <p:cNvPr id="35" name="Shape 26">
            <a:extLst xmlns:a="http://schemas.openxmlformats.org/drawingml/2006/main">
              <a:ext uri="{FF2B5EF4-FFF2-40B4-BE49-F238E27FC236}">
                <a16:creationId xmlns:a16="http://schemas.microsoft.com/office/drawing/2014/main" id="{1798905F-E3E3-4CFC-900E-0DEE1F63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6360"/>
            <a:ext cx="27432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1f0dc8d914d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53035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E4191464-A6F2-46E8-8CC8-1340E111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5780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TLS Termination</a:t>
            </a:r>
            <a:endParaRPr sz="1200"/>
          </a:p>
        </p:txBody>
      </p:sp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CDE6A097-046F-4D1B-A5C7-C80224D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1500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Handle HTTPS di Nginx, backend cukup HTTP biasa.</a:t>
            </a:r>
            <a:endParaRPr sz="1000"/>
          </a:p>
        </p:txBody>
      </p:sp>
      <p:sp>
        <p:nvSpPr>
          <p:cNvPr id="39" name="Shape 29">
            <a:extLst xmlns:a="http://schemas.openxmlformats.org/drawingml/2006/main">
              <a:ext uri="{FF2B5EF4-FFF2-40B4-BE49-F238E27FC236}">
                <a16:creationId xmlns:a16="http://schemas.microsoft.com/office/drawing/2014/main" id="{A9C725E4-3185-46B9-82AB-D0BDF65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166360"/>
            <a:ext cx="27432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6c221d866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4720" y="53035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1" name="Text 30">
            <a:extLst xmlns:a="http://schemas.openxmlformats.org/drawingml/2006/main">
              <a:ext uri="{FF2B5EF4-FFF2-40B4-BE49-F238E27FC236}">
                <a16:creationId xmlns:a16="http://schemas.microsoft.com/office/drawing/2014/main" id="{D7107F12-30D6-4B86-A65E-7DA89F6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25780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Load Balancing</a:t>
            </a:r>
            <a:endParaRPr sz="1200"/>
          </a:p>
        </p:txBody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4E76CAA3-F7D3-4837-AA85-E9F85174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71500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Distribusi traffic ke banyak backend instance.</a:t>
            </a:r>
            <a:endParaRPr sz="1000"/>
          </a:p>
        </p:txBody>
      </p:sp>
      <p:sp>
        <p:nvSpPr>
          <p:cNvPr id="43" name="Shape 32">
            <a:extLst xmlns:a="http://schemas.openxmlformats.org/drawingml/2006/main">
              <a:ext uri="{FF2B5EF4-FFF2-40B4-BE49-F238E27FC236}">
                <a16:creationId xmlns:a16="http://schemas.microsoft.com/office/drawing/2014/main" id="{AB6E3C3E-2B87-4DAA-9AEA-D9BBDDF5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66360"/>
            <a:ext cx="27432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4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faed179bb4b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5080" y="53035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5" name="Text 33">
            <a:extLst xmlns:a="http://schemas.openxmlformats.org/drawingml/2006/main">
              <a:ext uri="{FF2B5EF4-FFF2-40B4-BE49-F238E27FC236}">
                <a16:creationId xmlns:a16="http://schemas.microsoft.com/office/drawing/2014/main" id="{89A70638-F8D3-40C6-95B2-3B98A0B5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Security Layer</a:t>
            </a:r>
            <a:endParaRPr sz="1200"/>
          </a:p>
        </p:txBody>
      </p:sp>
      <p:sp>
        <p:nvSpPr>
          <p:cNvPr id="46" name="Text 34">
            <a:extLst xmlns:a="http://schemas.openxmlformats.org/drawingml/2006/main">
              <a:ext uri="{FF2B5EF4-FFF2-40B4-BE49-F238E27FC236}">
                <a16:creationId xmlns:a16="http://schemas.microsoft.com/office/drawing/2014/main" id="{4FE23D66-B0EE-45A0-AA7A-1D673CBB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71500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Rate limit, IP blocking, WAF di depan app.</a:t>
            </a:r>
            <a:endParaRPr sz="1000"/>
          </a:p>
        </p:txBody>
      </p:sp>
      <p:sp>
        <p:nvSpPr>
          <p:cNvPr id="47" name="Shape 35">
            <a:extLst xmlns:a="http://schemas.openxmlformats.org/drawingml/2006/main">
              <a:ext uri="{FF2B5EF4-FFF2-40B4-BE49-F238E27FC236}">
                <a16:creationId xmlns:a16="http://schemas.microsoft.com/office/drawing/2014/main" id="{E4EFF45C-9354-4416-AAEE-10FC111E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166360"/>
            <a:ext cx="274320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8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d1fd3cb9242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5440" y="53035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9" name="Text 36">
            <a:extLst xmlns:a="http://schemas.openxmlformats.org/drawingml/2006/main">
              <a:ext uri="{FF2B5EF4-FFF2-40B4-BE49-F238E27FC236}">
                <a16:creationId xmlns:a16="http://schemas.microsoft.com/office/drawing/2014/main" id="{58A0304A-FEFC-46C8-ACEF-73A176B2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525780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Caching + Compression</a:t>
            </a:r>
            <a:endParaRPr sz="1200"/>
          </a:p>
        </p:txBody>
      </p:sp>
      <p:sp>
        <p:nvSpPr>
          <p:cNvPr id="50" name="Text 37">
            <a:extLst xmlns:a="http://schemas.openxmlformats.org/drawingml/2006/main">
              <a:ext uri="{FF2B5EF4-FFF2-40B4-BE49-F238E27FC236}">
                <a16:creationId xmlns:a16="http://schemas.microsoft.com/office/drawing/2014/main" id="{B85A5829-0612-4B62-90DF-C7D25127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71500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Gzip + static cache - kurangi load backend.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53889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D68A2D-BCC4-49E4-97E2-8F69CF01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82DC42-9282-4A9A-93B4-73EC3C47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5641AC-A605-48DA-9731-FECA81ED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b64964fe0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b6a80bfa6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696B8C3-4857-4114-B860-9D756B3B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8A5D16A-C6AF-4C71-84A2-BDDC655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Nginx Config Example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791D02C-300E-4C91-8111-E338B7CE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Reverse proxy + HTTPS untuk Next.js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204C854-9C8D-43FE-972A-FA889958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1148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7A7BE3E-F02C-4F52-99F6-7B605121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Struktur Config Nginx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07C11AA-6972-4F3F-BEA4-A35F4650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7490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3FD1DB2-AD61-40F5-9C4C-A21C07C8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3520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/etc/nginx/nginx.conf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91C771B-BE3B-4A61-B0D9-7F27F7D9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Main config (global directives)</a:t>
            </a:r>
            <a:endParaRPr sz="9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865130A6-F530-404E-AF3D-5F062EF0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7490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F783C7E-E231-4C69-81BD-F93150F3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3520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/etc/nginx/sites-available/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108F93C-1BE1-444A-A14A-7C9D31C4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config (per-domain)</a:t>
            </a:r>
            <a:endParaRPr sz="9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541A-3E20-4CE1-8670-C1834DD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37490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530D974-78FC-491E-B28F-D2D0D239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520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/etc/nginx/sites-enabled/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B201ED2-0EF3-4C5D-A14B-61B7677C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048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Active config (symlink)</a:t>
            </a:r>
            <a:endParaRPr sz="9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C711E99-4A29-42A0-BC88-CE2A9F1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37490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BF40EE3-2FBB-4D78-B580-6DB4E56C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3520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/var/log/nginx/access.log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9FC2477-35FE-47FF-A3FE-5BE1599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7200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Akses log (request masuk)</a:t>
            </a:r>
            <a:endParaRPr sz="9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59A68DA-ADD7-4A8B-94D8-1883D5F2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37490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4FC09B5-E2FB-4EB6-91B9-B18CF6AE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83480"/>
            <a:ext cx="3520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/var/log/nginx/error.log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2B4344C3-099F-432E-9168-7226CB6F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0352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Error log (debug di sini)</a:t>
            </a:r>
            <a:endParaRPr sz="9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42805B4B-3F74-48D7-9420-E07062F8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60720"/>
            <a:ext cx="37490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537DAC4A-9D2C-4FAD-801E-FCFAEC6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60720"/>
            <a:ext cx="37490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D38BF9E1-D5AB-40EE-8254-09F2542B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430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51022B05-A08F-4C2E-A8F6-7927D230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430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CE85F8BB-D1F0-4C32-8FDB-50757BAF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430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E454FF4-210E-460E-BD81-10D6F4BD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76072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test + reload</a:t>
            </a:r>
            <a:endParaRPr sz="9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5E4AC0DA-7E65-4A53-A008-CA9597EE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17320"/>
            <a:ext cx="69494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9295585-C9FE-4626-AA86-9A64D64F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17320"/>
            <a:ext cx="69494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3DAE58FA-AB78-4B44-B9DD-99980310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CE75508E-71D3-4A98-AA77-FCB21558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15EEF2-5F78-440F-A65F-71387E0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8038BB34-CA36-4CAC-9C10-165C87B1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417320"/>
            <a:ext cx="6217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/etc/nginx/sites-available/myapp.conf</a:t>
            </a:r>
            <a:endParaRPr sz="9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D9B11589-6D62-4155-8298-61AC2AFE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783080"/>
            <a:ext cx="66751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server 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listen 80;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server_name myapp.com www.myapp.com;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return 301 https://$host$request_uri;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}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server 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listen 443 ssl http2;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server_name myapp.com;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TLS dari Let's Encrypt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ssl_certificate     /etc/letsencrypt/live/myapp.com/fullchain.pem;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ssl_certificate_key /etc/letsencrypt/live/myapp.com/privkey.pem;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 location / 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proxy_pass http://localhost:3000;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proxy_set_header Host $host;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proxy_set_header X-Real-IP $remote_addr;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proxy_set_header X-Forwarded-Proto $scheme;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 }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}</a:t>
            </a:r>
            <a:endParaRPr sz="1100"/>
          </a:p>
        </p:txBody>
      </p:sp>
      <p:sp>
        <p:nvSpPr>
          <p:cNvPr id="41" name="Nginx command (repaired)">
            <a:extLst xmlns:a="http://schemas.openxmlformats.org/drawingml/2006/main">
              <a:ext uri="{FF2B5EF4-FFF2-40B4-BE49-F238E27FC236}">
                <a16:creationId xmlns:a16="http://schemas.microsoft.com/office/drawing/2014/main" id="{237C66E2-CC28-37AB-D410-200E56F2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88050"/>
            <a:ext cx="3474720" cy="130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sudo nginx -t &amp;&amp; sudo systemctl reload nginx</a:t>
            </a:r>
          </a:p>
        </p:txBody>
      </p:sp>
    </p:spTree>
    <p:extLst>
      <p:ext uri="{BB962C8B-B14F-4D97-AF65-F5344CB8AC3E}">
        <p14:creationId xmlns:p14="http://schemas.microsoft.com/office/powerpoint/2010/main" val="629075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8465E08-E1B2-44D1-8A99-B74CE3D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A984917-FF20-41AF-B1B0-D89FA15C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1C4CD1-3E4E-4AAB-AF6D-561395AE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A09317E-E4F1-4893-A55D-C3D1D9B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B4C435C-AD32-4ABC-A946-1FBABC6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2301DC4-FA73-4916-86E7-FB8A765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67FD9CC-80ED-42E8-9DF1-2A6EBC48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274c2c2834a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70b443f924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775E4A1-10E6-4017-9803-6C69698C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FA7B118-2E72-486C-A106-FA97C834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TLS &amp; HTTPS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1A24340-7920-4CDD-9A28-03C8489C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5D6D255-28BC-43A5-B0F3-E0757666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Enkripsi end-to-end + identitas server - kenapa HTTPS wajib.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907279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918746-1422-49F6-B58C-FF262825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8C6856-B89C-46D9-A75E-D68A104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DA873A-ACA0-4DF9-AF75-FFF92A80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f472cf19348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0a0e0c5494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276762E-08F7-4298-B7E5-FE5997EF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AA36FF2-3BBE-455E-BF5B-18F0D13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Kenapa HTTPS Wajib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1961F4E-D9F0-40A0-82AE-FFDA9096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Bukan optional lagi - browser udah tandai HTTP sebagai 'Not Secure'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1C751B4-8C4F-42BC-8564-69F8E5E2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FF9415C-8472-4040-BB6E-5E203DB4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32004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HTTPS</a:t>
            </a:r>
            <a:endParaRPr sz="72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7D821E6-050C-4837-BAB5-5883EDFC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54480"/>
            <a:ext cx="77724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Halaman di Chrome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umumnya memakai HTTPS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(Google Transparency Report; metrik berbeda per platform)</a:t>
            </a:r>
            <a:endParaRPr sz="16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5FC381E-2BA7-4A55-A971-6EE0F5D4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3 Alasan Wajib HTTPS</a:t>
            </a:r>
            <a:endParaRPr sz="14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444A8D5-C392-4A78-B3F4-30D85E4C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6576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0C584469-E012-422A-81DF-E569AD06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92e9f3c274c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5661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5D8C8277-39F9-4C97-876F-2936C709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204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Confidentiality</a:t>
            </a:r>
            <a:endParaRPr sz="16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BBF25673-EA8F-42EC-A858-EF0BDC3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3291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 antara client dan server di-enkripsi. WiFi publik / ISP tidak bisa baca password Anda.</a:t>
            </a:r>
            <a:endParaRPr sz="12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5B04433-8FBA-4C83-9AF6-4ACF6A8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429000"/>
            <a:ext cx="36576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253ECE31-C0AD-4340-AC73-188351E5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42900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eaa619f054d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0560" y="35661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6D870CAB-FC30-4E79-BE16-A3368710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5204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Integrity</a:t>
            </a:r>
            <a:endParaRPr sz="16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ADC573CD-F35F-41D5-AAF9-6EBF95A8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251960"/>
            <a:ext cx="3291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TLS memeriksa integritas agar perubahan data saat transit terdeteksi.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815E11D7-DF69-4D13-B7DB-B101288D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429000"/>
            <a:ext cx="365760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E95970AE-2E78-4F26-B633-CB90C4C8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42900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a8c775bf74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1040" y="35661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9F8C36D8-E67C-4D00-9EAA-E29A871E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5204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Authenticity</a:t>
            </a:r>
            <a:endParaRPr sz="16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A68F4566-E4D8-4254-B00D-A91DD051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251960"/>
            <a:ext cx="3291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dibuktikan identitasnya lewat certificate. </a:t>
            </a: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Membantu memeriksa identitas server pada domain tujuan.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259923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70A9A6-789F-45CF-8C24-CD557160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8388F5-0957-4017-9FE8-535502D9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70D287-02FC-4179-97DA-FB761A27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3a817ca694b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82748114646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87BF135-C0BD-4F17-AE79-300CFEDC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B427AE6-9FFA-400A-9724-0B65448D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TLS Handshake (TLS 1.3)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340B834-DEBF-4AA0-B4C7-3EFA424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Bagaimana koneksi aman terbentuk - 5 langkah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74D3534-F90C-4AF4-B459-691C5C4E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88A2403-9CF8-4C70-854B-AC89B35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BD1703C-5280-4A54-B8EA-EB41648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E2268EE-9671-4937-B82C-7DC4501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0876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Client Hello</a:t>
            </a:r>
            <a:endParaRPr sz="1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A02F03-8584-4131-8AAF-B38ACFA4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28800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Browser kirim: 'aku support TLS 1.3 + cipher AES, ECDHE'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5F0F22E-FF14-4453-BFE8-6E3C2445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15544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4CB0BD6-FB01-405E-B12F-3287C064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15544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-&gt;</a:t>
            </a:r>
            <a:endParaRPr sz="14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47F361DF-1DA7-4595-B859-2F89442B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AF24EC-901C-413C-BDEE-25E15A2C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688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38F8DC0-19CA-4229-A08A-0BADEDC2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688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685F14A-68CD-4337-85E0-C269B078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316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Server Hello + Certificate</a:t>
            </a:r>
            <a:endParaRPr sz="14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05C3B34-89DF-4CC8-BBF7-B4C9AF7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pilih cipher + kirim certificate (signed by CA)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D68089A-10DF-4A30-9A05-035E8EB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24688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89C9369-CCFB-4097-8119-0DAED3D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24688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&lt;-</a:t>
            </a:r>
            <a:endParaRPr sz="14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D03AD40D-AE62-457D-95CB-9A967374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A330CD28-EBE3-47BF-8D09-88D42E36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3E2224D-1CAB-4C3A-99C7-2267A54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832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8E4D660-657D-4864-8BDB-C844D517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756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Verify Certificate</a:t>
            </a:r>
            <a:endParaRPr sz="14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A3C6805-B5E0-45EF-81B9-434668FC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Browser cek: CA terpercaya? Tidak expired? Domain cocok?</a:t>
            </a:r>
            <a:endParaRPr sz="11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2BC36E88-2002-4F5B-9AB8-2D30FB04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3832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3F76AB64-4831-4932-AA23-2C48238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33832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-&gt;</a:t>
            </a:r>
            <a:endParaRPr sz="14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7FDA8ED-925F-46F9-8DA7-7C6720B7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7B98375-78A3-48A2-B0F9-517904E2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976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818A3598-BFDB-4A35-8181-38F04CE8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976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9B121DA-B326-419D-B7C6-84E358C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5196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Exchange (ECDHE)</a:t>
            </a:r>
            <a:endParaRPr sz="14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247A5E36-F4BF-40DB-946A-09A6E4E2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Kedua pihak generate session key bersama (forward secrecy)</a:t>
            </a:r>
            <a:endParaRPr sz="11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CC98367A-D3F4-4B48-9E7D-18A1029C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976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B1CA6ED-BF6A-496C-B361-B0322EE0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976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&lt;-&gt;</a:t>
            </a:r>
            <a:endParaRPr sz="14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700AFEFC-AB2F-424F-A95C-1B2644A0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49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72FB7883-BCA5-4FFD-B708-16F99167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12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E45B3EC6-6761-4247-A596-E5477001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120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22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A699AFB4-969E-4046-AE04-0DDAE21B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636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Encrypted Tunnel Ready</a:t>
            </a:r>
            <a:endParaRPr sz="14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5F6CF51D-7B84-4F30-A578-495958D0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86400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Semua HTTP traffic setelahnya di-enkripsi pakai session key</a:t>
            </a:r>
            <a:endParaRPr sz="11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1BE5E23F-21E3-4D42-8398-393ABBBD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5212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950D05C4-19FD-448B-9CCD-447148FC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52120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&lt;-&gt;</a:t>
            </a:r>
            <a:endParaRPr sz="14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0BF9B9ED-4112-42FA-9F03-5F8CDE76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-&gt; 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client to server 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&lt;- 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to client   </a:t>
            </a:r>
            <a:r>
              <a:rPr sz="1100" b="1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&lt;-&gt; 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both   |   TLS 1.3 = 1-RTT handshake, jauh lebih cepat dari TLS 1.2 (2-RTT).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781537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6F898B-F159-4F39-A3C9-574187D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8A3AB3-436D-4911-82E5-5BC90C6B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6E7B16D-29D8-41D0-A298-F394461E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5d8cace474e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9456fc11f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7EA773B-CFB2-49A5-BDB8-4BC2C985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B113A23-79AD-46E5-BE47-8A4B1D77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Let's Encrypt + Certbot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D6208D4-0B2C-4628-8570-22178352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Sertifikat gratis untuk domain tervalidasi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0CD9DDC-8FDD-4D8A-B925-F851729D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0292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5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b9f4c1dec4e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5448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9771B9DD-7C42-44D7-80E8-05824DF5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5448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Let's Encrypt</a:t>
            </a:r>
            <a:endParaRPr sz="18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33D7B30-EE8A-4484-BCAF-322BFEB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4663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Certificate Authority (CA) non-profit yang issue certificate TLS gratis.</a:t>
            </a:r>
            <a:endParaRPr sz="1200"/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d3e69662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0175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C04A8D02-A22F-47E6-B7EB-45282622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71800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Gratis selamanya - tidak ada biaya</a:t>
            </a:r>
            <a:endParaRPr sz="1200"/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d3e69662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520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DCF860F7-EC9E-44FB-8F30-DEEB4981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74720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Auto-renew via timer/cron sesuai instalasi</a:t>
            </a:r>
            <a:endParaRPr sz="1200"/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d3e69662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023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BE351021-F726-44BB-B9C9-5520DE9F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77640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Otomatisasi penuh dengan ACME protocol</a:t>
            </a:r>
            <a:endParaRPr sz="1200"/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d3e69662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26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E67F9944-C112-4769-AD3F-288CDBFB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80560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Dipercaya browser utama</a:t>
            </a:r>
            <a:endParaRPr sz="1200"/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d3e69662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0292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F0F09317-3AF6-4382-9E45-A798C7AE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983480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Dipakai luas untuk sertifikat TLS web</a:t>
            </a:r>
            <a:endParaRPr sz="1200"/>
          </a:p>
        </p:txBody>
      </p:sp>
      <p:sp>
        <p:nvSpPr>
          <p:cNvPr id="24" name="Shape 14">
            <a:extLst xmlns:a="http://schemas.openxmlformats.org/drawingml/2006/main">
              <a:ext uri="{FF2B5EF4-FFF2-40B4-BE49-F238E27FC236}">
                <a16:creationId xmlns:a16="http://schemas.microsoft.com/office/drawing/2014/main" id="{9817489F-8086-4FE2-ABA0-082853C6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0720"/>
            <a:ext cx="50292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7179AB3E-8172-44F4-A6D3-5A5A2C0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0720"/>
            <a:ext cx="5029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Rate limit berlaku; cek dokumentasi resmi</a:t>
            </a:r>
            <a:endParaRPr sz="1100"/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F9375685-0C4D-42B0-BA04-9EBCE9B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7" name="Shape 17">
            <a:extLst xmlns:a="http://schemas.openxmlformats.org/drawingml/2006/main">
              <a:ext uri="{FF2B5EF4-FFF2-40B4-BE49-F238E27FC236}">
                <a16:creationId xmlns:a16="http://schemas.microsoft.com/office/drawing/2014/main" id="{13389C16-7275-4E8E-B31D-505B3A30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417320"/>
            <a:ext cx="5943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8" name="Shape 18">
            <a:extLst xmlns:a="http://schemas.openxmlformats.org/drawingml/2006/main">
              <a:ext uri="{FF2B5EF4-FFF2-40B4-BE49-F238E27FC236}">
                <a16:creationId xmlns:a16="http://schemas.microsoft.com/office/drawing/2014/main" id="{53FB2AC0-8BA1-4B97-A9D9-42FCE2BD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9" name="Shape 19">
            <a:extLst xmlns:a="http://schemas.openxmlformats.org/drawingml/2006/main">
              <a:ext uri="{FF2B5EF4-FFF2-40B4-BE49-F238E27FC236}">
                <a16:creationId xmlns:a16="http://schemas.microsoft.com/office/drawing/2014/main" id="{6E6BFAD2-0603-4E8C-812B-9B13F593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0" name="Shape 20">
            <a:extLst xmlns:a="http://schemas.openxmlformats.org/drawingml/2006/main">
              <a:ext uri="{FF2B5EF4-FFF2-40B4-BE49-F238E27FC236}">
                <a16:creationId xmlns:a16="http://schemas.microsoft.com/office/drawing/2014/main" id="{C91B4FA6-8D36-4A21-8C71-565734FE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C7E24FEF-EFE7-4685-913C-ADAFD8EF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certbot workflow</a:t>
            </a:r>
            <a:endParaRPr sz="900"/>
          </a:p>
        </p:txBody>
      </p:sp>
      <p:sp>
        <p:nvSpPr>
          <p:cNvPr id="32" name="Text 22">
            <a:extLst xmlns:a="http://schemas.openxmlformats.org/drawingml/2006/main">
              <a:ext uri="{FF2B5EF4-FFF2-40B4-BE49-F238E27FC236}">
                <a16:creationId xmlns:a16="http://schemas.microsoft.com/office/drawing/2014/main" id="{197D2912-11FF-4E9D-BF72-F7A5EE9C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783080"/>
            <a:ext cx="56692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Install certbot (Ubuntu)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sudo apt install -y certbot python3-certbot-nginx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Generate cert + configure Nginx otomatis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sudo certbot --nginx -d myapp.com -d www.myapp.com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Certbot membuat: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/etc/letsencrypt/live/myapp.com/fullchain.pem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/etc/letsencrypt/live/myapp.com/privkey.pem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Updated nginx config dengan ssl_certificate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Test renew (dry run)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sudo certbot renew --dry-run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Congratulations, all renewals succeeded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Auto-renew via systemd timer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systemctl status certbot.timer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active (waiting) since Mon 14:00:00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595864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F333BC-95A8-4BE2-8579-D7A51715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642F3A0-BAE0-4BB8-8086-EF048B0F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EB1A2E6-BA29-4824-A1B3-5A83B97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2227FB2-17BB-4EF0-BBD1-A7DCAB62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650636-05CF-486B-B4AC-3CDF6AE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07FFAFA-4C29-473B-89D8-0B4C212A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D3FDD52-F411-48E5-8482-47F33159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0e3e791b94d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806f96e6c4d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2BE94BA-9195-4E38-92B1-A7102DF4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09D64A3-FB72-4C92-AC25-124F129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SSH Tunneling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Port Forwarding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FBBB939-A742-461A-89EA-5CD2A568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CCEBD2D-0107-4569-A2D6-7371720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Akses service di server cloud lewat tunnel - tanpa expose port public.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588539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12D70E-2A01-4309-A71F-84CE5553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9F6ACB-ED42-4891-A5EE-11020B88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B2CEB9-7FD5-40E0-B440-0B294CF3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b86220fab4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4fdae00024b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C6CFDEA-8F0D-447D-985A-1BDACA6C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54B42CC-6193-4869-8F30-CBFFCF22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SSH Port Forwarding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3A48B49-ABA6-4379-96EA-A2AA68B4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mode tunneling untuk akses service di belakang firewall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C82B10D-E4D3-4FC8-95FF-92070F5D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A64D2DF-9985-4AAD-8F75-51413256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4630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579679C-0514-4DD7-9CA9-0864EDF6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-L</a:t>
            </a:r>
            <a:endParaRPr sz="2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7DD6D97-0913-47E0-BCA2-90FB25FB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99B6E72-417C-4A67-9BCF-7161EF81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0876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Akses port di REMOTE server lewat port di LOCAL machine.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783837A-511B-4649-A9E9-D570B703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Use case: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Akses Postgres di server cloud dari laptop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8F97CF9-0C31-4F87-8532-E2A10229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7744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Cara kerja: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port 5432 di laptop, forward ke localhost:5432 di vm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F26F160-9A11-43AE-BE11-15E1E1F0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783080"/>
            <a:ext cx="4389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A8B8424-8B72-414C-95E5-BAB635CC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2024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ssh -L 5432:localhost:5432 budi@vm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A540AC8-FEA8-412B-A68B-A8F94FCA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D7B7836-4B9E-4990-9FC2-8A4637DC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4630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DFB9134-1D69-4769-B3C9-611879A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468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-R</a:t>
            </a:r>
            <a:endParaRPr sz="28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3A78B63-8095-4A7A-80E9-3C0C6995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332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REMOTE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7FF086E1-7EEC-422D-B9FE-17B3DF0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0896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Expose port di LOCAL machine lewat port di REMOTE server.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D2E0E0D-9D64-498E-97ED-A3DE64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1188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Use case: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Share dev server lokal ke teman / public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73F0CB9-096C-41F3-BABB-60E9A4F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7764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Cara kerja: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port 8080 di vm, forward ke localhost:3000 di laptop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D6DC5EDD-AC61-4357-91F1-2123E950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383280"/>
            <a:ext cx="4389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677DC584-5998-4301-869F-1711EAA0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044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ssh -R 8080:localhost:3000 budi@vm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0329262-BCE8-45ED-96F2-D8FA469C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1124712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DA430D33-960F-4F5C-994A-95B3BF6B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14630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36F4D97-50FC-454F-ADA9-42E160C9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1463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-D</a:t>
            </a:r>
            <a:endParaRPr sz="28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1B254171-5358-4D45-A44B-116EC955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DYNAMIC (SOCKS)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41DE0A0E-E77F-49C6-B547-361A8A15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0916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Bikin SOCKS proxy lokal yang route lewat SSH tunnel.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EE822D9A-FFDB-4433-9E70-2570095F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1208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Use case: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VPN-like browsing via server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9F005CAA-400E-4FE9-A965-B7E4B0D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77840"/>
            <a:ext cx="5029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Cara kerja: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SOCKS proxy di laptop port 1080, route via vm</a:t>
            </a:r>
            <a:endParaRPr sz="10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A559B91-F2D2-491F-9DE5-7140525B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983480"/>
            <a:ext cx="4389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BF7B656-D77C-4D18-82A8-B5528CDD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2064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ssh -D 1080 budi@vm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3188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36E921-B183-4F17-B280-C9C7AEAA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80D828-BDA7-4136-A944-2671B328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3F9BE0-CB99-4C8E-81AD-4FF438AB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e3645254d4a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ac7dcec0743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109814D-3D46-4B7A-9C5B-EA546BFD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12EFF1D-C7E4-4B21-93A1-53CA9A23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Praktis: Akses Postgres di VM via SSH Tunnel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AA2F5A1-F6E5-404B-A2D1-08070ED9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Use case sehari-hari untuk dev work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613BC16-AB31-4B31-BBDB-6EC03E8D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2EC20FB-345B-4B1C-8F76-40A17AC6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4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c4c9067b442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200" y="201168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E92D341E-57B2-4F6B-AFD8-F3A887D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LAPTOP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CC40410-A274-46A1-A01F-981CD1F8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localhost:5432</a:t>
            </a:r>
            <a:endParaRPr sz="10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BD45DBAB-419B-4C88-8101-B10A1B05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8880"/>
            <a:ext cx="13716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2B01E43-6FDC-47B1-98F7-126071AC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888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SSH :22</a:t>
            </a:r>
            <a:endParaRPr sz="10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128509E5-CF70-4696-9093-4BA8AA3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28800"/>
            <a:ext cx="22860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5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637f0cd8c46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201168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867996A6-DDDC-4921-9F9D-50337ED0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9260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VM CLOUD</a:t>
            </a:r>
            <a:endParaRPr sz="13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37CE977B-05E8-4753-B548-4B42BEAC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2918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ssh server</a:t>
            </a:r>
            <a:endParaRPr sz="10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6AF72756-2F29-4D9C-97A9-E2626BBC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468880"/>
            <a:ext cx="1371600" cy="36576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45DE9C0-65BB-4D5E-9D26-7F5191B9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46888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localhost</a:t>
            </a:r>
            <a:endParaRPr sz="10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1A9D447F-A528-4E95-85B1-CF32ABDD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828800"/>
            <a:ext cx="22860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6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637f0cd8c46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6920" y="201168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5866AEDA-19B8-4259-8570-E156633E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9260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</a:t>
            </a:r>
            <a:endParaRPr sz="1300"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66A36E99-7134-4AF7-A1AB-5C846B69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29184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FED7AA"/>
                </a:solidFill>
                <a:latin typeface="Consolas"/>
                <a:ea typeface="Consolas"/>
                <a:cs typeface="Consolas"/>
              </a:rPr>
              <a:t>:5432 (private)</a:t>
            </a:r>
            <a:endParaRPr sz="10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FB6FBE30-87F8-4F18-9D8E-778A2DDE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112471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BD3B2709-7C8E-4150-89A6-1BFDAB47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CECAC152-0317-4BC0-B19C-0DCCF742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599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C6C0AF87-1EAC-4E22-80EF-3E0B0CF5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99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1C53CD28-6678-4A8D-B54A-F2DBE6E1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599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9D3F87AE-C905-440D-95AB-083FD340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7764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ssh tunnel workflow</a:t>
            </a:r>
            <a:endParaRPr sz="900"/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30CA36E7-4C3C-4E4C-89EB-C4254707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43400"/>
            <a:ext cx="10972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Buka tunnel di terminal pertama (biarkan jalan)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ssh -L 5432:localhost:5432 budi@cloud-vm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Di terminal kedua / GUI (DBeaver, psql), connect ke: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psql -h localhost -p 5432 -U postgres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psql (15.5)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Type "help" for help.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postgres=#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 version();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Background mode (-f -N -T)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ssh -fNT -L 5432:localhost:5432 budi@cloud-vm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56058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A6BA93-EEB9-4C8B-8660-7C3C48C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733E81-09BF-45E9-A9C9-95C01269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80C4F0-EDC4-4813-9904-E936489B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5c7b782f947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698fe99ca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580D49F-DE99-4A0B-A5F2-FEF8DE68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561C5A2-ED1D-4B41-854E-486B842D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Networking &amp; Web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2565E2B-6BCC-4C51-A06D-97271FFE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di samping laptop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C401394-B4DD-4B4B-B75E-C062243E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E01709D-6BD6-4ED7-8D0B-5462AFD1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330C166-9673-46CF-8728-EABE6031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Diagnose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BD0BCA4-52D5-4EE9-93C7-9CFAEFA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ping -c 3 host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traceroute host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ss -tulpn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curl -I url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netstat -an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dig host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233021B-4937-48E2-85FA-228A1DDD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B576B7-968F-4884-8D9F-A2E794D1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B3C54B1-0989-48FD-AD23-380C4869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D9EA3DD0-F92F-428C-9E19-C8FE5456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GET /path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POST + body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Status 2xx OK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Status 4xx client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Status 5xx server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Content-Type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557B26C-EFBF-44D3-BC28-575EDC5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F91FC7D-7351-433F-8D70-CD70D17D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1611799-2830-4008-8704-316C3954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DNS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E36482D-3519-44FF-B7A6-FE6F15CA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dig host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dig host +short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dig host MX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dig +trace host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 = IPv4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CNAME = alias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CC343E6-8ED7-4118-997A-8E64A3FF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855EA4C-9645-4DA9-950E-2A88E453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BA73343-74EF-4638-BB87-4315F992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Nginx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65E1FCA-C6E6-4F9F-BD25-FB01A7BD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nginx -t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systemctl reload nginx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/etc/nginx/sites-*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proxy_pass http://...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listen 443 ssl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/var/log/nginx/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E3F3C898-B766-4E32-A4DB-126C0A01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DB5A87BF-AD6A-476A-9895-7FD0B6FC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B98DD49-5230-48D3-9849-A68A5BF4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TLS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3FF1EDF3-53E0-47B3-9148-AD0E78B5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certbot --nginx -d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certbot renew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openssl s_client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TLS 1.3 1-RTT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ECDHE forward secret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Let's Encrypt free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A8A22178-90AC-4B7D-909D-FB9528A7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8B6C78C7-5CE3-4923-AFE3-A6DC348B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9575855-7542-4BFD-891C-FDEEACB6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SSH Tunnel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375CDD1F-02B3-4358-9372-348E44AD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ssh -L local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ssh -R remote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ssh -D 1080 SOCKS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ssh -fNT bg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~/.ssh/config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ssh-copy-id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F04BF550-1434-4FCC-8261-433F8A3A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42F6FD1-0111-4A53-BAA3-00148EA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68258CF1-2D12-47D0-8D7E-C882004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Ports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E6AC33AC-31DD-4815-89BB-FAEE8501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22 SSH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53 DNS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80 HTTP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443 HTTPS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5432 Postgres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3000 Dev</a:t>
            </a:r>
            <a:endParaRPr sz="11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D88FACF-546E-40E4-AF85-6CB042D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9733AFDE-DF0D-4945-9F27-A47204B3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006ACEDD-8B44-4412-A236-9290BBBE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API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39584366-4C97-40C3-8B6E-13A4AE64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curl -X POST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-H 'auth: ...'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-d 'body'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-v verbose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| jq parse JSON</a:t>
            </a:r>
            <a:endParaRPr sz="11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-o save file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981682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05FECB-F889-40CD-821A-2CB68DE4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A14E74-4FAB-49AF-8654-66B2FBF8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5FAAB5-6046-4EC0-BB25-F88556D0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f9b95fd644b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f72f3f2ba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6158D9C-3C99-401D-B5F9-F7E494CD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FB51E93-57F0-4E25-8516-1C108A82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Pertemuan 4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77E31C5-9F0D-451D-B815-F312478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Virtualisasi &amp; Containerization minggu depan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D92CB05-9C16-46D2-BFB0-31651135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Takeaways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6D34881-37E0-490D-A494-E60A19C0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E3FB535-580C-4DFE-B600-87F32729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CDDD70B-45FD-44DE-B49E-B0B8DF51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TCP/IP 4-layer + port = fondasi semua komunikasi</a:t>
            </a:r>
            <a:endParaRPr sz="11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03D7FDE-5DCF-4249-BA24-66B98E86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20DA740-2FB8-43EA-A0EC-54D67876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2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9E651F1-B13F-4D36-A538-6999B628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74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HTTP: methods (GET/POST/PUT/DELETE) + status (200, 404, 500)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D88AA77-814E-4A89-BC48-19B993CD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9873208-1614-45FC-83ED-C47A3B24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BE84F63-B214-4A8F-B60E-440857F8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036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DNS: A, CNAME, MX, TXT - terjemahkan domain ke IP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6439C2A-440C-4AEE-8DD5-9583DC65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83BBCDE-4B21-49CB-A64B-9DE50749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97F3C88-E53C-4584-89C8-DBF9C5BD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Reverse proxy (Nginx) = standar production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F9EE91-3F40-42E6-B728-BA830DE1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549713E-B740-450B-A719-3A5F6D7A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80D0868-6477-4DFA-B809-4174BD74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HTTPS wajib - Let's Encrypt + Certbot bikinnya 1 perintah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D1F957B0-0438-48D5-BD46-5441F7D0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6AAC745-0E7C-4CE2-AA16-BC2A12E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2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87FAF03-5BEE-4752-B7BE-4158DFB3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91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SSH tunneling akses service di-private tanpa expose port</a:t>
            </a:r>
            <a:endParaRPr sz="11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38573FB2-AECA-4877-8F23-05C4B808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7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7d04ff0e64f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A61C323F-E789-4389-B260-E02B102F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3 - LATIHAN SESI INI</a:t>
            </a:r>
            <a:endParaRPr sz="1100"/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664D7DBA-6B88-4314-BEC1-2E13F14E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Diagnostik DNS, HTTP, port, dan TLS</a:t>
            </a:r>
            <a:endParaRPr sz="1300"/>
          </a:p>
        </p:txBody>
      </p:sp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E3433520-2366-458B-A984-ED874F04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Jalankan stack lab jaringan di Codespaces atau Docker lokal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Bandingkan dig/nslookup dan ping/traceroute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GET/POST, status, header via curl/wget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port lokal via nc/nmap; cek sertifikat TLS</a:t>
            </a:r>
            <a:endParaRPr sz="1050"/>
          </a:p>
        </p:txBody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7E88CC21-61E3-4ADD-A846-7C8732D1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864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c9294148149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794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227DD230-0528-4AF6-9FA0-6D5E3F1D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PERTEMUAN 4</a:t>
            </a:r>
            <a:endParaRPr sz="1100"/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B0E9B0EF-0DAF-4D56-9B08-A658DCB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Virtualisasi &amp; Containerization</a:t>
            </a:r>
            <a:endParaRPr sz="1400"/>
          </a:p>
        </p:txBody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5BA3E7CB-F3DA-4631-BF01-4164702F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VM vs container, hypervisor (Type 1 vs 2), Linux namespace + cgroup, intro Docker.</a:t>
            </a:r>
            <a:endParaRPr sz="1100"/>
          </a:p>
        </p:txBody>
      </p:sp>
      <p:sp>
        <p:nvSpPr>
          <p:cNvPr id="39" name="Shape 33">
            <a:extLst xmlns:a="http://schemas.openxmlformats.org/drawingml/2006/main">
              <a:ext uri="{FF2B5EF4-FFF2-40B4-BE49-F238E27FC236}">
                <a16:creationId xmlns:a16="http://schemas.microsoft.com/office/drawing/2014/main" id="{53BDC278-429B-4E6E-B4BD-E401240C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32e9843cd41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5780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FD5789CD-914A-48AD-B83B-C85C3251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5EAD0590-12EE-455D-8DAE-D2EEB5AE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 sebelum lanjut ke Container</a:t>
            </a:r>
            <a:endParaRPr sz="1200"/>
          </a:p>
        </p:txBody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49D5A3B2-9C74-453A-B384-AF43374C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D3AE256A-0F59-48CE-9BE6-00E2464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LO2 (Apply)</a:t>
            </a:r>
            <a:r>
              <a:rPr sz="1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  +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LO1 (Analyze)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0508506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11FE6B3-D7DA-4F8C-0ED6-4BA40B65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7333FB-49AB-BE4A-F9F5-1BCA7707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Diagnostik jaringan untuk aplikasi cloud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746A9D8-044E-2249-0128-E86E2FE1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Hubungkan konsep OSI/TCP-IP dengan hasil perintah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AE6E1A-8C51-4498-9919-AB6A1B1B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Alamat IPv4/IPv6 dan DNS menentukan tujuan koneksi; port menentukan layanan.</a:t>
            </a:r>
            <a:endParaRPr>
              <a:solidFill>
                <a:srgbClr val="10191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0C59E7-FA37-0CBC-E3F6-269281FF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REST memakai resource, method, status, dan header HTTP(S).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90119B-F16D-D025-1592-09DEC3A6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CDN menyajikan konten dekat pengguna; TLS memverifikasi identitas server.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904C20F-995D-647E-1C30-1CEA7E53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Bandingkan dig, ping, curl, nmap lokal, dan openssl di labs/03.</a:t>
            </a:r>
            <a:endParaRPr>
              <a:solidFill>
                <a:srgbClr val="10191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680AD55-D60F-C8CA-F6BA-15D4CE3C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Catat host, port, status, sertifikat, serta penyebab tiap kegagalan.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5A43F68-EE37-2419-A18E-1A8AF63D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Materi praktik: 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SeedFlora/meet3CloudService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  |  Sumber: RPS COMP6991031</a:t>
            </a:r>
          </a:p>
        </p:txBody>
      </p:sp>
    </p:spTree>
    <p:extLst>
      <p:ext uri="{BB962C8B-B14F-4D97-AF65-F5344CB8AC3E}">
        <p14:creationId xmlns:p14="http://schemas.microsoft.com/office/powerpoint/2010/main" val="17320022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0F236-236D-45B0-B3FF-2A4924B9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05B61-65F0-435D-93CC-7818F4BE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04B91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4B91"/>
                </a:solidFill>
                <a:latin typeface="Calibri"/>
                <a:ea typeface="Calibri"/>
                <a:cs typeface="Calibri"/>
              </a:rPr>
              <a:t>Aplikasi tiga tier dalam Codespaces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61E8F-4F20-499D-A161-A71B2D33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Browser, reverse proxy nginx, API Node.js, dan PostgreSQL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50DBD-008F-430C-AA67-111124E9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praktikum: github.com/SeedFlora/meet3CloudService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040B0-5600-4FFD-9157-21CF25EF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7d2e9a4474533"/>
          <a:stretch xmlns:a="http://schemas.openxmlformats.org/drawingml/2006/main"/>
        </p:blipFill>
        <p:spPr>
          <a:xfrm xmlns:a="http://schemas.openxmlformats.org/drawingml/2006/main">
            <a:off x="457643" y="1952625"/>
            <a:ext cx="11238614" cy="2876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7147E-4FAA-4057-85D3-00F5A0C3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Klik: Ports &gt; 8080 &gt; Open in Browser; lalu Periksa ulang.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EB381-1CBE-41D3-A2C5-596F584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Tujuan: amati web, API, dan database. Cara kerja: nginx meneruskan /api/health ke Node.js.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65986-D808-4FCE-97FC-6A3B82E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web, api, db berjalan; akses luar Codespaces memakai HTTPS menuju nginx port 80.</a:t>
            </a:r>
          </a:p>
        </p:txBody>
      </p:sp>
    </p:spTree>
    <p:extLst>
      <p:ext uri="{BB962C8B-B14F-4D97-AF65-F5344CB8AC3E}">
        <p14:creationId xmlns:p14="http://schemas.microsoft.com/office/powerpoint/2010/main" val="2571902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0A3EE-577A-4EBF-A782-AE7E20C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F70AB-EFFC-4DBA-B5D7-27DC5319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04B91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4B91"/>
                </a:solidFill>
                <a:latin typeface="Calibri"/>
                <a:ea typeface="Calibri"/>
                <a:cs typeface="Calibri"/>
              </a:rPr>
              <a:t>Bukti layanan dan konektivitas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870E5-6DB0-4570-A843-428E595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Status Compose dan smoke test dari Codespaces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AAEAA-6E44-4207-AF07-6D67E3F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praktikum: github.com/SeedFlora/meet3CloudService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ABBA1-7349-4596-86AB-EFD0EC54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8111a99184a62"/>
          <a:stretch xmlns:a="http://schemas.openxmlformats.org/drawingml/2006/main"/>
        </p:blipFill>
        <p:spPr>
          <a:xfrm xmlns:a="http://schemas.openxmlformats.org/drawingml/2006/main">
            <a:off x="457200" y="2030337"/>
            <a:ext cx="11239500" cy="231155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DC140-5B11-468C-A4F4-34B0F63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867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Perintah gambar: docker compose ps --format "{{.Service}} {{.State}} {{.Health}}" &amp;&amp; bash tests/smoke.sh | tail -n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9EAE8-279C-4242-868B-67DD7E9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Tujuan/cara: status empat service dibaca dahulu; &amp;&amp; lanjut bila sukses, tail -n 4 meringkas smoke.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7370C-BB18-4362-9A0E-296D4C25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web/api/db healthy, toolbox running, dan smoke 12 PASS, 0 FAIL.</a:t>
            </a:r>
          </a:p>
        </p:txBody>
      </p:sp>
    </p:spTree>
    <p:extLst>
      <p:ext uri="{BB962C8B-B14F-4D97-AF65-F5344CB8AC3E}">
        <p14:creationId xmlns:p14="http://schemas.microsoft.com/office/powerpoint/2010/main" val="2716743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A33F5-0660-4E21-B0E3-05459F46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C9CE9-8750-4606-A273-0DADB916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04B91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4B91"/>
                </a:solidFill>
                <a:latin typeface="Calibri"/>
                <a:ea typeface="Calibri"/>
                <a:cs typeface="Calibri"/>
              </a:rPr>
              <a:t>Segmentasi port pada target akhir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E6B7B-1204-4534-9649-08324DE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API dan database tetap sehat di jaringan internal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B4C76-3666-4A37-9494-7E1A4CA0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praktikum: github.com/SeedFlora/meet3CloudService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D0F67-14E7-4FFF-8606-B38A9823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64455160347d7"/>
          <a:stretch xmlns:a="http://schemas.openxmlformats.org/drawingml/2006/main"/>
        </p:blipFill>
        <p:spPr>
          <a:xfrm xmlns:a="http://schemas.openxmlformats.org/drawingml/2006/main">
            <a:off x="457200" y="2082006"/>
            <a:ext cx="11239500" cy="23415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F4C69-DC8F-45A8-8A66-025A8CC5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Perintah: docker compose ps --format 'table {{.Service}}\t{{.Status}}\t{{.Ports}}'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76F02-D788-4626-B0C4-A3FD830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Tujuan/cara: baca mapping host dari Compose dan bedakan dengan port internal service.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99440-ED38-4BB2-9B58-CF43B13A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hanya web pada 8080/8443; API dan DB masih healthy tanpa port host.</a:t>
            </a:r>
          </a:p>
        </p:txBody>
      </p:sp>
    </p:spTree>
    <p:extLst>
      <p:ext uri="{BB962C8B-B14F-4D97-AF65-F5344CB8AC3E}">
        <p14:creationId xmlns:p14="http://schemas.microsoft.com/office/powerpoint/2010/main" val="4520883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7E1B1-3478-45A5-8110-39CE521E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8B56B-3E9D-47DD-A7ED-6C3F2125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004B91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04B91"/>
                </a:solidFill>
                <a:latin typeface="Calibri"/>
                <a:ea typeface="Calibri"/>
                <a:cs typeface="Calibri"/>
              </a:rPr>
              <a:t>HTTPS pada aplikasi tiga 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08B84-665D-4A06-917E-293F969B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Sertifikat lab, reverse proxy, dan status layanan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C05BA-D698-4603-A785-FCD326C6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praktikum: github.com/SeedFlora/meet3CloudService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5C359-5FBB-4711-8AE4-D5437D17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32237f87a4247"/>
          <a:stretch xmlns:a="http://schemas.openxmlformats.org/drawingml/2006/main"/>
        </p:blipFill>
        <p:spPr>
          <a:xfrm xmlns:a="http://schemas.openxmlformats.org/drawingml/2006/main">
            <a:off x="1249680" y="1847850"/>
            <a:ext cx="9692640" cy="3533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79BE6-5D16-43D7-A530-0780C898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Perintah: docker compose exec toolbox curl --cacert /lab/web/certs/lab.crt https://web/api/health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169C5-4CE4-402A-9DBD-2FF80301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Tujuan/cara: curl memverifikasi sertifikat self-signed sebelum meminta /api/health dari nginx.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00CE6-ED32-4562-8D2F-2BAE2C7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123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HTTP 200 dan badge HTTPS; 8443 diteruskan ke nginx 443.</a:t>
            </a:r>
          </a:p>
        </p:txBody>
      </p:sp>
    </p:spTree>
    <p:extLst>
      <p:ext uri="{BB962C8B-B14F-4D97-AF65-F5344CB8AC3E}">
        <p14:creationId xmlns:p14="http://schemas.microsoft.com/office/powerpoint/2010/main" val="22634574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D5146D15-D281-4868-B0E7-760294A4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</a:p>
        </p:txBody>
      </p:sp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B12A57D4-3610-4AA9-A5D3-7DA1CD3E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2A79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72A79"/>
                </a:solidFill>
                <a:latin typeface="Calibri"/>
                <a:ea typeface="Calibri"/>
                <a:cs typeface="Calibri"/>
              </a:rPr>
              <a:t>HTTP 503 memerlukan diagnosis per lapisan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1142D64-3577-4472-B12B-7B395C8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Kasus kerja: halaman terbuka, namun data gagal dimuat saat database terputus.</a:t>
            </a:r>
          </a:p>
        </p:txBody>
      </p:sp>
      <p:sp>
        <p:nvSpPr>
          <p:cNvPr id="4" name="orange-rule">
            <a:extLst xmlns:a="http://schemas.openxmlformats.org/drawingml/2006/main">
              <a:ext uri="{FF2B5EF4-FFF2-40B4-BE49-F238E27FC236}">
                <a16:creationId xmlns:a16="http://schemas.microsoft.com/office/drawing/2014/main" id="{2C4067FA-D9DE-47CD-8244-78AB6750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1B"/>
          </a:solidFill>
          <a:ln xmlns:a="http://schemas.openxmlformats.org/drawingml/2006/main" w="0">
            <a:noFill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6735C17-89B0-4E09-B956-C70B0284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COMP6991031  |  Cloud Services</a:t>
            </a:r>
          </a:p>
        </p:txBody>
      </p:sp>
      <p:sp>
        <p:nvSpPr>
          <p:cNvPr id="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9FFDABA-C762-4878-A8B4-8C43980F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2cf30d7644c19"/>
          <a:stretch xmlns:a="http://schemas.openxmlformats.org/drawingml/2006/main"/>
        </p:blipFill>
        <p:spPr>
          <a:xfrm xmlns:a="http://schemas.openxmlformats.org/drawingml/2006/main">
            <a:off x="1014413" y="1952625"/>
            <a:ext cx="6096000" cy="3810000"/>
          </a:xfrm>
          <a:prstGeom xmlns:a="http://schemas.openxmlformats.org/drawingml/2006/main" prst="rect">
            <a:avLst/>
          </a:prstGeom>
        </p:spPr>
      </p:pic>
      <p:sp>
        <p:nvSpPr>
          <p:cNvPr id="8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3452CBE7-C113-4119-91F6-49665C01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Lab 03: web dan API hidup, tetapi database tidak terjangkau sehingga catatan memberi 503.</a:t>
            </a:r>
          </a:p>
        </p:txBody>
      </p:sp>
      <p:sp>
        <p:nvSpPr>
          <p:cNvPr id="9" name="lab-link-label">
            <a:extLst xmlns:a="http://schemas.openxmlformats.org/drawingml/2006/main">
              <a:ext uri="{FF2B5EF4-FFF2-40B4-BE49-F238E27FC236}">
                <a16:creationId xmlns:a16="http://schemas.microsoft.com/office/drawing/2014/main" id="{05C04DA2-C46E-4EE9-82C2-A8A2DFA1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52625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701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701B"/>
                </a:solidFill>
                <a:latin typeface="Calibri"/>
                <a:ea typeface="Calibri"/>
                <a:cs typeface="Calibri"/>
              </a:rPr>
              <a:t>LAB 03</a:t>
            </a:r>
          </a:p>
        </p:txBody>
      </p:sp>
      <p:sp>
        <p:nvSpPr>
          <p:cNvPr id="10" name="bridge-points">
            <a:extLst xmlns:a="http://schemas.openxmlformats.org/drawingml/2006/main">
              <a:ext uri="{FF2B5EF4-FFF2-40B4-BE49-F238E27FC236}">
                <a16:creationId xmlns:a16="http://schemas.microsoft.com/office/drawing/2014/main" id="{01BAB3AC-BADB-4DD3-9DE0-91CB785B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43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3243B"/>
                </a:solidFill>
                <a:latin typeface="Calibri"/>
                <a:ea typeface="Calibri"/>
                <a:cs typeface="Calibri"/>
              </a:rPr>
              <a:t>1. DNS menemukan alamat service. TCP menghubungkan host dan port. HTTP menyatakan hasil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3243B"/>
                </a:solidFill>
                <a:latin typeface="Calibri"/>
                <a:ea typeface="Calibri"/>
                <a:cs typeface="Calibri"/>
              </a:rPr>
              <a:t>2. TLS melindungi koneksi sebelum HTTP dikirim. Reverse proxy meneruskan request ke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43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3243B"/>
                </a:solidFill>
                <a:latin typeface="Calibri"/>
                <a:ea typeface="Calibri"/>
                <a:cs typeface="Calibri"/>
              </a:rPr>
              <a:t>3. Di Lab 03, dig, curl, nc, dan openssl menunjukkan lapisan yang berhasil atau gagal.</a:t>
            </a:r>
          </a:p>
        </p:txBody>
      </p:sp>
      <p:sp>
        <p:nvSpPr>
          <p:cNvPr id="11" name="command-label">
            <a:extLst xmlns:a="http://schemas.openxmlformats.org/drawingml/2006/main">
              <a:ext uri="{FF2B5EF4-FFF2-40B4-BE49-F238E27FC236}">
                <a16:creationId xmlns:a16="http://schemas.microsoft.com/office/drawing/2014/main" id="{8B40ACBF-DD48-4B51-8431-311FDA32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8637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2A7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72A79"/>
                </a:solidFill>
                <a:latin typeface="Calibri"/>
                <a:ea typeface="Calibri"/>
                <a:cs typeface="Calibri"/>
              </a:rPr>
              <a:t>Perintah pertama yang akan dicoba</a:t>
            </a:r>
          </a:p>
        </p:txBody>
      </p:sp>
      <p:sp>
        <p:nvSpPr>
          <p:cNvPr id="12" name="bridge-command">
            <a:extLst xmlns:a="http://schemas.openxmlformats.org/drawingml/2006/main">
              <a:ext uri="{FF2B5EF4-FFF2-40B4-BE49-F238E27FC236}">
                <a16:creationId xmlns:a16="http://schemas.microsoft.com/office/drawing/2014/main" id="{18F5001D-3783-4628-9643-F1A03A6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591175"/>
            <a:ext cx="3476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31D5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31D5B"/>
                </a:solidFill>
                <a:latin typeface="Calibri"/>
                <a:ea typeface="Calibri"/>
                <a:cs typeface="Calibri"/>
              </a:rPr>
              <a:t>curl -i http://web/api/health</a:t>
            </a:r>
          </a:p>
        </p:txBody>
      </p:sp>
    </p:spTree>
    <p:extLst>
      <p:ext uri="{BB962C8B-B14F-4D97-AF65-F5344CB8AC3E}">
        <p14:creationId xmlns:p14="http://schemas.microsoft.com/office/powerpoint/2010/main" val="21240412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DA8FD5DA-C7DE-468D-B31B-B7BC9922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BINUS UNIVERSITY  |  Cloud Services  |  Pertemuan 3</a:t>
            </a:r>
          </a:p>
        </p:txBody>
      </p:sp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722080AD-2869-4ABD-8FD1-50AF3DCD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2A79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72A79"/>
                </a:solidFill>
                <a:latin typeface="Calibri"/>
                <a:ea typeface="Calibri"/>
                <a:cs typeface="Calibri"/>
              </a:rPr>
              <a:t>Sebelum Lab 03: telusuri satu request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57B8ADA-C951-4F0B-947F-A512B34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Jika halaman tampil tetapi data 503, lapisan mana yang perlu diperiksa dulu?</a:t>
            </a:r>
          </a:p>
        </p:txBody>
      </p:sp>
      <p:sp>
        <p:nvSpPr>
          <p:cNvPr id="4" name="orange-rule">
            <a:extLst xmlns:a="http://schemas.openxmlformats.org/drawingml/2006/main">
              <a:ext uri="{FF2B5EF4-FFF2-40B4-BE49-F238E27FC236}">
                <a16:creationId xmlns:a16="http://schemas.microsoft.com/office/drawing/2014/main" id="{A45F0F87-A65A-44D9-AC47-C1ED3CA3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01B"/>
          </a:solidFill>
          <a:ln xmlns:a="http://schemas.openxmlformats.org/drawingml/2006/main" w="0">
            <a:noFill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30635A-E827-4411-8714-72CB89E0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COMP6991031  |  Cloud Services</a:t>
            </a:r>
          </a:p>
        </p:txBody>
      </p:sp>
      <p:sp>
        <p:nvSpPr>
          <p:cNvPr id="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5650CDA-A836-47A3-B1B4-05AA4623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28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2728A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7" name="watch-label">
            <a:extLst xmlns:a="http://schemas.openxmlformats.org/drawingml/2006/main">
              <a:ext uri="{FF2B5EF4-FFF2-40B4-BE49-F238E27FC236}">
                <a16:creationId xmlns:a16="http://schemas.microsoft.com/office/drawing/2014/main" id="{645AECD2-7A55-4023-8904-22DD261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1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701B"/>
                </a:solidFill>
                <a:latin typeface="Calibri"/>
                <a:ea typeface="Calibri"/>
                <a:cs typeface="Calibri"/>
              </a:rPr>
              <a:t>TONTON</a:t>
            </a:r>
          </a:p>
        </p:txBody>
      </p:sp>
      <p:sp>
        <p:nvSpPr>
          <p:cNvPr id="8" name="video-link">
            <a:extLst xmlns:a="http://schemas.openxmlformats.org/drawingml/2006/main">
              <a:ext uri="{FF2B5EF4-FFF2-40B4-BE49-F238E27FC236}">
                <a16:creationId xmlns:a16="http://schemas.microsoft.com/office/drawing/2014/main" id="{7623ED73-836C-4B71-BA41-EE29AB2A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77D4"/>
                </a:solidFill>
                <a:latin typeface="Calibri"/>
                <a:ea typeface="Calibri"/>
                <a:cs typeface="Calibri"/>
              </a:defRPr>
            </a:pPr>
            <a:r>
              <a:rPr sz="1725" u="sng">
                <a:solidFill>
                  <a:srgbClr val="1477D4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a38ae7b42f84d61"/>
              </a:rPr>
              <a:t>Cloudflare: The Online Address Book (video DNS)</a:t>
            </a:r>
          </a:p>
        </p:txBody>
      </p:sp>
      <p:sp>
        <p:nvSpPr>
          <p:cNvPr id="9" name="video-why">
            <a:extLst xmlns:a="http://schemas.openxmlformats.org/drawingml/2006/main">
              <a:ext uri="{FF2B5EF4-FFF2-40B4-BE49-F238E27FC236}">
                <a16:creationId xmlns:a16="http://schemas.microsoft.com/office/drawing/2014/main" id="{FDF625D0-250F-4098-BEF5-DBE36D4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43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3243B"/>
                </a:solidFill>
                <a:latin typeface="Calibri"/>
                <a:ea typeface="Calibri"/>
                <a:cs typeface="Calibri"/>
              </a:rPr>
              <a:t>Catat kapan nama host menjadi alamat IP; uji hasilnya dengan dig dan curl.</a:t>
            </a:r>
          </a:p>
        </p:txBody>
      </p:sp>
      <p:sp>
        <p:nvSpPr>
          <p:cNvPr id="10" name="read-label">
            <a:extLst xmlns:a="http://schemas.openxmlformats.org/drawingml/2006/main">
              <a:ext uri="{FF2B5EF4-FFF2-40B4-BE49-F238E27FC236}">
                <a16:creationId xmlns:a16="http://schemas.microsoft.com/office/drawing/2014/main" id="{48ADB2AC-BD04-406F-A371-FDE41AE4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1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701B"/>
                </a:solidFill>
                <a:latin typeface="Calibri"/>
                <a:ea typeface="Calibri"/>
                <a:cs typeface="Calibri"/>
              </a:rPr>
              <a:t>BACA</a:t>
            </a:r>
          </a:p>
        </p:txBody>
      </p:sp>
      <p:sp>
        <p:nvSpPr>
          <p:cNvPr id="11" name="article-link">
            <a:extLst xmlns:a="http://schemas.openxmlformats.org/drawingml/2006/main">
              <a:ext uri="{FF2B5EF4-FFF2-40B4-BE49-F238E27FC236}">
                <a16:creationId xmlns:a16="http://schemas.microsoft.com/office/drawing/2014/main" id="{12BDE31D-06B2-4714-9D13-6FA1CFAE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77D4"/>
                </a:solidFill>
                <a:latin typeface="Calibri"/>
                <a:ea typeface="Calibri"/>
                <a:cs typeface="Calibri"/>
              </a:defRPr>
            </a:pPr>
            <a:r>
              <a:rPr sz="1725" u="sng">
                <a:solidFill>
                  <a:srgbClr val="1477D4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cbfefc1f4b142fe"/>
              </a:rPr>
              <a:t>Cloudflare: What is DNS? (artikel)</a:t>
            </a:r>
          </a:p>
        </p:txBody>
      </p:sp>
      <p:sp>
        <p:nvSpPr>
          <p:cNvPr id="12" name="extra-link">
            <a:extLst xmlns:a="http://schemas.openxmlformats.org/drawingml/2006/main">
              <a:ext uri="{FF2B5EF4-FFF2-40B4-BE49-F238E27FC236}">
                <a16:creationId xmlns:a16="http://schemas.microsoft.com/office/drawing/2014/main" id="{62A38BDA-999F-4019-A3E7-D13D7C60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7D4"/>
                </a:solidFill>
                <a:latin typeface="Calibri"/>
                <a:ea typeface="Calibri"/>
                <a:cs typeface="Calibri"/>
              </a:defRPr>
            </a:pPr>
            <a:r>
              <a:rPr sz="1500" u="sng">
                <a:solidFill>
                  <a:srgbClr val="1477D4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bba763250e84524"/>
              </a:rPr>
              <a:t>curl: HTTP scripting dan inspeksi respons</a:t>
            </a:r>
          </a:p>
        </p:txBody>
      </p:sp>
      <p:sp>
        <p:nvSpPr>
          <p:cNvPr id="13" name="extra2-link">
            <a:extLst xmlns:a="http://schemas.openxmlformats.org/drawingml/2006/main">
              <a:ext uri="{FF2B5EF4-FFF2-40B4-BE49-F238E27FC236}">
                <a16:creationId xmlns:a16="http://schemas.microsoft.com/office/drawing/2014/main" id="{6333662B-0BCB-42F9-8746-1C9FE7AE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77D4"/>
                </a:solidFill>
                <a:latin typeface="Calibri"/>
                <a:ea typeface="Calibri"/>
                <a:cs typeface="Calibri"/>
              </a:defRPr>
            </a:pPr>
            <a:r>
              <a:rPr sz="1500" u="sng">
                <a:solidFill>
                  <a:srgbClr val="1477D4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2202a50aa5f404c"/>
              </a:rPr>
              <a:t>Cloudflare: cara kerja TLS/SSL</a:t>
            </a:r>
          </a:p>
        </p:txBody>
      </p:sp>
      <p:sp>
        <p:nvSpPr>
          <p:cNvPr id="14" name="try-label">
            <a:extLst xmlns:a="http://schemas.openxmlformats.org/drawingml/2006/main">
              <a:ext uri="{FF2B5EF4-FFF2-40B4-BE49-F238E27FC236}">
                <a16:creationId xmlns:a16="http://schemas.microsoft.com/office/drawing/2014/main" id="{62979349-9DED-49BF-8529-AB051311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0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01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701B"/>
                </a:solidFill>
                <a:latin typeface="Calibri"/>
                <a:ea typeface="Calibri"/>
                <a:cs typeface="Calibri"/>
              </a:rPr>
              <a:t>COBA 5 MENIT</a:t>
            </a:r>
          </a:p>
        </p:txBody>
      </p:sp>
      <p:sp>
        <p:nvSpPr>
          <p:cNvPr id="15" name="code-lines">
            <a:extLst xmlns:a="http://schemas.openxmlformats.org/drawingml/2006/main">
              <a:ext uri="{FF2B5EF4-FFF2-40B4-BE49-F238E27FC236}">
                <a16:creationId xmlns:a16="http://schemas.microsoft.com/office/drawing/2014/main" id="{B490EC8C-A056-44EB-85F7-AA507CBA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52675"/>
            <a:ext cx="4286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31D5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31D5B"/>
                </a:solidFill>
                <a:latin typeface="Calibri"/>
                <a:ea typeface="Calibri"/>
                <a:cs typeface="Calibri"/>
              </a:rPr>
              <a:t>docker compose up -d --build --wait</a:t>
            </a:r>
          </a:p>
          <a:p xmlns:a="http://schemas.openxmlformats.org/drawingml/2006/main">
            <a:pPr>
              <a:defRPr sz="1650" b="1">
                <a:solidFill>
                  <a:srgbClr val="031D5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31D5B"/>
                </a:solidFill>
                <a:latin typeface="Calibri"/>
                <a:ea typeface="Calibri"/>
                <a:cs typeface="Calibri"/>
              </a:rPr>
              <a:t>docker compose exec toolbox bash</a:t>
            </a:r>
          </a:p>
          <a:p xmlns:a="http://schemas.openxmlformats.org/drawingml/2006/main">
            <a:pPr>
              <a:defRPr sz="1650" b="1">
                <a:solidFill>
                  <a:srgbClr val="031D5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31D5B"/>
                </a:solidFill>
                <a:latin typeface="Calibri"/>
                <a:ea typeface="Calibri"/>
                <a:cs typeface="Calibri"/>
              </a:rPr>
              <a:t>dig web; curl -i http://web/api/health</a:t>
            </a:r>
          </a:p>
        </p:txBody>
      </p:sp>
      <p:sp>
        <p:nvSpPr>
          <p:cNvPr id="16" name="code-explain">
            <a:extLst xmlns:a="http://schemas.openxmlformats.org/drawingml/2006/main">
              <a:ext uri="{FF2B5EF4-FFF2-40B4-BE49-F238E27FC236}">
                <a16:creationId xmlns:a16="http://schemas.microsoft.com/office/drawing/2014/main" id="{4AB9F6B7-3905-4944-9C73-E7B5E5B3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719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43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3243B"/>
                </a:solidFill>
                <a:latin typeface="Calibri"/>
                <a:ea typeface="Calibri"/>
                <a:cs typeface="Calibri"/>
              </a:rPr>
              <a:t>Nyalakan stack; dari toolbox cek DNS, HTTP, port, dan sertifikat TLS.</a:t>
            </a:r>
          </a:p>
        </p:txBody>
      </p:sp>
      <p:sp>
        <p:nvSpPr>
          <p:cNvPr id="17" name="repo-label">
            <a:extLst xmlns:a="http://schemas.openxmlformats.org/drawingml/2006/main">
              <a:ext uri="{FF2B5EF4-FFF2-40B4-BE49-F238E27FC236}">
                <a16:creationId xmlns:a16="http://schemas.microsoft.com/office/drawing/2014/main" id="{BEA1479F-0935-4D75-8F28-EF8E03D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435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701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701B"/>
                </a:solidFill>
                <a:latin typeface="Calibri"/>
                <a:ea typeface="Calibri"/>
                <a:cs typeface="Calibri"/>
              </a:rPr>
              <a:t>MODUL DAN KODE LAB</a:t>
            </a:r>
          </a:p>
        </p:txBody>
      </p:sp>
      <p:sp>
        <p:nvSpPr>
          <p:cNvPr id="18" name="repo-link">
            <a:extLst xmlns:a="http://schemas.openxmlformats.org/drawingml/2006/main">
              <a:ext uri="{FF2B5EF4-FFF2-40B4-BE49-F238E27FC236}">
                <a16:creationId xmlns:a16="http://schemas.microsoft.com/office/drawing/2014/main" id="{03852243-DB4D-40BB-9D64-D939DC3A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77D4"/>
                </a:solidFill>
                <a:latin typeface="Calibri"/>
                <a:ea typeface="Calibri"/>
                <a:cs typeface="Calibri"/>
              </a:defRPr>
            </a:pPr>
            <a:r>
              <a:rPr sz="1725" u="sng">
                <a:solidFill>
                  <a:srgbClr val="1477D4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3e6db0c721a48b1"/>
              </a:rPr>
              <a:t>github.com/SeedFlora/meet3CloudService</a:t>
            </a:r>
          </a:p>
        </p:txBody>
      </p:sp>
    </p:spTree>
    <p:extLst>
      <p:ext uri="{BB962C8B-B14F-4D97-AF65-F5344CB8AC3E}">
        <p14:creationId xmlns:p14="http://schemas.microsoft.com/office/powerpoint/2010/main" val="8985135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2026-10-07T19:08:38.7290000Z</dcterms:created>
  <dcterms:modified xsi:type="dcterms:W3CDTF">2026-10-07T19:08:38.7290000Z</dcterms:modified>
</coreProperties>
</file>