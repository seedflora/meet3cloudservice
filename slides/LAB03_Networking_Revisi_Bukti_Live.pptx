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daede8e18431c" /><Relationship Type="http://schemas.openxmlformats.org/officeDocument/2006/relationships/extended-properties" Target="/docProps/app.xml" Id="Rf40152e550004a91" /><Relationship Type="http://schemas.openxmlformats.org/officeDocument/2006/relationships/officeDocument" Target="/ppt/presentation.xml" Id="R3cdd38a091ec40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1c8736c2c74e71"/>
  </p:sldMasterIdLst>
  <p:notesMasterIdLst>
    <p:notesMasterId xmlns:r="http://schemas.openxmlformats.org/officeDocument/2006/relationships" r:id="R1d22a0e5abef413e"/>
  </p:notesMasterIdLst>
  <p:sldIdLst>
    <p:sldId xmlns:r="http://schemas.openxmlformats.org/officeDocument/2006/relationships" id="256" r:id="R61e52e760f79436b"/>
    <p:sldId xmlns:r="http://schemas.openxmlformats.org/officeDocument/2006/relationships" id="257" r:id="R2be2bd8d42a74345"/>
    <p:sldId xmlns:r="http://schemas.openxmlformats.org/officeDocument/2006/relationships" id="258" r:id="R756848e1dee3439a"/>
    <p:sldId xmlns:r="http://schemas.openxmlformats.org/officeDocument/2006/relationships" id="259" r:id="Rf8ab330e33134be6"/>
    <p:sldId xmlns:r="http://schemas.openxmlformats.org/officeDocument/2006/relationships" id="260" r:id="Rca74ea0a44e94006"/>
    <p:sldId xmlns:r="http://schemas.openxmlformats.org/officeDocument/2006/relationships" id="261" r:id="R8c2fbf6150f74f1d"/>
    <p:sldId xmlns:r="http://schemas.openxmlformats.org/officeDocument/2006/relationships" id="262" r:id="R010d22faa1ad402f"/>
    <p:sldId xmlns:r="http://schemas.openxmlformats.org/officeDocument/2006/relationships" id="263" r:id="Rcfb244f397f64dd7"/>
    <p:sldId xmlns:r="http://schemas.openxmlformats.org/officeDocument/2006/relationships" id="264" r:id="R834847be54a0486a"/>
    <p:sldId xmlns:r="http://schemas.openxmlformats.org/officeDocument/2006/relationships" id="265" r:id="Rf76870da718e4607"/>
    <p:sldId xmlns:r="http://schemas.openxmlformats.org/officeDocument/2006/relationships" id="266" r:id="R49f3c27bbdf8491d"/>
    <p:sldId xmlns:r="http://schemas.openxmlformats.org/officeDocument/2006/relationships" id="267" r:id="R96bf1a7e8e8a496d"/>
    <p:sldId xmlns:r="http://schemas.openxmlformats.org/officeDocument/2006/relationships" id="268" r:id="Rda00eb9a9c284a66"/>
    <p:sldId xmlns:r="http://schemas.openxmlformats.org/officeDocument/2006/relationships" id="269" r:id="Refb9cb5d344540cb"/>
    <p:sldId xmlns:r="http://schemas.openxmlformats.org/officeDocument/2006/relationships" id="270" r:id="Rb5050241cf464644"/>
    <p:sldId xmlns:r="http://schemas.openxmlformats.org/officeDocument/2006/relationships" id="271" r:id="R2410ff6a1da04cbe"/>
    <p:sldId xmlns:r="http://schemas.openxmlformats.org/officeDocument/2006/relationships" id="272" r:id="Ra149463d8a8c4900"/>
    <p:sldId xmlns:r="http://schemas.openxmlformats.org/officeDocument/2006/relationships" id="273" r:id="R202502616e1347ac"/>
    <p:sldId xmlns:r="http://schemas.openxmlformats.org/officeDocument/2006/relationships" id="274" r:id="R24570d2301b14a38"/>
    <p:sldId xmlns:r="http://schemas.openxmlformats.org/officeDocument/2006/relationships" id="275" r:id="R5845671390244ac2"/>
    <p:sldId xmlns:r="http://schemas.openxmlformats.org/officeDocument/2006/relationships" id="276" r:id="R5d673f6d9416453e"/>
    <p:sldId xmlns:r="http://schemas.openxmlformats.org/officeDocument/2006/relationships" id="277" r:id="R1e8b30233db7486b"/>
    <p:sldId xmlns:r="http://schemas.openxmlformats.org/officeDocument/2006/relationships" id="278" r:id="Ra5b4f6de7df9457e"/>
    <p:sldId xmlns:r="http://schemas.openxmlformats.org/officeDocument/2006/relationships" id="279" r:id="Rada9a87ebffe4c36"/>
    <p:sldId xmlns:r="http://schemas.openxmlformats.org/officeDocument/2006/relationships" id="280" r:id="Ra92963e2a0be49d0"/>
    <p:sldId xmlns:r="http://schemas.openxmlformats.org/officeDocument/2006/relationships" id="281" r:id="R599e1ece8f7c4323"/>
    <p:sldId xmlns:r="http://schemas.openxmlformats.org/officeDocument/2006/relationships" id="282" r:id="R9e7773e1f5cd41e5"/>
    <p:sldId xmlns:r="http://schemas.openxmlformats.org/officeDocument/2006/relationships" id="283" r:id="R3cf17187228b46fe"/>
    <p:sldId xmlns:r="http://schemas.openxmlformats.org/officeDocument/2006/relationships" id="284" r:id="R42834f001e6243a2"/>
    <p:sldId xmlns:r="http://schemas.openxmlformats.org/officeDocument/2006/relationships" id="285" r:id="R2b0b2c089b7240a5"/>
    <p:sldId xmlns:r="http://schemas.openxmlformats.org/officeDocument/2006/relationships" id="286" r:id="R1f4ecc428b6f4147"/>
    <p:sldId xmlns:r="http://schemas.openxmlformats.org/officeDocument/2006/relationships" id="287" r:id="R92bc25096e7c4c2e"/>
    <p:sldId xmlns:r="http://schemas.openxmlformats.org/officeDocument/2006/relationships" id="288" r:id="Ra71ee1c2afa94d09"/>
    <p:sldId xmlns:r="http://schemas.openxmlformats.org/officeDocument/2006/relationships" id="289" r:id="R6b9df81a53594cc0"/>
    <p:sldId xmlns:r="http://schemas.openxmlformats.org/officeDocument/2006/relationships" id="290" r:id="R209f312baf804811"/>
    <p:sldId xmlns:r="http://schemas.openxmlformats.org/officeDocument/2006/relationships" id="291" r:id="R9c3f2396f1c44459"/>
    <p:sldId xmlns:r="http://schemas.openxmlformats.org/officeDocument/2006/relationships" id="292" r:id="Rb6428628e6c14fcf"/>
    <p:sldId xmlns:r="http://schemas.openxmlformats.org/officeDocument/2006/relationships" id="293" r:id="R80b4e06ec82147b0"/>
    <p:sldId xmlns:r="http://schemas.openxmlformats.org/officeDocument/2006/relationships" id="294" r:id="R4b6b6d15f4054584"/>
    <p:sldId xmlns:r="http://schemas.openxmlformats.org/officeDocument/2006/relationships" id="295" r:id="Rf7007cc79a424ed7"/>
    <p:sldId xmlns:r="http://schemas.openxmlformats.org/officeDocument/2006/relationships" id="296" r:id="R6db4832cbd49459f"/>
    <p:sldId xmlns:r="http://schemas.openxmlformats.org/officeDocument/2006/relationships" id="297" r:id="R30d8863bca5c4c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ee96cca00c4269" /><Relationship Type="http://schemas.openxmlformats.org/officeDocument/2006/relationships/slideMaster" Target="/ppt/slideMasters/slideMaster1.xml" Id="R881c8736c2c74e71" /><Relationship Type="http://schemas.openxmlformats.org/officeDocument/2006/relationships/notesMaster" Target="/ppt/notesMasters/notesMaster1.xml" Id="R1d22a0e5abef413e" /><Relationship Type="http://schemas.openxmlformats.org/officeDocument/2006/relationships/presProps" Target="/ppt/presProps.xml" Id="R29c5f67ae5a24f54" /><Relationship Type="http://schemas.openxmlformats.org/officeDocument/2006/relationships/viewProps" Target="/ppt/viewProps.xml" Id="R67e314750f944035" /><Relationship Type="http://schemas.openxmlformats.org/officeDocument/2006/relationships/tableStyles" Target="/ppt/tableStyles.xml" Id="Ra2299ffdbed446a6" /><Relationship Type="http://schemas.openxmlformats.org/officeDocument/2006/relationships/slide" Target="/ppt/slides/slide1.xml" Id="R61e52e760f79436b" /><Relationship Type="http://schemas.openxmlformats.org/officeDocument/2006/relationships/slide" Target="/ppt/slides/slide2.xml" Id="R2be2bd8d42a74345" /><Relationship Type="http://schemas.openxmlformats.org/officeDocument/2006/relationships/slide" Target="/ppt/slides/slide3.xml" Id="R756848e1dee3439a" /><Relationship Type="http://schemas.openxmlformats.org/officeDocument/2006/relationships/slide" Target="/ppt/slides/slide4.xml" Id="Rf8ab330e33134be6" /><Relationship Type="http://schemas.openxmlformats.org/officeDocument/2006/relationships/slide" Target="/ppt/slides/slide5.xml" Id="Rca74ea0a44e94006" /><Relationship Type="http://schemas.openxmlformats.org/officeDocument/2006/relationships/slide" Target="/ppt/slides/slide6.xml" Id="R8c2fbf6150f74f1d" /><Relationship Type="http://schemas.openxmlformats.org/officeDocument/2006/relationships/slide" Target="/ppt/slides/slide7.xml" Id="R010d22faa1ad402f" /><Relationship Type="http://schemas.openxmlformats.org/officeDocument/2006/relationships/slide" Target="/ppt/slides/slide8.xml" Id="Rcfb244f397f64dd7" /><Relationship Type="http://schemas.openxmlformats.org/officeDocument/2006/relationships/slide" Target="/ppt/slides/slide9.xml" Id="R834847be54a0486a" /><Relationship Type="http://schemas.openxmlformats.org/officeDocument/2006/relationships/slide" Target="/ppt/slides/slide10.xml" Id="Rf76870da718e4607" /><Relationship Type="http://schemas.openxmlformats.org/officeDocument/2006/relationships/slide" Target="/ppt/slides/slide11.xml" Id="R49f3c27bbdf8491d" /><Relationship Type="http://schemas.openxmlformats.org/officeDocument/2006/relationships/slide" Target="/ppt/slides/slide12.xml" Id="R96bf1a7e8e8a496d" /><Relationship Type="http://schemas.openxmlformats.org/officeDocument/2006/relationships/slide" Target="/ppt/slides/slide13.xml" Id="Rda00eb9a9c284a66" /><Relationship Type="http://schemas.openxmlformats.org/officeDocument/2006/relationships/slide" Target="/ppt/slides/slide14.xml" Id="Refb9cb5d344540cb" /><Relationship Type="http://schemas.openxmlformats.org/officeDocument/2006/relationships/slide" Target="/ppt/slides/slide15.xml" Id="Rb5050241cf464644" /><Relationship Type="http://schemas.openxmlformats.org/officeDocument/2006/relationships/slide" Target="/ppt/slides/slide16.xml" Id="R2410ff6a1da04cbe" /><Relationship Type="http://schemas.openxmlformats.org/officeDocument/2006/relationships/slide" Target="/ppt/slides/slide17.xml" Id="Ra149463d8a8c4900" /><Relationship Type="http://schemas.openxmlformats.org/officeDocument/2006/relationships/slide" Target="/ppt/slides/slide18.xml" Id="R202502616e1347ac" /><Relationship Type="http://schemas.openxmlformats.org/officeDocument/2006/relationships/slide" Target="/ppt/slides/slide19.xml" Id="R24570d2301b14a38" /><Relationship Type="http://schemas.openxmlformats.org/officeDocument/2006/relationships/slide" Target="/ppt/slides/slide20.xml" Id="R5845671390244ac2" /><Relationship Type="http://schemas.openxmlformats.org/officeDocument/2006/relationships/slide" Target="/ppt/slides/slide21.xml" Id="R5d673f6d9416453e" /><Relationship Type="http://schemas.openxmlformats.org/officeDocument/2006/relationships/slide" Target="/ppt/slides/slide22.xml" Id="R1e8b30233db7486b" /><Relationship Type="http://schemas.openxmlformats.org/officeDocument/2006/relationships/slide" Target="/ppt/slides/slide23.xml" Id="Ra5b4f6de7df9457e" /><Relationship Type="http://schemas.openxmlformats.org/officeDocument/2006/relationships/slide" Target="/ppt/slides/slide24.xml" Id="Rada9a87ebffe4c36" /><Relationship Type="http://schemas.openxmlformats.org/officeDocument/2006/relationships/slide" Target="/ppt/slides/slide25.xml" Id="Ra92963e2a0be49d0" /><Relationship Type="http://schemas.openxmlformats.org/officeDocument/2006/relationships/slide" Target="/ppt/slides/slide26.xml" Id="R599e1ece8f7c4323" /><Relationship Type="http://schemas.openxmlformats.org/officeDocument/2006/relationships/slide" Target="/ppt/slides/slide27.xml" Id="R9e7773e1f5cd41e5" /><Relationship Type="http://schemas.openxmlformats.org/officeDocument/2006/relationships/slide" Target="/ppt/slides/slide28.xml" Id="R3cf17187228b46fe" /><Relationship Type="http://schemas.openxmlformats.org/officeDocument/2006/relationships/slide" Target="/ppt/slides/slide29.xml" Id="R42834f001e6243a2" /><Relationship Type="http://schemas.openxmlformats.org/officeDocument/2006/relationships/slide" Target="/ppt/slides/slide30.xml" Id="R2b0b2c089b7240a5" /><Relationship Type="http://schemas.openxmlformats.org/officeDocument/2006/relationships/slide" Target="/ppt/slides/slide31.xml" Id="R1f4ecc428b6f4147" /><Relationship Type="http://schemas.openxmlformats.org/officeDocument/2006/relationships/slide" Target="/ppt/slides/slide32.xml" Id="R92bc25096e7c4c2e" /><Relationship Type="http://schemas.openxmlformats.org/officeDocument/2006/relationships/slide" Target="/ppt/slides/slide33.xml" Id="Ra71ee1c2afa94d09" /><Relationship Type="http://schemas.openxmlformats.org/officeDocument/2006/relationships/slide" Target="/ppt/slides/slide34.xml" Id="R6b9df81a53594cc0" /><Relationship Type="http://schemas.openxmlformats.org/officeDocument/2006/relationships/slide" Target="/ppt/slides/slide35.xml" Id="R209f312baf804811" /><Relationship Type="http://schemas.openxmlformats.org/officeDocument/2006/relationships/slide" Target="/ppt/slides/slide36.xml" Id="R9c3f2396f1c44459" /><Relationship Type="http://schemas.openxmlformats.org/officeDocument/2006/relationships/slide" Target="/ppt/slides/slide37.xml" Id="Rb6428628e6c14fcf" /><Relationship Type="http://schemas.openxmlformats.org/officeDocument/2006/relationships/slide" Target="/ppt/slides/slide38.xml" Id="R80b4e06ec82147b0" /><Relationship Type="http://schemas.openxmlformats.org/officeDocument/2006/relationships/slide" Target="/ppt/slides/slide39.xml" Id="R4b6b6d15f4054584" /><Relationship Type="http://schemas.openxmlformats.org/officeDocument/2006/relationships/slide" Target="/ppt/slides/slide40.xml" Id="Rf7007cc79a424ed7" /><Relationship Type="http://schemas.openxmlformats.org/officeDocument/2006/relationships/slide" Target="/ppt/slides/slide41.xml" Id="R6db4832cbd49459f" /><Relationship Type="http://schemas.openxmlformats.org/officeDocument/2006/relationships/slide" Target="/ppt/slides/slide42.xml" Id="R30d8863bca5c4c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fb39960b2046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7bfa19a7c849ea" /><Relationship Type="http://schemas.openxmlformats.org/officeDocument/2006/relationships/notesMaster" Target="/ppt/notesMasters/notesMaster1.xml" Id="R644bf18015ce4e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4212ba11c845e1" /><Relationship Type="http://schemas.openxmlformats.org/officeDocument/2006/relationships/notesMaster" Target="/ppt/notesMasters/notesMaster1.xml" Id="R51997aa0223e41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a9a48e91004483" /><Relationship Type="http://schemas.openxmlformats.org/officeDocument/2006/relationships/notesMaster" Target="/ppt/notesMasters/notesMaster1.xml" Id="R0030440074734c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4486ddc90d44a8" /><Relationship Type="http://schemas.openxmlformats.org/officeDocument/2006/relationships/notesMaster" Target="/ppt/notesMasters/notesMaster1.xml" Id="R0cbcc9f5430649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d361e171cf4dec" /><Relationship Type="http://schemas.openxmlformats.org/officeDocument/2006/relationships/notesMaster" Target="/ppt/notesMasters/notesMaster1.xml" Id="R9bb7de5286fe45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a6dd729c6b497f" /><Relationship Type="http://schemas.openxmlformats.org/officeDocument/2006/relationships/notesMaster" Target="/ppt/notesMasters/notesMaster1.xml" Id="R88a5dd4f7f234c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b9e95c66344190" /><Relationship Type="http://schemas.openxmlformats.org/officeDocument/2006/relationships/notesMaster" Target="/ppt/notesMasters/notesMaster1.xml" Id="Rf05f4d64dbbc47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b99a3b71f486e" /><Relationship Type="http://schemas.openxmlformats.org/officeDocument/2006/relationships/notesMaster" Target="/ppt/notesMasters/notesMaster1.xml" Id="Ra2429dca481d4d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b3c1824a1545f7" /><Relationship Type="http://schemas.openxmlformats.org/officeDocument/2006/relationships/notesMaster" Target="/ppt/notesMasters/notesMaster1.xml" Id="Rb0700ce1940f40a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4bc8edffe34df0" /><Relationship Type="http://schemas.openxmlformats.org/officeDocument/2006/relationships/notesMaster" Target="/ppt/notesMasters/notesMaster1.xml" Id="R1f1b4235b5e345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8d6942c00a1431d" /><Relationship Type="http://schemas.openxmlformats.org/officeDocument/2006/relationships/notesMaster" Target="/ppt/notesMasters/notesMaster1.xml" Id="R0d38a6caa61744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6e398c6f534845" /><Relationship Type="http://schemas.openxmlformats.org/officeDocument/2006/relationships/notesMaster" Target="/ppt/notesMasters/notesMaster1.xml" Id="R89cfec96cf0a487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feca32e2d94b08" /><Relationship Type="http://schemas.openxmlformats.org/officeDocument/2006/relationships/notesMaster" Target="/ppt/notesMasters/notesMaster1.xml" Id="Ra9211b20c3e9414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1cfa89f2cc46b4" /><Relationship Type="http://schemas.openxmlformats.org/officeDocument/2006/relationships/notesMaster" Target="/ppt/notesMasters/notesMaster1.xml" Id="R9a842e58405349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f9e0a94bfb44e2" /><Relationship Type="http://schemas.openxmlformats.org/officeDocument/2006/relationships/notesMaster" Target="/ppt/notesMasters/notesMaster1.xml" Id="Rf1e2c8b6805e48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be1f5637c546f8" /><Relationship Type="http://schemas.openxmlformats.org/officeDocument/2006/relationships/notesMaster" Target="/ppt/notesMasters/notesMaster1.xml" Id="R594a8331ec0e465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f6206d3ec04278" /><Relationship Type="http://schemas.openxmlformats.org/officeDocument/2006/relationships/notesMaster" Target="/ppt/notesMasters/notesMaster1.xml" Id="Rac2e74d3ab324ad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f44ddf00884bbd" /><Relationship Type="http://schemas.openxmlformats.org/officeDocument/2006/relationships/notesMaster" Target="/ppt/notesMasters/notesMaster1.xml" Id="R8c3595ffb32d4c7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fc1cad8c5f4111" /><Relationship Type="http://schemas.openxmlformats.org/officeDocument/2006/relationships/notesMaster" Target="/ppt/notesMasters/notesMaster1.xml" Id="R0e09763b10b242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9f1190177444d6" /><Relationship Type="http://schemas.openxmlformats.org/officeDocument/2006/relationships/notesMaster" Target="/ppt/notesMasters/notesMaster1.xml" Id="Rf674245d8e2d41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6fa89b01794429c" /><Relationship Type="http://schemas.openxmlformats.org/officeDocument/2006/relationships/notesMaster" Target="/ppt/notesMasters/notesMaster1.xml" Id="R4e27c2f0d03040a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483785668b4940" /><Relationship Type="http://schemas.openxmlformats.org/officeDocument/2006/relationships/notesMaster" Target="/ppt/notesMasters/notesMaster1.xml" Id="R95d796bcd0894cc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5614ed0d744090" /><Relationship Type="http://schemas.openxmlformats.org/officeDocument/2006/relationships/notesMaster" Target="/ppt/notesMasters/notesMaster1.xml" Id="R3ec43df540fa42c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70d33a335a43df" /><Relationship Type="http://schemas.openxmlformats.org/officeDocument/2006/relationships/notesMaster" Target="/ppt/notesMasters/notesMaster1.xml" Id="R808181f3d8db478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b0f413b42a40b3" /><Relationship Type="http://schemas.openxmlformats.org/officeDocument/2006/relationships/notesMaster" Target="/ppt/notesMasters/notesMaster1.xml" Id="R4f60d08bb3f64d0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31007e83a347c2" /><Relationship Type="http://schemas.openxmlformats.org/officeDocument/2006/relationships/notesMaster" Target="/ppt/notesMasters/notesMaster1.xml" Id="R5285310ba9ac4d2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b8d9a182b314909" /><Relationship Type="http://schemas.openxmlformats.org/officeDocument/2006/relationships/notesMaster" Target="/ppt/notesMasters/notesMaster1.xml" Id="R6aa010fe61444c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e7561e579c94617" /><Relationship Type="http://schemas.openxmlformats.org/officeDocument/2006/relationships/notesMaster" Target="/ppt/notesMasters/notesMaster1.xml" Id="R6324837b56af4f0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c8cf1fe2ee54cf3" /><Relationship Type="http://schemas.openxmlformats.org/officeDocument/2006/relationships/notesMaster" Target="/ppt/notesMasters/notesMaster1.xml" Id="Ra9986c425c974ef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2d18764562a46bf" /><Relationship Type="http://schemas.openxmlformats.org/officeDocument/2006/relationships/notesMaster" Target="/ppt/notesMasters/notesMaster1.xml" Id="R9de83527768e46c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5db0f709e1e404e" /><Relationship Type="http://schemas.openxmlformats.org/officeDocument/2006/relationships/notesMaster" Target="/ppt/notesMasters/notesMaster1.xml" Id="Rf0ef788ab1634e1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d8983eadacd44bf" /><Relationship Type="http://schemas.openxmlformats.org/officeDocument/2006/relationships/notesMaster" Target="/ppt/notesMasters/notesMaster1.xml" Id="Rf215f64b79ed45a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c2058e9f436463a" /><Relationship Type="http://schemas.openxmlformats.org/officeDocument/2006/relationships/notesMaster" Target="/ppt/notesMasters/notesMaster1.xml" Id="Rb4e70d4773584d7c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a2967db28ca4c2a" /><Relationship Type="http://schemas.openxmlformats.org/officeDocument/2006/relationships/notesMaster" Target="/ppt/notesMasters/notesMaster1.xml" Id="R2551e289da9f42e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cc28681cc744246" /><Relationship Type="http://schemas.openxmlformats.org/officeDocument/2006/relationships/notesMaster" Target="/ppt/notesMasters/notesMaster1.xml" Id="Rf291f40a11214d5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10944012e0b45de" /><Relationship Type="http://schemas.openxmlformats.org/officeDocument/2006/relationships/notesMaster" Target="/ppt/notesMasters/notesMaster1.xml" Id="R76b25efcee774f6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7163ae4a68944fd" /><Relationship Type="http://schemas.openxmlformats.org/officeDocument/2006/relationships/notesMaster" Target="/ppt/notesMasters/notesMaster1.xml" Id="R735df99e65bd418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98bb588f7734931" /><Relationship Type="http://schemas.openxmlformats.org/officeDocument/2006/relationships/notesMaster" Target="/ppt/notesMasters/notesMaster1.xml" Id="R4c4b407bc469446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332e4d8e78a45eb" /><Relationship Type="http://schemas.openxmlformats.org/officeDocument/2006/relationships/notesMaster" Target="/ppt/notesMasters/notesMaster1.xml" Id="R5d7c69854b0c4b4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6434373d4b3468e" /><Relationship Type="http://schemas.openxmlformats.org/officeDocument/2006/relationships/notesMaster" Target="/ppt/notesMasters/notesMaster1.xml" Id="R36bf9749069342e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adcc4b757ec4641" /><Relationship Type="http://schemas.openxmlformats.org/officeDocument/2006/relationships/notesMaster" Target="/ppt/notesMasters/notesMaster1.xml" Id="R81233f8ba08a43d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4838d02f9d345ce" /><Relationship Type="http://schemas.openxmlformats.org/officeDocument/2006/relationships/notesMaster" Target="/ppt/notesMasters/notesMaster1.xml" Id="R81fd656ad1f5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lab03_github_template.png. Gambar dipotong agar langkah dan keluaran terbaca. Repo: https://github.com/SeedFlora/meet3CloudService. Klik pada slide adalah urutan untuk membuat salinan dan Codespace mahasiswa.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lab03_codespaces_docker_live.jpg. Gambar dipotong agar langkah dan keluaran terbaca. Repo: https://github.com/SeedFlora/meet3CloudService. Perintah screenshot: docker compose ps; docker compose ps --format "{{.Service}} {{.State}} {{.Health}}" &amp;&amp; bash tests/smoke.sh | tail -n 4. Status pada screenshot adalah contoh hasil konfigurasi akhir.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lab03_codespaces_web_live.jpg. Gambar dipotong agar langkah dan keluaran terbaca. Repo: https://github.com/SeedFlora/meet3CloudService. URL Codespaces dipotong dari gambar. Pada akses luar Codespaces, browser menggunakan HTTPS dan port URL diteruskan ke nginx port 80.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lab03_codespaces_network_live.jpg. Gambar dipotong agar langkah dan keluaran terbaca. Repo: https://github.com/SeedFlora/meet3CloudService. Perintah screenshot: docker compose exec -T toolbox bash -lc 'echo DNS; dig +short web; nslookup api | tail -n 4; echo PING; ping -c 1 web | tail -n 2; echo TRACE; traceroute -m 3 web | head -n 2'. Alamat IP dapat berubah setiap kali Compose membuat jaringan.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lab03_codespaces_http_ports_live.jpg. Gambar dipotong agar langkah dan keluaran terbaca. Repo: https://github.com/SeedFlora/meet3CloudService. Perintah screenshot: docker compose exec -T toolbox bash -lc 'curl -s -o /dev/null -w "HTTP %{http_code}\n" http://web/api/health; wget -qO- http://web/api/health; echo; nmap -sT -Pn -p 3000,5432,8080 host.docker.internal | tail -n 6; nc -vz -w 2 api 3000; openssl version'. Screenshot memperlihatkan versi OpenSSL, belum pemeriksaan sertifikat TLS.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lab03_docker_target.png. Gambar dipotong agar langkah dan keluaran terbaca. Repo: https://github.com/SeedFlora/meet3CloudService. Target dari salinan uji lokal setelah penyelesaian lab. Perintah pada gambar: docker compose ps --format 'table {{.Service}}\t{{.Status}}\t{{.Ports}}'. API dan DB memakai port internal tanpa mapping host.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lab03_web_https_target_top.png. Gambar dipotong agar langkah dan keluaran terbaca. Repo: https://github.com/SeedFlora/meet3CloudService. Target dari salinan uji lokal. Jalankan docker compose up -d --force-recreate --wait setelah konfigurasi TLS. Browser dapat memperingatkan sertifikat self-signed.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Bukti visual dari GitHub dan Codespaces pada 1 Oktober 2026. Berkas: lab03_web_https_target_post.png. Gambar dipotong agar langkah dan keluaran terbaca. Repo: https://github.com/SeedFlora/meet3CloudService. Target dari salinan uji lokal. Gambar area formulir dan pesan respons memperjelas POST 201.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2cb984a1f49d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6503d650942e5" /><Relationship Type="http://schemas.openxmlformats.org/officeDocument/2006/relationships/slideLayout" Target="/ppt/slideLayouts/slideLayout1.xml" Id="Rc615bf7362284b3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15bf7362284b3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9db4b734a4e81" /><Relationship Type="http://schemas.openxmlformats.org/officeDocument/2006/relationships/image" Target="/ppt/media/image.jpeg" Id="Rb707394fd69345d6" /><Relationship Type="http://schemas.openxmlformats.org/officeDocument/2006/relationships/image" Target="/ppt/media/image.png" Id="Rf0a1ec28b45245a3" /><Relationship Type="http://schemas.openxmlformats.org/officeDocument/2006/relationships/image" Target="/ppt/media/image2.png" Id="Rafd82e4b764943d3" /><Relationship Type="http://schemas.openxmlformats.org/officeDocument/2006/relationships/notesSlide" Target="/ppt/notesSlides/notesSlide1.xml" Id="R6bfad3b7320146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1737261bc4806" /><Relationship Type="http://schemas.openxmlformats.org/officeDocument/2006/relationships/image" Target="/ppt/media/image3.png" Id="R7a15ed454ef64443" /><Relationship Type="http://schemas.openxmlformats.org/officeDocument/2006/relationships/image" Target="/ppt/media/image4.png" Id="R6b5051cd68624881" /><Relationship Type="http://schemas.openxmlformats.org/officeDocument/2006/relationships/image" Target="/ppt/media/image5.png" Id="R1142f47ba7954a6e" /><Relationship Type="http://schemas.openxmlformats.org/officeDocument/2006/relationships/image" Target="/ppt/media/image6.png" Id="R83b1841b5aec45f1" /><Relationship Type="http://schemas.openxmlformats.org/officeDocument/2006/relationships/image" Target="/ppt/media/image7.png" Id="R0858483e8705429d" /><Relationship Type="http://schemas.openxmlformats.org/officeDocument/2006/relationships/image" Target="/ppt/media/image8.png" Id="R2bae3a0b91d94f6c" /><Relationship Type="http://schemas.openxmlformats.org/officeDocument/2006/relationships/image" Target="/ppt/media/image9.png" Id="R34d26e53d9d14301" /><Relationship Type="http://schemas.openxmlformats.org/officeDocument/2006/relationships/image" Target="/ppt/media/image10.png" Id="R595e110c3734461e" /><Relationship Type="http://schemas.openxmlformats.org/officeDocument/2006/relationships/notesSlide" Target="/ppt/notesSlides/notesSlide2.xml" Id="Ra02a1e001a0b41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fb33f25a34933" /><Relationship Type="http://schemas.openxmlformats.org/officeDocument/2006/relationships/image" Target="/ppt/media/image11.png" Id="R6c50c1dace0649ea" /><Relationship Type="http://schemas.openxmlformats.org/officeDocument/2006/relationships/image" Target="/ppt/media/image12.png" Id="R978735afd22c4f9d" /><Relationship Type="http://schemas.openxmlformats.org/officeDocument/2006/relationships/image" Target="/ppt/media/image13.png" Id="Rff187d98e25f42fc" /><Relationship Type="http://schemas.openxmlformats.org/officeDocument/2006/relationships/image" Target="/ppt/media/image14.png" Id="Rff4dbfb15ba34ff3" /><Relationship Type="http://schemas.openxmlformats.org/officeDocument/2006/relationships/image" Target="/ppt/media/image15.png" Id="R16fc936656dc4daa" /><Relationship Type="http://schemas.openxmlformats.org/officeDocument/2006/relationships/image" Target="/ppt/media/image16.png" Id="Re13f4ec7ac194b61" /><Relationship Type="http://schemas.openxmlformats.org/officeDocument/2006/relationships/image" Target="/ppt/media/image17.png" Id="R7b92e19b090b46ae" /><Relationship Type="http://schemas.openxmlformats.org/officeDocument/2006/relationships/image" Target="/ppt/media/image18.png" Id="R8f39a7627b4547de" /><Relationship Type="http://schemas.openxmlformats.org/officeDocument/2006/relationships/image" Target="/ppt/media/image19.png" Id="R058ed0b737104b62" /><Relationship Type="http://schemas.openxmlformats.org/officeDocument/2006/relationships/image" Target="/ppt/media/image20.png" Id="R6f5b04a434bb4f73" /><Relationship Type="http://schemas.openxmlformats.org/officeDocument/2006/relationships/image" Target="/ppt/media/image21.png" Id="Rb106599018054182" /><Relationship Type="http://schemas.openxmlformats.org/officeDocument/2006/relationships/image" Target="/ppt/media/image22.png" Id="R8e22630d8a9745dd" /><Relationship Type="http://schemas.openxmlformats.org/officeDocument/2006/relationships/image" Target="/ppt/media/image23.png" Id="Rb66b0ab3317249c1" /><Relationship Type="http://schemas.openxmlformats.org/officeDocument/2006/relationships/image" Target="/ppt/media/image24.png" Id="R2e81b8ecdfa244bb" /><Relationship Type="http://schemas.openxmlformats.org/officeDocument/2006/relationships/notesSlide" Target="/ppt/notesSlides/notesSlide3.xml" Id="R17ddddaef6374e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5fc1da3874ef9" /><Relationship Type="http://schemas.openxmlformats.org/officeDocument/2006/relationships/image" Target="/ppt/media/image25.png" Id="R82fab4b25ce1409a" /><Relationship Type="http://schemas.openxmlformats.org/officeDocument/2006/relationships/image" Target="/ppt/media/image26.png" Id="R9dc73756e8b7432d" /><Relationship Type="http://schemas.openxmlformats.org/officeDocument/2006/relationships/notesSlide" Target="/ppt/notesSlides/notesSlide4.xml" Id="R4f0acca6921245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78a9be71e4441" /><Relationship Type="http://schemas.openxmlformats.org/officeDocument/2006/relationships/image" Target="/ppt/media/image27.png" Id="R736d057731714187" /><Relationship Type="http://schemas.openxmlformats.org/officeDocument/2006/relationships/image" Target="/ppt/media/image28.png" Id="R0a55c6c6932947b5" /><Relationship Type="http://schemas.openxmlformats.org/officeDocument/2006/relationships/notesSlide" Target="/ppt/notesSlides/notesSlide5.xml" Id="R9f88c6a4a72a43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3bb42535a453d" /><Relationship Type="http://schemas.openxmlformats.org/officeDocument/2006/relationships/image" Target="/ppt/media/image29.png" Id="R6b5f4c5b59f54efa" /><Relationship Type="http://schemas.openxmlformats.org/officeDocument/2006/relationships/image" Target="/ppt/media/image30.png" Id="Rbee4a063edf94cdd" /><Relationship Type="http://schemas.openxmlformats.org/officeDocument/2006/relationships/notesSlide" Target="/ppt/notesSlides/notesSlide6.xml" Id="R16dea3a94f8149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9bb0ca956468e" /><Relationship Type="http://schemas.openxmlformats.org/officeDocument/2006/relationships/image" Target="/ppt/media/image31.png" Id="R999f8d3b4e544702" /><Relationship Type="http://schemas.openxmlformats.org/officeDocument/2006/relationships/image" Target="/ppt/media/image32.png" Id="R9eb798b438b94cca" /><Relationship Type="http://schemas.openxmlformats.org/officeDocument/2006/relationships/notesSlide" Target="/ppt/notesSlides/notesSlide7.xml" Id="Rb4c0393763fc43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7300855b44cbd" /><Relationship Type="http://schemas.openxmlformats.org/officeDocument/2006/relationships/image" Target="/ppt/media/image33.png" Id="R4fd62a6dfb5e4bb8" /><Relationship Type="http://schemas.openxmlformats.org/officeDocument/2006/relationships/image" Target="/ppt/media/image34.png" Id="R7f6a760e57054916" /><Relationship Type="http://schemas.openxmlformats.org/officeDocument/2006/relationships/notesSlide" Target="/ppt/notesSlides/notesSlide8.xml" Id="R2cefbf012d4447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851d940c44437" /><Relationship Type="http://schemas.openxmlformats.org/officeDocument/2006/relationships/image" Target="/ppt/media/image35.png" Id="Rcb61eb72c7294ab1" /><Relationship Type="http://schemas.openxmlformats.org/officeDocument/2006/relationships/image" Target="/ppt/media/image36.png" Id="R6cf648df96e0405b" /><Relationship Type="http://schemas.openxmlformats.org/officeDocument/2006/relationships/notesSlide" Target="/ppt/notesSlides/notesSlide9.xml" Id="R24cbef3b6b6b46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015e8bf8e4877" /><Relationship Type="http://schemas.openxmlformats.org/officeDocument/2006/relationships/image" Target="/ppt/media/image37.png" Id="Rdad24b7e885f43cc" /><Relationship Type="http://schemas.openxmlformats.org/officeDocument/2006/relationships/image" Target="/ppt/media/image38.png" Id="R200c629f3db14015" /><Relationship Type="http://schemas.openxmlformats.org/officeDocument/2006/relationships/notesSlide" Target="/ppt/notesSlides/notesSlide10.xml" Id="R153aa25cabdf40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3c2eafe164fc7" /><Relationship Type="http://schemas.openxmlformats.org/officeDocument/2006/relationships/image" Target="/ppt/media/image39.png" Id="R8c04abc990c547c1" /><Relationship Type="http://schemas.openxmlformats.org/officeDocument/2006/relationships/image" Target="/ppt/media/image40.png" Id="R3096eda6febf4773" /><Relationship Type="http://schemas.openxmlformats.org/officeDocument/2006/relationships/notesSlide" Target="/ppt/notesSlides/notesSlide11.xml" Id="Rc68c6f16dc2a45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874ce894d4a17" /><Relationship Type="http://schemas.openxmlformats.org/officeDocument/2006/relationships/image" Target="/ppt/media/image41.png" Id="Raf5d36c1cc83425c" /><Relationship Type="http://schemas.openxmlformats.org/officeDocument/2006/relationships/image" Target="/ppt/media/image42.png" Id="R3afc05b2b8e84e71" /><Relationship Type="http://schemas.openxmlformats.org/officeDocument/2006/relationships/notesSlide" Target="/ppt/notesSlides/notesSlide12.xml" Id="Rcebe43c8087d40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e0caecba3246bc" /><Relationship Type="http://schemas.openxmlformats.org/officeDocument/2006/relationships/image" Target="/ppt/media/image43.png" Id="R40ff5a495a02473b" /><Relationship Type="http://schemas.openxmlformats.org/officeDocument/2006/relationships/image" Target="/ppt/media/image44.png" Id="Rc44310dce2bd43ce" /><Relationship Type="http://schemas.openxmlformats.org/officeDocument/2006/relationships/notesSlide" Target="/ppt/notesSlides/notesSlide13.xml" Id="R20c9aa348b3e4b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bd153dc5e4505" /><Relationship Type="http://schemas.openxmlformats.org/officeDocument/2006/relationships/image" Target="/ppt/media/image45.png" Id="R5a3438cee9e74ccf" /><Relationship Type="http://schemas.openxmlformats.org/officeDocument/2006/relationships/image" Target="/ppt/media/image46.png" Id="R831493535dfa4072" /><Relationship Type="http://schemas.openxmlformats.org/officeDocument/2006/relationships/notesSlide" Target="/ppt/notesSlides/notesSlide14.xml" Id="Rae752f7628994f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1f8cfd07534f0a" /><Relationship Type="http://schemas.openxmlformats.org/officeDocument/2006/relationships/image" Target="/ppt/media/image47.png" Id="R6495586bbad744b0" /><Relationship Type="http://schemas.openxmlformats.org/officeDocument/2006/relationships/image" Target="/ppt/media/image48.png" Id="R07ad33e45ff54451" /><Relationship Type="http://schemas.openxmlformats.org/officeDocument/2006/relationships/notesSlide" Target="/ppt/notesSlides/notesSlide15.xml" Id="R9e23864c9d0142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db966f9a84b49" /><Relationship Type="http://schemas.openxmlformats.org/officeDocument/2006/relationships/image" Target="/ppt/media/image49.png" Id="R43797850fba346ea" /><Relationship Type="http://schemas.openxmlformats.org/officeDocument/2006/relationships/image" Target="/ppt/media/image50.png" Id="Ra87c9d9841dc48d1" /><Relationship Type="http://schemas.openxmlformats.org/officeDocument/2006/relationships/notesSlide" Target="/ppt/notesSlides/notesSlide16.xml" Id="R8a2f95040e144b3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d83d9af074e18" /><Relationship Type="http://schemas.openxmlformats.org/officeDocument/2006/relationships/image" Target="/ppt/media/image51.png" Id="R4730b3544c0c4698" /><Relationship Type="http://schemas.openxmlformats.org/officeDocument/2006/relationships/image" Target="/ppt/media/image52.png" Id="R3207007a8cb1447c" /><Relationship Type="http://schemas.openxmlformats.org/officeDocument/2006/relationships/notesSlide" Target="/ppt/notesSlides/notesSlide17.xml" Id="Rf70258a4fc914c3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84e25fb94496e" /><Relationship Type="http://schemas.openxmlformats.org/officeDocument/2006/relationships/image" Target="/ppt/media/image53.png" Id="Rb5624af82d634042" /><Relationship Type="http://schemas.openxmlformats.org/officeDocument/2006/relationships/image" Target="/ppt/media/image54.png" Id="R8db9549ffb494a42" /><Relationship Type="http://schemas.openxmlformats.org/officeDocument/2006/relationships/image" Target="/ppt/media/image55.png" Id="R94d78aa50bd7473e" /><Relationship Type="http://schemas.openxmlformats.org/officeDocument/2006/relationships/image" Target="/ppt/media/image56.png" Id="Rfe730d5195d345b6" /><Relationship Type="http://schemas.openxmlformats.org/officeDocument/2006/relationships/image" Target="/ppt/media/image57.png" Id="R08df7e4d3ee14903" /><Relationship Type="http://schemas.openxmlformats.org/officeDocument/2006/relationships/image" Target="/ppt/media/image58.png" Id="Rf07582eff9ec4680" /><Relationship Type="http://schemas.openxmlformats.org/officeDocument/2006/relationships/image" Target="/ppt/media/image59.png" Id="Rc8390b24c18d4129" /><Relationship Type="http://schemas.openxmlformats.org/officeDocument/2006/relationships/image" Target="/ppt/media/image60.png" Id="Rb41268369ee54c1d" /><Relationship Type="http://schemas.openxmlformats.org/officeDocument/2006/relationships/notesSlide" Target="/ppt/notesSlides/notesSlide18.xml" Id="R36ed0ad7f51e40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3526c950a4718" /><Relationship Type="http://schemas.openxmlformats.org/officeDocument/2006/relationships/image" Target="/ppt/media/image61.png" Id="R39b8e26885ca46bd" /><Relationship Type="http://schemas.openxmlformats.org/officeDocument/2006/relationships/image" Target="/ppt/media/image62.png" Id="R2ef48338f5034593" /><Relationship Type="http://schemas.openxmlformats.org/officeDocument/2006/relationships/notesSlide" Target="/ppt/notesSlides/notesSlide19.xml" Id="R93e54bb55c4b469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9e6ab6ea041f4" /><Relationship Type="http://schemas.openxmlformats.org/officeDocument/2006/relationships/image" Target="/ppt/media/image63.png" Id="R6cc49b134a874252" /><Relationship Type="http://schemas.openxmlformats.org/officeDocument/2006/relationships/image" Target="/ppt/media/image64.png" Id="R9258b5abcf484a88" /><Relationship Type="http://schemas.openxmlformats.org/officeDocument/2006/relationships/notesSlide" Target="/ppt/notesSlides/notesSlide20.xml" Id="R6d73a0111d9a4c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becae747446cf" /><Relationship Type="http://schemas.openxmlformats.org/officeDocument/2006/relationships/image" Target="/ppt/media/image65.png" Id="R25e40d167d544e75" /><Relationship Type="http://schemas.openxmlformats.org/officeDocument/2006/relationships/image" Target="/ppt/media/image66.png" Id="R213f713b9eb34919" /><Relationship Type="http://schemas.openxmlformats.org/officeDocument/2006/relationships/notesSlide" Target="/ppt/notesSlides/notesSlide21.xml" Id="Re267d45421f6403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9ce44a7844e61" /><Relationship Type="http://schemas.openxmlformats.org/officeDocument/2006/relationships/image" Target="/ppt/media/image67.png" Id="R4939e02ecefd482e" /><Relationship Type="http://schemas.openxmlformats.org/officeDocument/2006/relationships/image" Target="/ppt/media/image68.png" Id="R12f672bbc11f4102" /><Relationship Type="http://schemas.openxmlformats.org/officeDocument/2006/relationships/notesSlide" Target="/ppt/notesSlides/notesSlide22.xml" Id="Rcaf53876143048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0e7ba81d2437b" /><Relationship Type="http://schemas.openxmlformats.org/officeDocument/2006/relationships/image" Target="/ppt/media/image69.png" Id="R2c6adc7aea714ab0" /><Relationship Type="http://schemas.openxmlformats.org/officeDocument/2006/relationships/image" Target="/ppt/media/image70.png" Id="Rca3e14f47bd64e42" /><Relationship Type="http://schemas.openxmlformats.org/officeDocument/2006/relationships/notesSlide" Target="/ppt/notesSlides/notesSlide23.xml" Id="Ref4c0cf602e94ed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848361f949ff" /><Relationship Type="http://schemas.openxmlformats.org/officeDocument/2006/relationships/image" Target="/ppt/media/image71.png" Id="R85e7be3f1fe5457b" /><Relationship Type="http://schemas.openxmlformats.org/officeDocument/2006/relationships/image" Target="/ppt/media/image72.png" Id="Rcb37f7ed43b84a2c" /><Relationship Type="http://schemas.openxmlformats.org/officeDocument/2006/relationships/notesSlide" Target="/ppt/notesSlides/notesSlide24.xml" Id="R9deb544dcc3b41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a6e5c495e4616" /><Relationship Type="http://schemas.openxmlformats.org/officeDocument/2006/relationships/image" Target="/ppt/media/image73.png" Id="Rbb65c746fd1041b4" /><Relationship Type="http://schemas.openxmlformats.org/officeDocument/2006/relationships/image" Target="/ppt/media/image74.png" Id="R5e0fef91b61647e8" /><Relationship Type="http://schemas.openxmlformats.org/officeDocument/2006/relationships/notesSlide" Target="/ppt/notesSlides/notesSlide25.xml" Id="R6b3b70eec6ce4d0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21fd5e5a0441a" /><Relationship Type="http://schemas.openxmlformats.org/officeDocument/2006/relationships/image" Target="/ppt/media/image75.png" Id="Re967280fff804bdb" /><Relationship Type="http://schemas.openxmlformats.org/officeDocument/2006/relationships/image" Target="/ppt/media/image76.png" Id="R993794ae7af74016" /><Relationship Type="http://schemas.openxmlformats.org/officeDocument/2006/relationships/notesSlide" Target="/ppt/notesSlides/notesSlide26.xml" Id="R280be33ca0d344a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51dc9ab07443f" /><Relationship Type="http://schemas.openxmlformats.org/officeDocument/2006/relationships/image" Target="/ppt/media/image77.png" Id="R3f79898727ad4413" /><Relationship Type="http://schemas.openxmlformats.org/officeDocument/2006/relationships/image" Target="/ppt/media/image78.png" Id="R8b9d1bb31ccf4e7e" /><Relationship Type="http://schemas.openxmlformats.org/officeDocument/2006/relationships/notesSlide" Target="/ppt/notesSlides/notesSlide27.xml" Id="R46febecf2e7542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c33c713584375" /><Relationship Type="http://schemas.openxmlformats.org/officeDocument/2006/relationships/image" Target="/ppt/media/image79.png" Id="Rd2bb7796506f4546" /><Relationship Type="http://schemas.openxmlformats.org/officeDocument/2006/relationships/image" Target="/ppt/media/image80.png" Id="R7f678d44ebe64750" /><Relationship Type="http://schemas.openxmlformats.org/officeDocument/2006/relationships/notesSlide" Target="/ppt/notesSlides/notesSlide28.xml" Id="Rd5caa3e4d8254a2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9d875e1d34564" /><Relationship Type="http://schemas.openxmlformats.org/officeDocument/2006/relationships/image" Target="/ppt/media/image81.png" Id="R7925271fac244c6f" /><Relationship Type="http://schemas.openxmlformats.org/officeDocument/2006/relationships/image" Target="/ppt/media/image82.png" Id="R94efa1b5fe2d416a" /><Relationship Type="http://schemas.openxmlformats.org/officeDocument/2006/relationships/image" Target="/ppt/media/image83.png" Id="R76a2847874bb4ee0" /><Relationship Type="http://schemas.openxmlformats.org/officeDocument/2006/relationships/image" Target="/ppt/media/image84.png" Id="Raf719a4258df4946" /><Relationship Type="http://schemas.openxmlformats.org/officeDocument/2006/relationships/image" Target="/ppt/media/image85.png" Id="Rfaf50bdb9a5c4999" /><Relationship Type="http://schemas.openxmlformats.org/officeDocument/2006/relationships/image" Target="/ppt/media/image86.png" Id="R023fdd4cdb8b46e8" /><Relationship Type="http://schemas.openxmlformats.org/officeDocument/2006/relationships/image" Target="/ppt/media/image87.png" Id="R56cd09ce44004f92" /><Relationship Type="http://schemas.openxmlformats.org/officeDocument/2006/relationships/image" Target="/ppt/media/image88.png" Id="R674b8dc163584d5a" /><Relationship Type="http://schemas.openxmlformats.org/officeDocument/2006/relationships/image" Target="/ppt/media/image89.png" Id="R10d7a2a849c44e7b" /><Relationship Type="http://schemas.openxmlformats.org/officeDocument/2006/relationships/notesSlide" Target="/ppt/notesSlides/notesSlide29.xml" Id="Rf0fa9361cb2e448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7636e9e064754" /><Relationship Type="http://schemas.openxmlformats.org/officeDocument/2006/relationships/image" Target="/ppt/media/image90.png" Id="Rf12f31dba22047f7" /><Relationship Type="http://schemas.openxmlformats.org/officeDocument/2006/relationships/image" Target="/ppt/media/image91.png" Id="R40d3ed44735940f4" /><Relationship Type="http://schemas.openxmlformats.org/officeDocument/2006/relationships/image" Target="/ppt/media/image92.png" Id="Rd228a76404a64714" /><Relationship Type="http://schemas.openxmlformats.org/officeDocument/2006/relationships/image" Target="/ppt/media/image93.png" Id="Rb8f3354681834e72" /><Relationship Type="http://schemas.openxmlformats.org/officeDocument/2006/relationships/image" Target="/ppt/media/image94.png" Id="R960355e14b304614" /><Relationship Type="http://schemas.openxmlformats.org/officeDocument/2006/relationships/image" Target="/ppt/media/image95.png" Id="Reeca82c8277e4e7c" /><Relationship Type="http://schemas.openxmlformats.org/officeDocument/2006/relationships/image" Target="/ppt/media/image96.png" Id="R8e8a485115ed48a9" /><Relationship Type="http://schemas.openxmlformats.org/officeDocument/2006/relationships/image" Target="/ppt/media/image97.png" Id="Ra6b2c3cfc4184de6" /><Relationship Type="http://schemas.openxmlformats.org/officeDocument/2006/relationships/notesSlide" Target="/ppt/notesSlides/notesSlide30.xml" Id="R44a7e59a81864cd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c42e51b394080" /><Relationship Type="http://schemas.openxmlformats.org/officeDocument/2006/relationships/image" Target="/ppt/media/image98.png" Id="Rd07203811fe844d7" /><Relationship Type="http://schemas.openxmlformats.org/officeDocument/2006/relationships/image" Target="/ppt/media/image99.png" Id="Re88b0c40ebd44c55" /><Relationship Type="http://schemas.openxmlformats.org/officeDocument/2006/relationships/image" Target="/ppt/media/image100.png" Id="R67e27bf8b5f941e4" /><Relationship Type="http://schemas.openxmlformats.org/officeDocument/2006/relationships/image" Target="/ppt/media/image101.png" Id="Rcc932b2558d141ea" /><Relationship Type="http://schemas.openxmlformats.org/officeDocument/2006/relationships/image" Target="/ppt/media/image102.png" Id="R674156e4b2714926" /><Relationship Type="http://schemas.openxmlformats.org/officeDocument/2006/relationships/image" Target="/ppt/media/image103.png" Id="R64461370fc644a13" /><Relationship Type="http://schemas.openxmlformats.org/officeDocument/2006/relationships/image" Target="/ppt/media/image104.png" Id="R1501c9a19ef5429a" /><Relationship Type="http://schemas.openxmlformats.org/officeDocument/2006/relationships/image" Target="/ppt/media/image105.png" Id="R04d9c5fb3b004ba6" /><Relationship Type="http://schemas.openxmlformats.org/officeDocument/2006/relationships/image" Target="/ppt/media/image106.png" Id="Rde56b79f6b5445bd" /><Relationship Type="http://schemas.openxmlformats.org/officeDocument/2006/relationships/image" Target="/ppt/media/image107.png" Id="Rc4483e3491ac40f1" /><Relationship Type="http://schemas.openxmlformats.org/officeDocument/2006/relationships/image" Target="/ppt/media/image108.png" Id="R7377df4daef34b6a" /><Relationship Type="http://schemas.openxmlformats.org/officeDocument/2006/relationships/image" Target="/ppt/media/image109.png" Id="R3aa6db3f60754df1" /><Relationship Type="http://schemas.openxmlformats.org/officeDocument/2006/relationships/image" Target="/ppt/media/image110.png" Id="Rd16b5ba506df4142" /><Relationship Type="http://schemas.openxmlformats.org/officeDocument/2006/relationships/notesSlide" Target="/ppt/notesSlides/notesSlide31.xml" Id="R0dbc50324a9e41f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0617cf420499a" /><Relationship Type="http://schemas.openxmlformats.org/officeDocument/2006/relationships/image" Target="/ppt/media/image3.png" Id="R7c742839de9d4f7e" /><Relationship Type="http://schemas.openxmlformats.org/officeDocument/2006/relationships/image" Target="/ppt/media/image4.png" Id="R1450c321cda54170" /><Relationship Type="http://schemas.openxmlformats.org/officeDocument/2006/relationships/image" Target="/ppt/media/image5.png" Id="R40377db939af4017" /><Relationship Type="http://schemas.openxmlformats.org/officeDocument/2006/relationships/image" Target="/ppt/media/image6.png" Id="R135d94fc473b4194" /><Relationship Type="http://schemas.openxmlformats.org/officeDocument/2006/relationships/image" Target="/ppt/media/image7.png" Id="R099c49b685044865" /><Relationship Type="http://schemas.openxmlformats.org/officeDocument/2006/relationships/image" Target="/ppt/media/image8.png" Id="R5fb9ac82bacc4d18" /><Relationship Type="http://schemas.openxmlformats.org/officeDocument/2006/relationships/image" Target="/ppt/media/image9.png" Id="Rfca7b8abe6fb4713" /><Relationship Type="http://schemas.openxmlformats.org/officeDocument/2006/relationships/image" Target="/ppt/media/image10.png" Id="R6921a43309ee4fbc" /><Relationship Type="http://schemas.openxmlformats.org/officeDocument/2006/relationships/notesSlide" Target="/ppt/notesSlides/notesSlide32.xml" Id="R296f5c7564c34c5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7df25923a44d0" /><Relationship Type="http://schemas.openxmlformats.org/officeDocument/2006/relationships/image" Target="/ppt/media/image111.png" Id="Rabf1b7d0979d4be4" /><Relationship Type="http://schemas.openxmlformats.org/officeDocument/2006/relationships/image" Target="/ppt/media/image112.png" Id="Rae54ebf28b394cb3" /><Relationship Type="http://schemas.openxmlformats.org/officeDocument/2006/relationships/image" Target="/ppt/media/image113.png" Id="R6ffe24fc6ca3439d" /><Relationship Type="http://schemas.openxmlformats.org/officeDocument/2006/relationships/notesSlide" Target="/ppt/notesSlides/notesSlide33.xml" Id="Rf108425a1f3143a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65130d6a34299" /><Relationship Type="http://schemas.openxmlformats.org/officeDocument/2006/relationships/image" Target="/ppt/media/image114.png" Id="R54cc7fe56b7c497e" /><Relationship Type="http://schemas.openxmlformats.org/officeDocument/2006/relationships/image" Target="/ppt/media/image115.png" Id="R6868f62d3898423d" /><Relationship Type="http://schemas.openxmlformats.org/officeDocument/2006/relationships/image" Target="/ppt/media/image2.jpeg" Id="R9f61176adc7a4dfc" /><Relationship Type="http://schemas.openxmlformats.org/officeDocument/2006/relationships/notesSlide" Target="/ppt/notesSlides/notesSlide34.xml" Id="R1615d53d1550400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e50a2e0a24606" /><Relationship Type="http://schemas.openxmlformats.org/officeDocument/2006/relationships/image" Target="/ppt/media/image116.png" Id="Re0cb2d54ca364ffc" /><Relationship Type="http://schemas.openxmlformats.org/officeDocument/2006/relationships/image" Target="/ppt/media/image117.png" Id="R57905681ce9f43b5" /><Relationship Type="http://schemas.openxmlformats.org/officeDocument/2006/relationships/image" Target="/ppt/media/image3.jpeg" Id="R4d52415a67f84e51" /><Relationship Type="http://schemas.openxmlformats.org/officeDocument/2006/relationships/notesSlide" Target="/ppt/notesSlides/notesSlide35.xml" Id="Rd09c43f3678d4d8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d78736fa6a4bb7" /><Relationship Type="http://schemas.openxmlformats.org/officeDocument/2006/relationships/image" Target="/ppt/media/image118.png" Id="Re5859631247c407f" /><Relationship Type="http://schemas.openxmlformats.org/officeDocument/2006/relationships/image" Target="/ppt/media/image119.png" Id="R71d63156c3094f2c" /><Relationship Type="http://schemas.openxmlformats.org/officeDocument/2006/relationships/image" Target="/ppt/media/image4.jpeg" Id="R7a861d1ad13e43d8" /><Relationship Type="http://schemas.openxmlformats.org/officeDocument/2006/relationships/notesSlide" Target="/ppt/notesSlides/notesSlide36.xml" Id="R5e2c3f7111ec4e1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18b4cbd8a4e30" /><Relationship Type="http://schemas.openxmlformats.org/officeDocument/2006/relationships/image" Target="/ppt/media/image120.png" Id="Ra2e81444ffbd4f9c" /><Relationship Type="http://schemas.openxmlformats.org/officeDocument/2006/relationships/image" Target="/ppt/media/image121.png" Id="R09a6ddeb97404413" /><Relationship Type="http://schemas.openxmlformats.org/officeDocument/2006/relationships/image" Target="/ppt/media/image5.jpeg" Id="R79bd15a2e12c4b13" /><Relationship Type="http://schemas.openxmlformats.org/officeDocument/2006/relationships/notesSlide" Target="/ppt/notesSlides/notesSlide37.xml" Id="R4fc732356d45467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1c130b95d45dc" /><Relationship Type="http://schemas.openxmlformats.org/officeDocument/2006/relationships/image" Target="/ppt/media/image122.png" Id="Rf4d07b2b91fb47e5" /><Relationship Type="http://schemas.openxmlformats.org/officeDocument/2006/relationships/image" Target="/ppt/media/image123.png" Id="R2a0d64cfa8f14998" /><Relationship Type="http://schemas.openxmlformats.org/officeDocument/2006/relationships/image" Target="/ppt/media/image124.png" Id="R33d7cf4998f54e7d" /><Relationship Type="http://schemas.openxmlformats.org/officeDocument/2006/relationships/notesSlide" Target="/ppt/notesSlides/notesSlide38.xml" Id="R3e8a4721dd5b400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bfa20b1f5427a" /><Relationship Type="http://schemas.openxmlformats.org/officeDocument/2006/relationships/image" Target="/ppt/media/image125.png" Id="R2fd1686f1eac4eaf" /><Relationship Type="http://schemas.openxmlformats.org/officeDocument/2006/relationships/image" Target="/ppt/media/image126.png" Id="Ra064146f83bd42ee" /><Relationship Type="http://schemas.openxmlformats.org/officeDocument/2006/relationships/image" Target="/ppt/media/image127.png" Id="R6a49bc25bf0a47b8" /><Relationship Type="http://schemas.openxmlformats.org/officeDocument/2006/relationships/notesSlide" Target="/ppt/notesSlides/notesSlide39.xml" Id="Re4d62ae165e640e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cab0f25a946fb" /><Relationship Type="http://schemas.openxmlformats.org/officeDocument/2006/relationships/image" Target="/ppt/media/image128.png" Id="R3fcaf0c3059b498a" /><Relationship Type="http://schemas.openxmlformats.org/officeDocument/2006/relationships/image" Target="/ppt/media/image129.png" Id="Rb3eb3810eea74d97" /><Relationship Type="http://schemas.openxmlformats.org/officeDocument/2006/relationships/image" Target="/ppt/media/image130.png" Id="R071a66a27a174d10" /><Relationship Type="http://schemas.openxmlformats.org/officeDocument/2006/relationships/notesSlide" Target="/ppt/notesSlides/notesSlide40.xml" Id="Rda3bf3992f2e46d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51d9c24804668" /><Relationship Type="http://schemas.openxmlformats.org/officeDocument/2006/relationships/image" Target="/ppt/media/image.png" Id="Rf1a11ccfc1124b84" /><Relationship Type="http://schemas.openxmlformats.org/officeDocument/2006/relationships/image" Target="/ppt/media/image2.png" Id="Rd51bc23f89034358" /><Relationship Type="http://schemas.openxmlformats.org/officeDocument/2006/relationships/image" Target="/ppt/media/image6.jpeg" Id="R78a792f700ea4b61" /><Relationship Type="http://schemas.openxmlformats.org/officeDocument/2006/relationships/notesSlide" Target="/ppt/notesSlides/notesSlide41.xml" Id="R80ff60978843460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68c8da6004892" /><Relationship Type="http://schemas.openxmlformats.org/officeDocument/2006/relationships/image" Target="/ppt/media/image.png" Id="R17c3e5a1b42d4bf4" /><Relationship Type="http://schemas.openxmlformats.org/officeDocument/2006/relationships/image" Target="/ppt/media/image2.png" Id="R9515c46de2734efc" /><Relationship Type="http://schemas.openxmlformats.org/officeDocument/2006/relationships/image" Target="/ppt/media/image131.png" Id="R96a8de32cd7f4c66" /><Relationship Type="http://schemas.openxmlformats.org/officeDocument/2006/relationships/notesSlide" Target="/ppt/notesSlides/notesSlide42.xml" Id="Rc906b88672ed401c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707394fd69345d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a1ec28b45245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82e4b764943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6936CBA4-3D01-40F9-8CE1-E9154BC8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PRAKTIKUM 3   |   120 MENIT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7A49C4D2-99FE-4307-9394-97B6B632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NETWORKING &amp; WEB SERVICES</a:t>
            </a:r>
            <a:endParaRPr sz="44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071DC71-B0EA-4547-87F9-F7DD9142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DOCKER COMPOSE, DNS, HTTP, PORT, TLS</a:t>
            </a:r>
            <a:endParaRPr sz="28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A2F71406-0178-4B5D-A938-4F3B5E13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Satu aplikasi tiga tier; amati dari browser dan terminal</a:t>
            </a:r>
            <a:endParaRPr sz="16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D4B5E729-2720-4D0C-80DC-0B7C1AD2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2171798-D8C6-4A64-8558-CF4C6B15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3  |  CODESPACES ATAU DOCKER LOKAL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BBD1C37-ACD2-4EFD-A423-4C33B84C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868D09F-64A5-4614-AE64-4695CD2C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025940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B9606B-141A-4588-A2EB-7FDB61EC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DC8E672-1CEC-43EA-AA9B-C18E9C97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2659A68-8509-446F-80A5-89022B62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15ed454ef644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051cd686248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8D3AFB4-0CB2-4860-B151-5FBB43DC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7341924-44BE-4CA7-8EAE-FE8DC069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Alur Praktikum 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6B47E2-C1A1-49C5-9C88-ADDCD603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Lima checkpoint pada aplikasi empat service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3143AAF-1A1E-4186-8B5C-C514B0A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DF92601-92EB-41DF-AAA9-D1FBE914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YANG AKAN DIPELAJARI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Network Tools</a:t>
            </a:r>
            <a:endParaRPr sz="1100"/>
          </a:p>
        </p:txBody>
      </p:sp>
      <p:pic>
        <p:nvPicPr>
          <p:cNvPr id="4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2f47ba7954a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CDE2973-BE76-415D-966D-9F3D045C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Stack: web, API, database, toolbox</a:t>
            </a:r>
            <a:endParaRPr sz="1100"/>
          </a:p>
        </p:txBody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1841b5aec45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6440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02FEFBBC-768D-4C02-91E8-934853D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17296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DNS dan rute antarkontainer</a:t>
            </a:r>
            <a:endParaRPr sz="1100"/>
          </a:p>
        </p:txBody>
      </p:sp>
      <p:pic>
        <p:nvPicPr>
          <p:cNvPr id="5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8483e8705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831336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C458BE4F-BB05-4915-B1D6-401A0480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39896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HTTP 200/201/404/400 lewat nginx</a:t>
            </a:r>
            <a:endParaRPr sz="1100"/>
          </a:p>
        </p:txBody>
      </p:sp>
      <p:pic>
        <p:nvPicPr>
          <p:cNvPr id="5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e3a0b91d9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398264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6E73F4E1-947C-4B94-A057-E36F94B4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824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Audit port host dengan nc dan nmap</a:t>
            </a:r>
            <a:endParaRPr sz="1100"/>
          </a:p>
        </p:txBody>
      </p:sp>
      <p:pic>
        <p:nvPicPr>
          <p:cNvPr id="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26e53d9d143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96519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94A67003-F7F9-4CF7-9CCA-9CF6223A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73752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TLS, sertifikat, dan segmentasi jaringan</a:t>
            </a:r>
            <a:endParaRPr sz="1100"/>
          </a:p>
        </p:txBody>
      </p:sp>
      <p:pic>
        <p:nvPicPr>
          <p:cNvPr id="5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e110c373446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532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4EE02478-4220-4492-BA03-5BD39D0F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406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Healthcheck dan uji ulang</a:t>
            </a:r>
            <a:endParaRPr sz="1100"/>
          </a:p>
        </p:txBody>
      </p:sp>
      <p:sp>
        <p:nvSpPr>
          <p:cNvPr id="24" name="Shape 14">
            <a:extLst xmlns:a="http://schemas.openxmlformats.org/drawingml/2006/main">
              <a:ext uri="{FF2B5EF4-FFF2-40B4-BE49-F238E27FC236}">
                <a16:creationId xmlns:a16="http://schemas.microsoft.com/office/drawing/2014/main" id="{5DA1A6AF-05EC-4335-B625-7413C31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48B26813-F3BF-4F24-A189-54B0782B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KONTRIBUSI KE PROYEK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Jaringan dan TLS</a:t>
            </a:r>
            <a:endParaRPr sz="1100"/>
          </a:p>
        </p:txBody>
      </p:sp>
      <p:sp>
        <p:nvSpPr>
          <p:cNvPr id="26" name="Text 16">
            <a:extLst xmlns:a="http://schemas.openxmlformats.org/drawingml/2006/main">
              <a:ext uri="{FF2B5EF4-FFF2-40B4-BE49-F238E27FC236}">
                <a16:creationId xmlns:a16="http://schemas.microsoft.com/office/drawing/2014/main" id="{3B555A6D-5C7B-46FE-AD17-9F5F0625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Diagram request antar tier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DNS, HTTP, port, dan TLS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Catatan opsional; tidak ada submit Lab 03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sz="1200"/>
          </a:p>
        </p:txBody>
      </p:sp>
      <p:sp>
        <p:nvSpPr>
          <p:cNvPr id="27" name="Shape 17">
            <a:extLst xmlns:a="http://schemas.openxmlformats.org/drawingml/2006/main">
              <a:ext uri="{FF2B5EF4-FFF2-40B4-BE49-F238E27FC236}">
                <a16:creationId xmlns:a16="http://schemas.microsoft.com/office/drawing/2014/main" id="{91933BAD-CE08-4D16-9E96-E3AE75B4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1A3BD9ED-C8EB-49B5-BB26-DA908961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Tim 3 orang: checkpoint minggu 7, final minggu 14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171912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E0E03-322A-40B3-BE6E-2791DAEB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B020D49-32DD-4844-A08B-3E3D203A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2573614-F73A-4FFC-BAAB-AAB6E73A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0c1dace0649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735afd22c4f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829E599-92A0-47BD-8E1E-87140F89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D3FB64B-A3EE-407B-8FC9-8481F8CB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Aplikasi jaringan dan prasyarat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D145DED-9130-4B48-AAF8-C4F43C47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Kita menelusuri request browser sampai database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34F2DE1-1633-4D8B-A96D-7704A404A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1B29CD7-96D9-4F93-85FC-AE857EB1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Mengapa Perlu Dikuasai?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B2D9A7A-9B81-4270-8F69-98616197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87d98e25f42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5C7804A1-EC63-4BB3-B07D-AD34E371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05740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DNS service</a:t>
            </a:r>
            <a:endParaRPr sz="11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26FD7E1-0A41-4FBE-A9BA-D7B8BE08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304288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web, api, dan db memakai nama service Docker</a:t>
            </a:r>
            <a:endParaRPr sz="9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CD2D4936-6894-4D19-A0FA-BA7D36F2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dbfb15ba34f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7432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16E385F4-270C-4E62-91CA-919B0E52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9748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Port host</a:t>
            </a:r>
            <a:endParaRPr sz="11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A7864DC4-6093-4D80-84A9-7014DCFC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944368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Bandingkan port publik dengan port internal</a:t>
            </a:r>
            <a:endParaRPr sz="9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B663D212-75DC-494E-B6C6-F6730E11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c936656dc4d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832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B674D092-4186-4009-B513-D7CA03B1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33756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Koneksi DB</a:t>
            </a:r>
            <a:endParaRPr sz="11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90564A9F-1F18-43CB-ADC9-9FAE8DE0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584448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API mengakses db lewat jaringan data</a:t>
            </a:r>
            <a:endParaRPr sz="95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5067284B-E940-47DA-AFF7-F81FB68F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f4ec7ac194b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0233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86B25C9C-EFB8-4A19-8D6B-C576BFFC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7764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Reverse proxy</a:t>
            </a:r>
            <a:endParaRPr sz="11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4E876D54-0BC4-4D2C-9AE1-68FA35FD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24528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nginx meneruskan /api/ ke Node.js</a:t>
            </a:r>
            <a:endParaRPr sz="95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8FD08973-064B-4F44-87A0-21EFE439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2e19b090b46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634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92B49F44-70C1-45FB-8991-59C95BE4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61772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TLS dan batas akses</a:t>
            </a:r>
            <a:endParaRPr sz="110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C0669E64-FF7D-4923-A617-319753AB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864608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HTTPS di web; API dan DB tetap internal</a:t>
            </a:r>
            <a:endParaRPr sz="950"/>
          </a:p>
        </p:txBody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DD0817E4-2241-42E9-844C-A123537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9a7627b4547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3035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5EE1D6B8-5418-40BD-8889-E90EBE77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257800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end to end</a:t>
            </a:r>
            <a:endParaRPr sz="110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DB44A10D-FB9E-440E-B888-240011C8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504688"/>
            <a:ext cx="4480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Browser, toolbox, Compose, dan smoke saling cocok</a:t>
            </a:r>
            <a:endParaRPr sz="950"/>
          </a:p>
        </p:txBody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45F83BF9-B172-4E11-91C4-5C2F21E5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85A4661E-59CF-41B1-9DE1-4257209A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Prasyarat</a:t>
            </a:r>
            <a:endParaRPr sz="1400"/>
          </a:p>
        </p:txBody>
      </p:sp>
      <p:pic>
        <p:nvPicPr>
          <p:cNvPr id="10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ed0b737104b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03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9" name="Text 28">
            <a:extLst xmlns:a="http://schemas.openxmlformats.org/drawingml/2006/main">
              <a:ext uri="{FF2B5EF4-FFF2-40B4-BE49-F238E27FC236}">
                <a16:creationId xmlns:a16="http://schemas.microsoft.com/office/drawing/2014/main" id="{2814D8BF-84C6-4AE6-A746-9174BF05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2996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Folder repo Lab 03 di laptop</a:t>
            </a:r>
            <a:endParaRPr sz="1100"/>
          </a:p>
        </p:txBody>
      </p:sp>
      <p:sp>
        <p:nvSpPr>
          <p:cNvPr id="40" name="Text 29">
            <a:extLst xmlns:a="http://schemas.openxmlformats.org/drawingml/2006/main">
              <a:ext uri="{FF2B5EF4-FFF2-40B4-BE49-F238E27FC236}">
                <a16:creationId xmlns:a16="http://schemas.microsoft.com/office/drawing/2014/main" id="{DCA5937D-DEBE-41DC-8C65-8D2E2688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428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Desktop dengan Linux Engine</a:t>
            </a:r>
            <a:endParaRPr sz="950"/>
          </a:p>
        </p:txBody>
      </p:sp>
      <p:pic>
        <p:nvPicPr>
          <p:cNvPr id="109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b04a434bb4f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7432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2" name="Text 30">
            <a:extLst xmlns:a="http://schemas.openxmlformats.org/drawingml/2006/main">
              <a:ext uri="{FF2B5EF4-FFF2-40B4-BE49-F238E27FC236}">
                <a16:creationId xmlns:a16="http://schemas.microsoft.com/office/drawing/2014/main" id="{858BF014-F8AB-4D1C-8423-0F176AA8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7004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Docker Compose aktif</a:t>
            </a:r>
            <a:endParaRPr sz="1100"/>
          </a:p>
        </p:txBody>
      </p:sp>
      <p:sp>
        <p:nvSpPr>
          <p:cNvPr id="43" name="Text 31">
            <a:extLst xmlns:a="http://schemas.openxmlformats.org/drawingml/2006/main">
              <a:ext uri="{FF2B5EF4-FFF2-40B4-BE49-F238E27FC236}">
                <a16:creationId xmlns:a16="http://schemas.microsoft.com/office/drawing/2014/main" id="{519F03C6-BA5D-4E67-8316-3A28BF5A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4436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Tunggu Engine running sebelum Compose</a:t>
            </a:r>
            <a:endParaRPr sz="950"/>
          </a:p>
        </p:txBody>
      </p:sp>
      <p:pic>
        <p:nvPicPr>
          <p:cNvPr id="112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65990180541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3832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5" name="Text 32">
            <a:extLst xmlns:a="http://schemas.openxmlformats.org/drawingml/2006/main">
              <a:ext uri="{FF2B5EF4-FFF2-40B4-BE49-F238E27FC236}">
                <a16:creationId xmlns:a16="http://schemas.microsoft.com/office/drawing/2014/main" id="{2C90D7F6-C1AA-408C-B8CA-E15651C1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012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Terminal Bash</a:t>
            </a:r>
            <a:endParaRPr sz="1100"/>
          </a:p>
        </p:txBody>
      </p:sp>
      <p:sp>
        <p:nvSpPr>
          <p:cNvPr id="46" name="Text 33">
            <a:extLst xmlns:a="http://schemas.openxmlformats.org/drawingml/2006/main">
              <a:ext uri="{FF2B5EF4-FFF2-40B4-BE49-F238E27FC236}">
                <a16:creationId xmlns:a16="http://schemas.microsoft.com/office/drawing/2014/main" id="{3324FB37-F936-4B11-9B56-28B255F1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444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Windows lokal: Git Bash atau WSL</a:t>
            </a:r>
            <a:endParaRPr sz="950"/>
          </a:p>
        </p:txBody>
      </p:sp>
      <p:pic>
        <p:nvPicPr>
          <p:cNvPr id="11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630d8a9745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0233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8" name="Text 34">
            <a:extLst xmlns:a="http://schemas.openxmlformats.org/drawingml/2006/main">
              <a:ext uri="{FF2B5EF4-FFF2-40B4-BE49-F238E27FC236}">
                <a16:creationId xmlns:a16="http://schemas.microsoft.com/office/drawing/2014/main" id="{62C6542C-A3E3-4C43-9C86-870F3D17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5020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student.json</a:t>
            </a:r>
            <a:endParaRPr sz="1100"/>
          </a:p>
        </p:txBody>
      </p:sp>
      <p:sp>
        <p:nvSpPr>
          <p:cNvPr id="49" name="Text 35">
            <a:extLst xmlns:a="http://schemas.openxmlformats.org/drawingml/2006/main">
              <a:ext uri="{FF2B5EF4-FFF2-40B4-BE49-F238E27FC236}">
                <a16:creationId xmlns:a16="http://schemas.microsoft.com/office/drawing/2014/main" id="{5767B9D4-A5F0-4A38-B577-14214976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2452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Isi nama, kelas, username GitHub tanpa NIM</a:t>
            </a:r>
            <a:endParaRPr sz="950"/>
          </a:p>
        </p:txBody>
      </p:sp>
      <p:pic>
        <p:nvPicPr>
          <p:cNvPr id="118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b0ab3317249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6634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1" name="Text 36">
            <a:extLst xmlns:a="http://schemas.openxmlformats.org/drawingml/2006/main">
              <a:ext uri="{FF2B5EF4-FFF2-40B4-BE49-F238E27FC236}">
                <a16:creationId xmlns:a16="http://schemas.microsoft.com/office/drawing/2014/main" id="{491C018B-CBE5-4E3D-8328-3D551546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9028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Target pemindaian</a:t>
            </a:r>
            <a:endParaRPr sz="1100"/>
          </a:p>
        </p:txBody>
      </p:sp>
      <p:sp>
        <p:nvSpPr>
          <p:cNvPr id="52" name="Text 37">
            <a:extLst xmlns:a="http://schemas.openxmlformats.org/drawingml/2006/main">
              <a:ext uri="{FF2B5EF4-FFF2-40B4-BE49-F238E27FC236}">
                <a16:creationId xmlns:a16="http://schemas.microsoft.com/office/drawing/2014/main" id="{CFDB3898-59E9-4BAE-B666-08FC6FA3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6460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Pindai hanya service lab milik Anda</a:t>
            </a:r>
            <a:endParaRPr sz="950"/>
          </a:p>
        </p:txBody>
      </p:sp>
      <p:pic>
        <p:nvPicPr>
          <p:cNvPr id="121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1b8ecdfa244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3035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4" name="Text 38">
            <a:extLst xmlns:a="http://schemas.openxmlformats.org/drawingml/2006/main">
              <a:ext uri="{FF2B5EF4-FFF2-40B4-BE49-F238E27FC236}">
                <a16:creationId xmlns:a16="http://schemas.microsoft.com/office/drawing/2014/main" id="{32D32B6D-1DB1-46C1-9278-0BE25DA2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036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Panduan utama</a:t>
            </a:r>
            <a:endParaRPr sz="1100"/>
          </a:p>
        </p:txBody>
      </p:sp>
      <p:sp>
        <p:nvSpPr>
          <p:cNvPr id="55" name="Text 39">
            <a:extLst xmlns:a="http://schemas.openxmlformats.org/drawingml/2006/main">
              <a:ext uri="{FF2B5EF4-FFF2-40B4-BE49-F238E27FC236}">
                <a16:creationId xmlns:a16="http://schemas.microsoft.com/office/drawing/2014/main" id="{D5459476-5F4C-41B9-9DBE-BF14A47E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0468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Ikuti MODUL_MAHASISWA.md dan README repo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423761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52C499E-689A-4D93-A740-05A1124A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6719BC8-699B-4A94-B87B-339B5DCE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4DFD2A3-F6D4-4F0E-B181-2D2B93E7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22CFDD0-9948-4E17-A7D1-826907BE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755AC4F-F209-44FC-ABCD-A4FD2CF9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1ED8FA1-2F98-4007-8F04-23366005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10B514D-992E-45E2-97B3-E49210A5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ab4b25ce140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73756e8b743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72EE3B5-30EB-41E4-AF85-9D01629A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97234F7-650E-4559-8404-D7F836F79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Jalankan stack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empat service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E1051DE-1D04-4388-AF37-25E074F5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6A3ACDD-6C84-4465-8400-AD5616CB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Repo lokal, Docker Desktop, Compose, dan web port 8080.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1177001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FA2A7F-7216-4546-B0CD-BED96DB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84F47D-A206-4373-AFF9-D6BC825D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27F6084-0AB2-417D-AA5D-3472C736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6d0577317141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5c6c6932947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C13818A-36D4-4B38-A2B3-C81B5FDA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C1A8C6D-F6E7-40FD-AC93-5067DBB6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Buka repo dan jalankan Compose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F563FE8-6129-4935-8330-22B8D2ED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Alat jaringan sudah tersedia di container toolbox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EE3C4DC-6CFD-4D1D-8CFD-2E4046D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870EF84-5419-4DF8-9D0D-3BB649C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45A20B2-A7EF-47D7-B5DE-03398D24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E4BDA1C-0E1E-4677-AC26-D75229E3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8B7CA1D-D094-4DC3-A906-27645B5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BCC31DA-9D47-40B5-B927-B7DF9F4D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Lokal Windows: Docker Desktop + Git Bash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330DFF7-8558-4192-A064-530DE866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Buka root repo di VS Code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Pilih terminal Git 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Tunggu Docker Engine running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version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config -q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up -d --build --wait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ps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bash tests/smoke.sh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Browser: http://localhost:8080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Hasil: smoke 12 PASS, 0 FAIL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F47C6C59-E11E-4AA4-9517-9C568198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8EDF788-3004-4B82-8CFF-EFBE1327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EF849DA-FB09-41E9-85A4-040CB2EA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F40B865-E438-44EC-9575-9ABEDC57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9CC713F-7487-4266-8BAA-8C57A790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D5F5CE44-E86D-49C8-B2A4-32550A95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Alternatif: Codespaces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45C3604-5206-4725-B500-307644A7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Buka repo GitHub sendiri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Code &gt; Codespaces &gt; Create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Tunggu devcontainer siap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version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config -q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up -d --build --wait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ps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Buka Ports 8080 di browser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Jalur lokal tidak perlu Codespaces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Catatan/screenshot bersifat opsional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486612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419AB6-7F24-4D81-AB12-3DC3346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2F8A74D-192F-40B8-B2E5-5163BC11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1142021-9E32-4BE1-A082-F79F9A46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f4c5b59f54e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e4a063edf94c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99B94A4-B65A-4B4F-95BD-8BA95C25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B4172D3-BD68-463B-A47B-AAC8E78C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Verifikasi stack dan alat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83F891F-5785-4274-AC87-13B5F9DB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Baca health, port, smoke, lalu masuk toolbox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7DE3F97-FDBE-4270-BF39-4463CF36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BB8CF64-15BB-4402-A8BE-95E2FB1A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EBC0A246-2D59-4A3C-A0B4-B88A5078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D2C0522-6CD4-4A09-B8D8-30A29BB8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1D6F3466-631E-419C-8572-3A732D7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0DAD0D7-EF0C-4D0C-A7B6-DA9A5028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Jalankan dari root repo mahasiswa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A538274-D5BD-476D-87FB-AD10DE87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ps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web/api/db healthy; toolbox running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Starter: web 8080, api 3000, db 5432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bash tests/smoke.sh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Acuan: 12 PASS, 0 FAIL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bash tests/test_student.sh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Isi student.json jika masih contoh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dig +short web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curl -i http://web/api/health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nmap --version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openssl version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exit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 dan durasi dapat berubah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51338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E437B6-6C47-4742-A631-0538C0C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0BC0D7D-28A3-489B-812F-95EDFFC4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7B3B52-F25D-463B-AAA8-B5DF565C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40CE115-CC14-4DAD-A7C4-0F660CF5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5533E7C-66EC-491D-BE71-D0BF7F43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83039C9-A9C5-426B-9A50-74894634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801EB04-EC0C-436B-A10F-8DE0A3AF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f8d3b4e544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b798b438b94c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F3889EC-233C-4AB3-BE46-4CF76BF8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E22DAA4-667E-44E8-8E97-87F4E1BA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DNS internal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Docker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D39782E-7FFE-41C0-A519-617DC55C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07BCB58-B773-46B5-B01C-CDAE345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Nama web, api, dan db di jaringan Compose.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81448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D030E9C-1ECC-4DA7-8F4E-0550FA97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05811E1-A394-4B02-9972-E40F02AF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1C149CD-DB75-4F7B-8EA3-95230317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d62a6dfb5e4b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a760e570549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3BA1422-8788-424F-8B62-22B77B18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C50CB18-0AF8-413A-AB29-E2CF9891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Checkpoint 2 - DNS dengan dig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459A3C5-F195-4603-95F0-0A6B339B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Nama service berubah menjadi alamat IP internal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D04B126-B670-41A9-A53C-8CF7B079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F4C4AE0-F677-4A3B-ABB5-D9E7D66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EF99A9C-016C-4274-98B1-52F20C88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1B7BC39-66C9-48D6-8841-6ACCA8D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7EC191A-A3F1-4AC0-86B9-E7EFDE12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559F95A-D9B3-483B-ADF5-4B05B1D14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Jalankan dari toolbox, bukan terminal host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2AB25B0-884A-4E07-AC26-78627627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dig web A +short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 web pada jaringan Docker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nslookup api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Name: api; Address: IP jaringan app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getent hosts db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db pada jaringan data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Baca: nama service dan IP yang muncul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 dapat berubah setiap run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localhost di toolbox = toolbox sendiri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7338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2773423-5902-4811-9F52-80470ED8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3586632-C6BE-4C48-9006-FA3C82E2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D59298-8FA7-4353-8AB5-0DFE95A2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1eb72c729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648df96e040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B4670AD-EACD-43B4-AEE6-EC24104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4F6F02A-F812-417B-83B2-5AD08294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DNS service dan record publik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34C90CB-F1CB-4DFB-A137-A8DF8ABD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Lab memakai nama service; MX/NS/TXT tetap konsep DNS domain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C6AD130-3D2B-4986-883B-CCE32375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8495B93-0CB8-4780-B0B7-C3AF4384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32ABEFD-0762-4E32-8DA1-634E48E8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A8D0956-DB81-4460-9018-37413586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3BB1918-6C78-4A91-AB12-51C7F8FD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0C985AD-8140-4640-979E-873AADA6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Bandingkan nama service pada Compose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C2DDCEC-F232-4EE9-AB7B-922EC5A7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dig web A +short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 web pada edge/app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dig api A +short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 API pada app/data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getent hosts db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 db pada data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Setiap service bisa punya lebih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dari satu alamat menurut jaringan.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Jangan menyalin IP sebagai konfigurasi.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CNAME, MX, NS, dan TXT di kanan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berlaku untuk domain publik; teori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ini membantu deploy berikutnya.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38829F45-DCBC-4CC0-98CD-F900A883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BBBDF38D-B7A9-405C-959C-4FF4F3F9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Record domain publik - teori</a:t>
            </a:r>
            <a:endParaRPr sz="14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2EE0B68-C272-4E24-99FF-7D85B44C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3016378-6F81-4A37-8C81-50E94CE0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822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D3E66B8-AF33-4BF5-94E7-586FE712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822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</a:t>
            </a:r>
            <a:endParaRPr sz="1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E8A3AA80-1845-4DEE-8CE8-08509CA0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5740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IPv4 address (paling sering dipakai)</a:t>
            </a:r>
            <a:endParaRPr sz="10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851BE24D-54F7-4D23-8873-0489D671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032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D8577AF2-6ABC-42F6-B75E-57F98D4F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0320"/>
            <a:ext cx="822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311B9813-659E-4011-ABFD-91FE4950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60320"/>
            <a:ext cx="822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AAAA</a:t>
            </a:r>
            <a:endParaRPr sz="12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CA2F90-DA24-4801-B0F8-7AC53BB8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5603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IPv6 address (modern fallback)</a:t>
            </a:r>
            <a:endParaRPr sz="10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C737736D-058C-4091-86E8-E3942AFC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DCC9FCDA-4A13-4802-905F-33406E0E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822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8C9977B2-A4B0-433B-A6CC-C598D374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63240"/>
            <a:ext cx="822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CNAME</a:t>
            </a:r>
            <a:endParaRPr sz="12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C194B10E-E649-4EFB-85F5-094248BF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0632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Alias - 'www.x.com' -&gt; 'x.com'</a:t>
            </a:r>
            <a:endParaRPr sz="10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7B3E529-FDF8-4F66-A680-305CEB82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616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DF1DC3A-13CB-47DF-8698-AC2BC8AF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6160"/>
            <a:ext cx="822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4349250A-70BE-44BC-BEC2-32611D1E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6160"/>
            <a:ext cx="822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MX</a:t>
            </a:r>
            <a:endParaRPr sz="12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769CF69-67E5-437C-8B3B-B87D13F8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56616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Mail server (priority + hostname)</a:t>
            </a:r>
            <a:endParaRPr sz="10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B432B5A1-9F26-49AC-B0B9-21426923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B721CCAF-8500-422B-95B4-15EEFB62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822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80660339-24E9-4DDC-988A-17BF854D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822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NS</a:t>
            </a:r>
            <a:endParaRPr sz="12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E3FA012-741A-4A58-95A9-CA498FC3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06908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Name server (yang manage zona)</a:t>
            </a:r>
            <a:endParaRPr sz="10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AFDCFA44-EBE6-491F-BE23-D5592310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7DAA9CF5-F623-4F65-A2D8-0B157AC6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822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53458867-CBB1-450B-881B-5A46F4E5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822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TXT</a:t>
            </a:r>
            <a:endParaRPr sz="12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E65F329-6AC4-4CDA-BEB4-26797F7F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457200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Text - verify, SPF email, DKIM</a:t>
            </a:r>
            <a:endParaRPr sz="10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4994FAFD-01E9-4CEE-88BD-6A3F63B3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7492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55F9C24E-B8D3-48CA-8949-A5F21531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74920"/>
            <a:ext cx="822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03D200AF-6C1E-425E-8047-B9265D8F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74920"/>
            <a:ext cx="822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SOA</a:t>
            </a:r>
            <a:endParaRPr sz="12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E66BA2A0-C68F-4A60-994D-9F9CFA28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Start of Authority - zone info</a:t>
            </a:r>
            <a:endParaRPr sz="100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F84119CB-0643-4F64-947C-CE66792E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77840"/>
            <a:ext cx="512064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B10315C2-18BE-4EA7-A810-9E90B581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77840"/>
            <a:ext cx="8229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D22B4FB7-C4B3-44E6-A129-B132F0E1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77840"/>
            <a:ext cx="822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PTR</a:t>
            </a:r>
            <a:endParaRPr sz="12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C2CFFC0F-9C01-4113-B1F5-A0DF1D0F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Reverse - IP -&gt; domain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972051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FB2A603-C223-46DE-AFD7-439DBA91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C373F45-BDEE-4578-9AD0-AE7249D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D852E3E-20A7-4B5A-A5FA-FCA43544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0233E45-2319-4327-8BF3-5EA9F7CF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9C58570-A7D8-4009-B20D-C4143CAA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CEF66E0-97B6-49A8-B753-ED30F633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24515DF-474B-4075-944B-114893B8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24b7e885f43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c629f3db140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DD2DF78-1C8F-4ED1-8A06-49EFDB3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644534C-4D6F-44C7-B724-C78BBA29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Konektivitas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antarkontainer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3B39C60-F8E9-4D09-A735-C972740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90DD88C-5806-4E18-BC9F-8FF8BE7B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Uji apakah service lab saling terjangkau.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31458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E12C146-6423-4CD3-903F-E6E40150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41F366-5565-40A4-BF2C-3BBEAE3F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7FC538-BB23-42D7-A92D-E05F2E4F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4abc990c547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6eda6febf47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3887AC4-8F94-4D99-9B1F-26C20F26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2029C42-A179-4070-8D19-A147DB0B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Checkpoint 2 - ping service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7B5D32E-45C2-4B01-8C4E-07342C1E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ICMP menguji keterjangkauan nama service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8967F25-1DA2-4AC5-A27E-BCF06196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56216A1A-5D43-4EFC-A3B2-9A083AC3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F173E14-E988-455F-9D56-D9F217EB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6C0EACC-0C65-49E2-BF0D-66A98AC7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179F01D-E5A6-434D-B6D4-7E337D59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9879773-6995-4322-933B-93709052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Kirim tiga echo ke web dari toolbox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25D78DA-3E30-421E-BBDD-C9053878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ping -c 3 web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PING web (&lt;IP Docker&gt;)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64 bytes from web: time=&lt;RTT&gt; ms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...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3 packets transmitted, 3 received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0% packet loss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-c 3 berhenti otomatis.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Baca received dan packet loss.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IP/RTT dapat berubah.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Jika ICMP gagal, cek HTTP dengan curl.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Firewall dapat menolak ICMP walau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service HTTP tetap hidup.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C7FDDB4-5C6B-42EA-8853-8E769460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50D21971-0114-422F-A368-FE98AB0B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Cara Baca Hasil</a:t>
            </a:r>
            <a:endParaRPr sz="14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A9A661A-047E-43C7-BF37-D5A8F26C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BB7D276-258E-4215-9B89-75CD1BFB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D45408B-A0B6-44F1-8CE2-41BDAD48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0312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0% packet loss</a:t>
            </a:r>
            <a:endParaRPr sz="105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D2F6710A-D023-43A8-9864-C545509F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5000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Semua echo ke service diterima</a:t>
            </a:r>
            <a:endParaRPr sz="9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630CCAF0-299F-40D9-A705-B0B76433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748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B225CEAF-6042-452C-AFF6-D435A6E5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9748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21B4F5F-80D9-445B-8760-22447AE0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74320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RTT kecil</a:t>
            </a:r>
            <a:endParaRPr sz="105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1698FFA9-AA17-4901-A7A4-0ECC1861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9008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Jaringan container biasanya dekat</a:t>
            </a:r>
            <a:endParaRPr sz="95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C39EAE8B-3657-4913-ADB3-9007657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756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D33BD72C-B154-4A6A-ABBE-2FC574B7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3756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DFE369BC-F9A0-4988-AC07-FF48E8A0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8328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RTT berubah</a:t>
            </a:r>
            <a:endParaRPr sz="105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5EBD73B-FA14-46AF-835F-9A3A5048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3016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Ulangi; catat kondisi saat uji</a:t>
            </a:r>
            <a:endParaRPr sz="95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4CB7FFA7-BB9B-421A-BD6C-1CAAEB2B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7764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C72FE2D2-3463-40DA-8750-1C330E32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7764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72E247A0-DCB4-4C8B-92F7-C4A213A3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2336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Packet loss</a:t>
            </a:r>
            <a:endParaRPr sz="105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F03225CF-8014-43E4-8189-015312C2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7024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nama, jaringan, dan service</a:t>
            </a:r>
            <a:endParaRPr sz="95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42141FD0-30E9-4FF3-BFEB-119E7D07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11E8A5CC-BD81-41A4-887F-B93DC45B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725C64BE-DC9C-4AC6-B84B-8E13EF0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6344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HTTP berhasil</a:t>
            </a:r>
            <a:endParaRPr sz="105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1E75F13E-124B-406C-9A2A-4CF3BF0B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1032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Service dapat hidup walau ICMP diblokir</a:t>
            </a:r>
            <a:endParaRPr sz="95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F54869FF-2B15-4847-A92F-4C829DEA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0FFFCD52-3945-4FF7-9FCF-16ED72C2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5780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E4A493ED-E104-490D-9ABD-581B392C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0352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Nama gagal</a:t>
            </a:r>
            <a:endParaRPr sz="105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DD6BEAEC-8FDC-4993-A4E7-FDDEE664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5040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DNS internal dengan dig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0744496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FADFC0-D9D3-47DF-BFF9-FE5B62A7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C918FA2-B958-44E7-8BCF-F740B0FC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03BAD4-45D6-421C-8C00-4CC5A31F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d36c1cc8342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c05b2b8e84e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05F4A55-D84A-4C17-A91B-9EA64DDA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60A3EB1-2D2E-4327-8701-9672FC45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Checkpoint 2 - traceroute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3225A74-2229-4D1E-AC56-89120C01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Lihat hop menuju service web dalam jaringan Docker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AFECD17-D475-4A51-9BC9-8D96C188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CA77F99-4ACF-4621-A1AE-AECEA7E7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349997E-F1ED-4F64-B6FB-D06217D2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966FEC6-147F-48CD-ABB3-2603989C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17B2131-3700-4C58-98CA-FD86CD78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05DAB4C3-5B38-4A89-8711-23BBC222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Jalankan dari toolbox dan batasi lima hop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1F9E224-1C0B-477E-8F6D-4F73E3C0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traceroute -m 5 web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traceroute to web (&lt;IP Docker&gt;)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1  &lt;IP web&gt;  &lt;RTT&gt; ms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Tujuan: lihat hop antarkontainer.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-m 5 membatasi jumlah hop.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Hasil pada satu jaringan biasanya pendek.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Tanda * berarti hop tidak membalas.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Itu tidak otomatis berarti HTTP gagal.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Bandingkan dengan: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curl -i http://web/api/health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Status 200 menegaskan jalur aplikasi.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Catat hop yang muncul pada laporan.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 dan waktu bukan nilai tetap.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7988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1A5FDA0-7CAD-4DB5-B220-5C4305E3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75E4DE-C640-4060-B469-C16E705E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29AE0CE-13DD-4576-8145-A08C4E98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2154B56-610F-42A7-A270-8F8BE45F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8CBB73A-0D2D-44EB-9F93-C791D9BF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A4DDBAE-1C8A-4C95-95CF-D097379B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3E04C0C-5285-4142-A65A-19F006D1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f5a495a0247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310dce2bd43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A4355C0-A226-46B9-9E68-D9D00900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63ACCF0-7F22-46FC-9409-95D7B0A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 melalui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reverse proxy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2D2D8A0-C362-49C0-8546-B1F236CE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B9D050B-735D-41AE-9CDD-BFDB4914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Browser dan toolbox mengakses nginx, lalu API dan database.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8466117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83BEFBD-134C-4005-BFE5-B4EFC75C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CC019F-28F6-432C-937F-D5D02C96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FD0383B-7781-4EE0-89F8-BAAE326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438cee9e74c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493535dfa40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26F0BDE-5736-49A7-8800-684950DD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5C607C0-A298-45F8-AA6B-813C5D1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Checkpoint 3 - curl ke API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B5C139A-5E19-48DB-923E-987A12B7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Status, header, dan body memperlihatkan jalur request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FA3E58F-3BF7-46BB-B41A-80A473C6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0714B3B-EE0A-469E-8258-AE8A5E6D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A3CBEE9B-30A5-4A2D-9F59-7B687906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958FC73-D1CE-4ACB-A27E-91E9584C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95D02CDF-0A0D-4574-BC2A-0FE76BA2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BFD0FC0-468B-4C9A-B2F1-54498795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GET sehat dan resource tidak ada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64C5777-A025-4D0A-82EF-3C25DD2C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curl -i http://web/api/health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HTTP/1.1 200 OK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Body: status ok, db up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curl -i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http://web/api/notes/999999999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HTTP/1.1 404 Not Found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-i menampilkan header + body.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Bandingkan Server, status, JSON.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Gunakan nama web di toolbox,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bukan localhost laptop.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9C33170-62C0-4230-A200-282E7384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F0B8F61-521E-42D3-8600-4F6D9C8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EC506C5-76D2-444B-80D7-D14E9745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CA4D58B6-58F2-4867-B1B3-E657A27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21685C-57AC-4774-B1ED-BACE05D5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5588F862-39FC-443E-B521-3096627E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POST, header proxy, dan validasi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40CDE08-54F0-4390-B3DE-8885F85B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curl -i -X POST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http://web/api/notes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-H "Content-Type: application/json"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-d '{"text":"catatan lab"}'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HTTP/1.1 201 Created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Location: /api/notes/&lt;id&gt;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Body kosong/tidak valid memberi 400.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Bandingkan GET /api/whoami lewat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web dengan akses langsung ke api.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Header X-Forwarded-* berasal dari nginx.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Jangan menaruh token rahasia di slide.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548234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18B2EE4-9169-42B0-96FC-652058AC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DA6582-39E9-492D-829F-116861E2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3407629-C9E7-487B-A090-4C5FB140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5586bbad744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d33e45ff544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CB531B7-8D5F-438C-BAC3-4B914374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A4E4EA5-470A-4839-92EF-C640AD54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Checkpoint 3 - wget dan curl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C1789F7-BC18-4795-ABF7-898D3D0D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Keduanya membaca HTTP; curl -i memperlihatkan header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F00A972-DE82-4540-9F24-A3155F63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9466766-F926-4020-8C9F-759B695F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0687816D-7B59-495C-9E7A-0D172CEC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9CEDC1E-6B2D-4021-86E9-4675C2E9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9AE6B26-85C7-4E80-AA5E-0C2E2795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3EA7E2D-F160-44BD-A585-6B4DC00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Ambil JSON kesehatan dari web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78C0C56-06E4-405C-A591-5DC97964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wget -qO-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http://web/api/health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JSON: status ok, db up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curl -i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http://web/api/health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Header HTTP 200 + JSON body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-q: tenang, -O-: tampil ke terminal.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Jangan pakai wget -r pada lab ini.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Bandingkan isi body kedua alat.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Catat status dan host pada laporan.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16A4F3A9-E299-415C-BEB3-1415C369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8636562-D09E-48C4-A48B-991D1547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curl dan wget dalam lab</a:t>
            </a:r>
            <a:endParaRPr sz="14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726AC0F-4D5A-4928-8D64-C41F632B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12064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69FE97F-1889-4BB1-A264-2179A9E3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Case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61DACD87-F81D-4D52-B12F-921B1407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011680"/>
            <a:ext cx="1188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ED7AA"/>
                </a:solidFill>
                <a:latin typeface="Consolas"/>
                <a:ea typeface="Consolas"/>
                <a:cs typeface="Consolas"/>
              </a:rPr>
              <a:t>curl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A0E04EB-E8EC-4943-885E-FA0DE308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011680"/>
            <a:ext cx="1188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ED7AA"/>
                </a:solidFill>
                <a:latin typeface="Consolas"/>
                <a:ea typeface="Consolas"/>
                <a:cs typeface="Consolas"/>
              </a:rPr>
              <a:t>wget</a:t>
            </a:r>
            <a:endParaRPr sz="11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13C1D115-35D3-41DE-86E3-17209FAD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6888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031E699-7A92-4460-8B02-71AC1FB0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6888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Test API</a:t>
            </a:r>
            <a:endParaRPr sz="10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D3A7A32-A8E6-4D4A-80C6-15723DD7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46888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28643F89-6753-4C59-A2BC-41826E30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46888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[-]</a:t>
            </a:r>
            <a:endParaRPr sz="11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1161E058-3746-4A74-944B-193C0962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8036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9FA479B2-E629-4A04-BDAC-B022628A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8036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POST JSON</a:t>
            </a:r>
            <a:endParaRPr sz="105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7A4E956-1AFD-44EC-9A9B-493B7FF3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88036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36D5D18-89E4-417E-8A57-1969E995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288036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[-]</a:t>
            </a:r>
            <a:endParaRPr sz="11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17858C37-257B-48F1-85DC-9B20FF63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184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27485057-1B0B-4A91-A1F0-19FBD46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9184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Verbose debug</a:t>
            </a:r>
            <a:endParaRPr sz="105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3986B780-E20F-44AB-B4C8-960A83CA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2918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E247DB4D-0BF8-49B3-AF6F-B7516979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2918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[-]</a:t>
            </a:r>
            <a:endParaRPr sz="11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81579207-4DD0-40DB-9E04-02FBEAB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0332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FD764046-6904-4CEB-A641-AF5E14AC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0332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Download file</a:t>
            </a:r>
            <a:endParaRPr sz="105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FBC527BF-1629-49AF-816D-71319167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370332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[ok]</a:t>
            </a:r>
            <a:endParaRPr sz="11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52FDBA10-26EA-4129-A7F4-80D82142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370332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50AA3B18-FA70-43CC-A8C1-37E26138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C67F7151-9ECF-43EA-AD46-B8CE74EB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1480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Resume download</a:t>
            </a:r>
            <a:endParaRPr sz="105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E35894C5-DF4A-45F1-8115-AF9C5BB5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11480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[-]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B309F6DC-AB1A-43E5-B818-E505E261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11480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DC1CDDA5-DC12-402F-9644-52A5532B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2628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C76D0E57-FED8-4F0A-B98D-BD7C814F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52628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Mirror website</a:t>
            </a:r>
            <a:endParaRPr sz="105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6353B2B5-985E-455C-9C1C-2EA857FA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52628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[-]</a:t>
            </a:r>
            <a:endParaRPr sz="11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307A95B3-93E2-4202-AE8A-5F9D57D9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52628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4FD4EFEA-568B-4186-AE7A-78A55E9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776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D3647540-00D7-4567-AEAD-AF631F15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93776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Header auth</a:t>
            </a:r>
            <a:endParaRPr sz="105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324FAE20-525E-486A-951C-93F21653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93776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A8F2DF3A-871E-4F28-956E-3877A777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493776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[ok]</a:t>
            </a:r>
            <a:endParaRPr sz="1100"/>
          </a:p>
        </p:txBody>
      </p:sp>
      <p:sp>
        <p:nvSpPr>
          <p:cNvPr id="51" name="Shape 47">
            <a:extLst xmlns:a="http://schemas.openxmlformats.org/drawingml/2006/main">
              <a:ext uri="{FF2B5EF4-FFF2-40B4-BE49-F238E27FC236}">
                <a16:creationId xmlns:a16="http://schemas.microsoft.com/office/drawing/2014/main" id="{D397B88A-7102-43CD-AA69-C0168007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924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2" name="Text 48">
            <a:extLst xmlns:a="http://schemas.openxmlformats.org/drawingml/2006/main">
              <a:ext uri="{FF2B5EF4-FFF2-40B4-BE49-F238E27FC236}">
                <a16:creationId xmlns:a16="http://schemas.microsoft.com/office/drawing/2014/main" id="{E758E2B3-A475-433F-B3D4-8C359433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349240"/>
            <a:ext cx="2468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Toolbox lab</a:t>
            </a:r>
            <a:endParaRPr sz="1050"/>
          </a:p>
        </p:txBody>
      </p:sp>
      <p:sp>
        <p:nvSpPr>
          <p:cNvPr id="53" name="Text 49">
            <a:extLst xmlns:a="http://schemas.openxmlformats.org/drawingml/2006/main">
              <a:ext uri="{FF2B5EF4-FFF2-40B4-BE49-F238E27FC236}">
                <a16:creationId xmlns:a16="http://schemas.microsoft.com/office/drawing/2014/main" id="{CDF926B7-A1E6-4C83-AFAC-45176F80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5349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54" name="Text 50">
            <a:extLst xmlns:a="http://schemas.openxmlformats.org/drawingml/2006/main">
              <a:ext uri="{FF2B5EF4-FFF2-40B4-BE49-F238E27FC236}">
                <a16:creationId xmlns:a16="http://schemas.microsoft.com/office/drawing/2014/main" id="{151501A7-D7AD-4E8F-990F-E7BBDBF2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5349240"/>
            <a:ext cx="1188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[v]</a:t>
            </a:r>
            <a:endParaRPr sz="1100"/>
          </a:p>
        </p:txBody>
      </p:sp>
      <p:sp>
        <p:nvSpPr>
          <p:cNvPr id="55" name="Shape 51">
            <a:extLst xmlns:a="http://schemas.openxmlformats.org/drawingml/2006/main">
              <a:ext uri="{FF2B5EF4-FFF2-40B4-BE49-F238E27FC236}">
                <a16:creationId xmlns:a16="http://schemas.microsoft.com/office/drawing/2014/main" id="{88CF2F83-3C7C-4CC3-AC39-7053BF75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60720"/>
            <a:ext cx="5120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6" name="Text 52">
            <a:extLst xmlns:a="http://schemas.openxmlformats.org/drawingml/2006/main">
              <a:ext uri="{FF2B5EF4-FFF2-40B4-BE49-F238E27FC236}">
                <a16:creationId xmlns:a16="http://schemas.microsoft.com/office/drawing/2014/main" id="{E593E3AE-76F5-4BB7-B9D7-990C1846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6072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Gunakan curl -i untuk header; wget -qO- untuk body JSON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829413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7056E2-FFED-4DE3-BB5A-179376BA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4CEBF5-B7A6-495A-9C3F-71567FE8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5E3D59C-93C9-4F12-B4C7-D9BD9192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62E7A31-4E96-4FEF-973F-8C367662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D901417-024F-44DE-8589-1AAEC3C6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8CE2493-8CF0-45F5-8FED-923BC005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93090A6-8DBD-4655-B5DB-D14784FC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797850fba346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c9d9841dc48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5C33B277-52F2-44AC-939D-9B8B98D4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B4C67AD-5001-4A85-92E3-3E469F12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Audit port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 lab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7B4D96A6-FB15-43FD-9458-D12671C0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60AD7AA-E646-424C-941C-5E141E8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Pindai hanya stack pribadi dan bandingkan sebelum/sesudah.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34410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6B332B-CE2E-4046-AA8C-19E97CA9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8E9D075-8870-4292-A23B-5EEF99B6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D202530-A432-47E4-A123-F57A71BB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0b3544c0c46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7007a8cb144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2B10DA7-299E-41AD-9C2B-BC6BE2DF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B18C9C6-5982-448E-89C9-B2C24C32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Checkpoint 4 - nc (netcat)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DCF79CE-B2CF-4DC5-A934-F857A018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Satu koneksi TCP menjawab apakah port terjangkau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4575130-EE82-4A5E-8912-94D143B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37E0780-08B4-4B85-8D3A-A068571C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84BE602-3B56-4E4F-94F6-BA213334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0D4E56F-B33D-4C45-84FA-F85B32FC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3FD6820-CB11-42B8-8727-4820E197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F7254A6-F6A2-419A-AA29-8F53C321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Jalankan dari toolbox pada target lab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737F28D-BA5B-4C47-A99B-D389904A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nc -vz -w 2 web 80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HTTP nginx internal: succeeded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nc -vz -w 2 api 3000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API internal: succeeded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t/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nc -vz -w 2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host.docker.internal 5432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Starter: DB masih dipublish ke host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t/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-z tanpa body, -v keluaran detail,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-w 2 timeout dua detik.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Sesudah perbaikan, host port 5432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tidak boleh terjangkau; koneksi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api -&gt; db tetap berjalan.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732264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2B7E842-1DA7-4576-80F6-08419E4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A5BE289-58FE-4FCC-AF81-57A3FD8C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F9854FB-1D80-4F6D-AA76-1CBC198C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24af82d63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9549ffb494a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38EFE68-730A-4F77-A5A0-1970FA96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327CF2D2-B1E2-4DCA-84E4-5018B81C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Checkpoint 4 - nmap lokal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7BB1AEC-1A63-4E40-AD4A-315114B0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Bandingkan port host awal dan target akhir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2CFA7EF-3F6B-4E93-B583-DB0B6F89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BF945595-2BFD-401A-99EC-B0C25DD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F17CD6CE-CB30-4A5C-9FAD-658416F7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28CF12D-189B-4BC1-A774-69BCD92E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72B43C25-D62C-422E-A1AC-DBD0AB2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D227F77-8F02-4B84-BACB-305539B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Pindai hanya host Docker milik Anda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5F13E88-D151-4DF1-8A54-FDB6B05C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nmap -sT -Pn -p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8080,3000,5432 host.docker.internal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Starter: ketiga port host open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-sT mencoba koneksi TCP.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-Pn tidak bergantung pada ping.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Setelah TLS + segmentasi: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nmap -sT -Pn -p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8080,8443,3000,5432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host.docker.internal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Hanya web 8080/8443 dipublish.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DD3500DD-6D78-42AF-9EC6-B392CC0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17BBE617-24E9-4FCF-9315-7C1674DA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74358898-43B2-4E0E-8321-C78614AA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BATAS PEMINDAIAN</a:t>
            </a:r>
            <a:endParaRPr sz="1300"/>
          </a:p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78aa50bd747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2860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7B31E024-F9E6-4CE4-89DF-B097D822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1284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Target lab sendiri</a:t>
            </a:r>
            <a:endParaRPr sz="1100"/>
          </a:p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ED8377CA-7160-488B-88E3-555A266B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8716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host.docker.internal dan service Compose</a:t>
            </a:r>
            <a:endParaRPr sz="950"/>
          </a:p>
        </p:txBody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30d5195d345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9260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3535267D-7A88-4CF3-AA21-7917B889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292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Jaringan internal</a:t>
            </a:r>
            <a:endParaRPr sz="11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10506088-DBF1-4393-B794-4B7F8E6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724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web, api, db punya port antarkontainer</a:t>
            </a:r>
            <a:endParaRPr sz="950"/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f7e4d3ee149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5661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881C66C6-148A-421D-B0E9-74E23365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9300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Port host awal</a:t>
            </a:r>
            <a:endParaRPr sz="11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41388958-9DA0-45E2-9D7F-47ECD453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6732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8080, 3000, 5432 pada starter</a:t>
            </a:r>
            <a:endParaRPr sz="950"/>
          </a:p>
        </p:txBody>
      </p:sp>
      <p:pic>
        <p:nvPicPr>
          <p:cNvPr id="7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7582eff9ec4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2062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760D27B9-5B06-4296-9A6D-EB29A687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3308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Port host akhir</a:t>
            </a:r>
            <a:endParaRPr sz="1100"/>
          </a:p>
        </p:txBody>
      </p:sp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2024D3A9-C53F-4789-8A34-AD388351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740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Hanya web 8080/8443</a:t>
            </a:r>
            <a:endParaRPr sz="950"/>
          </a:p>
        </p:txBody>
      </p:sp>
      <p:pic>
        <p:nvPicPr>
          <p:cNvPr id="7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90b24c18d41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48463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3" name="Text 24">
            <a:extLst xmlns:a="http://schemas.openxmlformats.org/drawingml/2006/main">
              <a:ext uri="{FF2B5EF4-FFF2-40B4-BE49-F238E27FC236}">
                <a16:creationId xmlns:a16="http://schemas.microsoft.com/office/drawing/2014/main" id="{9386FB23-5EB9-4814-9057-611B2056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316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Codespaces didukung</a:t>
            </a:r>
            <a:endParaRPr sz="1100"/>
          </a:p>
        </p:txBody>
      </p:sp>
      <p:sp>
        <p:nvSpPr>
          <p:cNvPr id="34" name="Text 25">
            <a:extLst xmlns:a="http://schemas.openxmlformats.org/drawingml/2006/main">
              <a:ext uri="{FF2B5EF4-FFF2-40B4-BE49-F238E27FC236}">
                <a16:creationId xmlns:a16="http://schemas.microsoft.com/office/drawing/2014/main" id="{A0F43033-E5EA-4116-B311-782496A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4748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Toolbox memuat nmap dan nc</a:t>
            </a:r>
            <a:endParaRPr sz="950"/>
          </a:p>
        </p:txBody>
      </p:sp>
      <p:pic>
        <p:nvPicPr>
          <p:cNvPr id="79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268369ee54c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54864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C7EB0A1A-774F-46BD-93BD-A2417C3D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3248"/>
            <a:ext cx="4663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Aturan kelas</a:t>
            </a:r>
            <a:endParaRPr sz="1100"/>
          </a:p>
        </p:txBody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744BFE38-A282-448B-839D-F2128B00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687568"/>
            <a:ext cx="4663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Pindai hanya stack milik Anda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18555061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052EB6E-4049-4486-B96C-BA087683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D743CAB-A711-4DF4-863A-457CC791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B711AAF-F495-499B-9EBB-F7FA7E54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5E1437B-96A5-4015-BEC2-0D56015F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3AF2C39-7636-4A38-A1D3-431BD154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7E0CE31-DB09-4348-B3F8-FF46B123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D5365C6-AECC-41DC-A7E2-E1F0C1C9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8e26885ca46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48338f50345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8ECFB9F-5EB1-4348-8C6F-9A696856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871930BE-88C6-49A1-AB73-C9F74B04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Jaringan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edge, app, data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AFCDF1F9-2EF9-418C-ACE2-B58EB75D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A500E27-9BDF-4DE1-88F1-C36C26B5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Pisahkan akses browser, API, dan database.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056838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AADB272-0067-4BA9-A3A1-9C3F3673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18D04D-F6F5-4041-A999-15D26D22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1EB4372-CA54-42AF-8D89-CC574CBA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49b134a874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8b5abcf484a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155FB4F-5506-4F26-A562-BEE0B8BD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E9ADB59-ECB4-4A79-AE1D-26419B0B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Jaringan Docker Compose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C974812-0D2D-4B6D-98E5-AC814566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web dan api berbagi app; api dan db berbagi data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D9996E7-713D-4878-AF44-FF2FB42A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3096CA5-B324-4EF0-873E-B3351EE4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7E32B62-E881-43D2-85D6-6969B487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BCF2E93-9B5A-4457-B63E-18CA120A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CD2058E-A27C-42FB-8191-82B0CC3C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6C212A9-B6D9-41FB-9D57-54234A47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Lihat jaringan yang dibuat Compose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4EC08D38-EBF8-4A26-A928-DA90012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network ls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Temukan jaringan lab edge/app/data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ps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Catat nama container web, api, db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network inspect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&lt;NAMA_JARINGAN_APP&gt;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Anggota: web dan api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network inspect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&lt;NAMA_JARINGAN_DATA&gt;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Anggota: api dan db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Nama jaringan punya prefix proyek.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Baca bagian Containers dan IPv4.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EC2733EE-3C32-43E9-B202-3AFD0AF8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0BB927A-AA21-46FC-A72D-099FF6E3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BA7AAC2-250D-4668-8949-6A174AC0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811BDF69-625E-4C75-AC69-A2B24A7A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1F5E60C-DEB4-41B9-B781-8C435300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0E874A4B-D2C8-4886-B858-0E944199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Jalur request dan batas jaringan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A36B27FD-2E87-49BC-BB7C-2290AA9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browser -&gt; web (port host 8080/8443)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web -&gt; api:3000 pada app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api -&gt; db:5432 pada data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web tidak perlu jaringan data.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Browser tidak mengakses DB langsung.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Verifikasi dari toolbox: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getent hosts web api db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IP dapat berbeda setiap run.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Pakai nama service di konfigurasi.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7530992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02126E1-8994-4D91-B24B-FB6D24CF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5CD5B0-3BF9-469F-A7EE-856E504E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FD4DEC9-A779-4937-975E-6EC973B6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40d167d544e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f713b9eb349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E121D1E-9C55-4EB3-BB65-A61A8ACA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4686F19-2F2B-4755-A61F-A19108F0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Checkpoint 5 - sertifikat TLS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17D7F1A-2317-46A7-A56B-69BD340B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Periksa identitas, masa berlaku, dan respons HTTPS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10B0694-F2EF-41A2-8ABB-5F309CC7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68E85AC-CD61-4B6D-BE7D-3D0C9509E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AC5A6A57-AE34-438D-8BAE-CF63DE1A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7926E2-F51A-4E83-A378-1160076E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F108C2A-E335-4D58-93F1-BA4BB746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4DF318D-A1EF-421E-A853-4E41C5D0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Sertifikat self-signed khusus lab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367341-A934-4E9A-86AD-1B8B9A41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bash scripts/make-cert.sh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cp web/nginx/https.conf.example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web/nginx/https.conf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Ubah Compose: hanya web 8080/8443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up -d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--force-recreate --wait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bash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openssl x509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-in /lab/web/certs/lab.crt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-noout -subject -dates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-ext subjectAltName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toolbox$ curl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--cacert /lab/web/certs/lab.crt \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https://web/api/health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toolbox$ exit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Hasil: HTTP 200, db up.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Browser dapat memperingatkan self-signed.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057859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9F9765-6D07-4C58-9E2D-315D264B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487D54D-37D8-48E0-868B-9672CD25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1A7128C-3FDF-48E3-8DDC-DC4E3A21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8A9DF-CE52-404D-BF35-9959E05A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258C9A8-527A-4DDB-8F5D-865DA4F8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B7529CA-F875-4550-A90F-99ECC23C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C04C446-55C2-4CBD-8036-17023AE0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9e02ecefd48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672bbc11f41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BB36435-53FF-4DA4-AD9E-A9D6506E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07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DFFEDF9-3361-43B2-AA5E-ABA4A3B5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Tantangan desain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dan healthcheck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DD16124-E484-453F-9D06-7242903A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E38170C-C7F9-4392-AFAC-4F22E40A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Aktifkan TLS, batasi port host, lalu penuhi lima fungsi TODO.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4984088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E838A0-60A1-48F8-B535-69AF0BBD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365BD4-E66B-4815-8BDD-424B9C16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A74A91C-3D10-4377-949C-D2BDE85F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adc7aea714a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e14f47bd6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FA1A04C-D006-4FAD-8B41-62C046C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136F82A-F0A8-4BCB-AEA9-6C0A0736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Tantangan - jaringan dan TLS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A5BDB09-1170-47A5-ACCF-0EF12AA6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Ubah konfigurasi, lalu cek service tetap saling terhubung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372FAF42-E5A3-49C1-9869-CFFCA609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D1468CF-F1F8-4A11-BFDF-FE47D073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E21C2F0-5198-400C-96EF-C8DD13BF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BB3CA42-8AAA-412E-B72D-CF0D137E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65E912FB-F002-4C4D-A1F3-26549013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47E58B3-0A81-4F34-9AF7-973494D7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Edit berkas dari root repo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3A3AA671-9661-43DF-9CBD-7546E094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1. Sertifikat lab self-signed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bash scripts/make-cert.sh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cp web/nginx/https.conf.example \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web/nginx/https.conf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2. Edit compose.yaml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web mem-publish 8080 -&gt; 80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web mem-publish 8443 -&gt; 443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api dan db tanpa ports host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web &lt;-&gt; api pada jaringan app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api &lt;-&gt; db pada jaringan data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web tidak perlu jaringan data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/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3. Terapkan perubahan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config -q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up -d \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--force-recreate --wait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Jangan commit web/certs/lab.key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861289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8E1D492-C5D2-435D-8544-A8C34860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8B87AF4-0385-40CD-872E-570AC24E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3DBF65C-CCDD-4D55-82B9-28DABCE6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7be3f1fe545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7f7ed43b84a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7F87646-FFEB-43DB-B234-D25EEA6F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C42F762-15DB-4DCF-AD52-4839627C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Tantangan - healthcheck dan tes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4796873-FE5C-449B-934A-1AA356FC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Lengkapi lima fungsi TODO; uji ulang sampai hijau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7179281-5034-4917-9C6B-F6D69FEA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C861185-341E-476A-9451-BF6BCA5C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F16F2FE-E167-4BDE-B9CB-D72DDB02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D57F151-0060-43F4-9027-677F479C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4D10E59-D580-4DF0-9D3A-C456EA81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816212E7-CC82-4CD5-9DDB-FDD32F93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Edit scripts/healthcheck.sh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3C62884-1C25-4E45-9AD2-386DBDCE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Lengkapi fungsi berikut: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check_dns()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check_tcp()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check_http()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check_tls()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check_exposure()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Cek DNS service dan TCP antartier.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Uji HTTP, sertifikat, port host.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Jangan salin kunci privat ke laporan.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/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exec toolbox \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  bash scripts/healthcheck.sh</a:t>
            </a:r>
            <a:endParaRPr sz="9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EB3B16A5-ACB3-49D1-8996-5CB98C09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2978646-5851-4C37-BF47-BBCAAECB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BAA9B3FB-A1F6-4DB7-A175-12FC4DA3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C449576-C1C9-44F1-A2A5-82B76ABD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6BFF14A-0FBD-4CF2-BC8A-1FC1FDC7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D9421696-A5BD-4842-9617-2C967C93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Jalankan ulang dan baca hasil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7445D1C-E419-421C-B6A5-77EEAD24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bash tests/smoke.sh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Acuan: 12 PASS, 0 FAIL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bash tests/challenge.sh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Starter sengaja merah.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Target selesai: 15 PASS, 0 FAIL.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docker compose ps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Hanya web publish host 8080/8443.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api dan db tetap healthy.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/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$ git status --short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  <a:defRPr sz="1200">
                <a:solidFill>
                  <a:srgbClr val="E6ECF5"/>
                </a:solidFill>
                <a:latin typeface="Consolas"/>
                <a:ea typeface="Consolas"/>
                <a:cs typeface="Consolas"/>
              </a:defRPr>
            </a:pPr>
            <a:r>
              <a:rPr sz="1200">
                <a:solidFill>
                  <a:srgbClr val="E6ECF5"/>
                </a:solidFill>
                <a:latin typeface="Consolas"/>
                <a:ea typeface="Consolas"/>
                <a:cs typeface="Consolas"/>
              </a:rPr>
              <a:t># Pastikan lab.key tidak terlacak.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256830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5C40F4-87A7-4E4B-A8A2-B8EDD808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2CD1EB-8EB3-4DFA-8926-2152CA47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C63E0A0-27BF-44C9-B431-D07620F4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5c746fd1041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fef91b61647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AF7FE06-22E0-45FB-B508-1C83DAAB6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0D69380-C359-476F-81BC-9A25DF8D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Laporan dan bukti di Git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2F69DFC-0BAF-4E9D-8A0A-2A6C0386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Salin hasil/TEMPLATE_LAPORAN.md menjadi hasil/lab03.md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87B41C9-F329-42D0-B414-690D2E63A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85E84EE-B483-460D-91D8-9196037D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C3C0727F-9413-47F6-B1FA-B743FD8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LAPORAN LAB 03 - JARINGAN &amp; WEB SERVICES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C7C0F84-6230-4134-B483-C9FAF68B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Nama dan kelas: ___________________________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7450925-50CE-4B62-A94B-5C2B5071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01168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Username GitHub: ________________________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2E25168-E7EF-4148-97F0-79F922A9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1. Stack dan jalur request</a:t>
            </a:r>
            <a:endParaRPr sz="12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80F63F9-9B02-4B7C-949F-C1B91F87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Repo: __________  web/api/db healthy? ____  smoke: ____ PASS / ____ FAIL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E8723F4C-E8F3-4237-9422-995959DB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2. DNS dan konektivitas</a:t>
            </a:r>
            <a:endParaRPr sz="12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1852561-4300-417A-850C-B39E3206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IP service: web ____ api ____ db ____  ping loss ____  hop ____</a:t>
            </a:r>
            <a:endParaRPr sz="10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4AB61E-CB0F-4695-9523-5AF99EE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3. HTTP, port, dan TLS</a:t>
            </a:r>
            <a:endParaRPr sz="12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5D314FCF-6546-40AE-81DE-AD03D43F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7764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GET 200/404: ____  POST 201/400: ____  port awal/akhir: __________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F8F940DA-F159-4515-981E-81328DAF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4. Analisis desain</a:t>
            </a:r>
            <a:endParaRPr sz="12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27395635-E899-40ED-8F24-16683AAB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61772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Mengapa API/DB tidak perlu port host? Bagaimana nginx meneruskan request?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DA7BF6D-02EB-4839-81B8-74FAC319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_______________________________________________________________</a:t>
            </a:r>
            <a:endParaRPr sz="10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E5DC86CA-9A06-4591-A162-1AAFE02F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_______________________________________________________________</a:t>
            </a:r>
            <a:endParaRPr sz="1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787FFDA2-C7E4-4A84-9F6B-D9EE4B7E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44068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_______________________________________________________________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06242CB-7871-4310-9057-D3EE7891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52160"/>
            <a:ext cx="10972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Lampiran: screenshot pribadi di hasil/bukti/lab03/ dan commit Git.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8173568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56F44F-0F35-440E-8949-3EED359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39623D-9FCC-4076-9CE5-90E5DC0F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DB1F7C-FAD9-4BE5-91C3-DB91AB38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7280fff804b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794ae7af740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2E3CB6F7-041F-468E-B5CE-3F7FA610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DE09986-4BAB-4B6B-89D3-9B10630A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Cek formatif Lab 03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54F16D4-2D4B-47CF-B26E-CBFCA7AB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Umpan balik teknis, tanpa nilai per lab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7235534-88DA-4C16-B338-2646F312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5AF20AB-1E8C-41D7-A91A-69E09A55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5603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Komponen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47F02DB-B875-4049-9A14-FE23384E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417320"/>
            <a:ext cx="8229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Fokus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5CDF898-50D0-4EC0-8592-17EA6551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Lengkap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F6A268A-5DA4-4608-9EC6-87AA9EDF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2286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Sebagian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54D6793-6D76-4DCB-9E66-E69FCF73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417320"/>
            <a:ext cx="23774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Perlu perbaikan</a:t>
            </a:r>
            <a:endParaRPr sz="11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D4CD958-07C5-4DBF-8DB2-4957A2EE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2F4C73F4-64D5-40C0-A3A5-C634045D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2D67BAC0-BE97-42E1-8CAB-ED827AC5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Observasi awal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D7C7BF4-0CA5-4CA2-A4D5-26EA2BE7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87452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Awal</a:t>
            </a:r>
            <a:endParaRPr sz="14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B7E5146-950E-4960-9E6E-7098601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87452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Compose, web, DNS/HTTP/port awal terbukti</a:t>
            </a:r>
            <a:endParaRPr sz="9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42BE9F8A-3687-4E31-AF86-33DB940D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87452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Sebagian bukti dan interpretasi benar</a:t>
            </a:r>
            <a:endParaRPr sz="9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319CA56-B810-42A6-A163-785FA1E0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7452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Bukti awal tidak ada atau keliru</a:t>
            </a:r>
            <a:endParaRPr sz="9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C745DA1D-B1D6-42E9-B292-A8F23019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AA0CDCA8-308F-4A1B-8335-704349AA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4320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919835F-E04B-4224-A20F-77CFEF5F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4320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Jaringan + TLS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1E7F1749-38F8-4794-8D8B-A06180AE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74320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Keamanan</a:t>
            </a:r>
            <a:endParaRPr sz="14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5C8BEF5F-11EF-4910-B602-8A0FA205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74320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Hanya web host; HTTPS valid; tier sehat</a:t>
            </a:r>
            <a:endParaRPr sz="9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D4ABFB0-4426-409F-82A1-1C851152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4320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TLS atau segmentasi belum lengkap</a:t>
            </a:r>
            <a:endParaRPr sz="9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87F8D57-43BA-4806-9465-FC3DD511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4320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Port terbuka/HTTPS gagal</a:t>
            </a:r>
            <a:endParaRPr sz="9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13D3BED0-4739-4A7B-BE06-19439F07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1D00B6C1-A0D9-4C1E-8D04-31ECA7F6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2B087ADA-1A24-49A0-8402-5125AD0D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1188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Healthcheck + uji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B7837ABD-6DAA-41DC-9EC5-D13918DF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61188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Uji</a:t>
            </a:r>
            <a:endParaRPr sz="14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37E34AF-6190-471B-97DC-097A34B7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6118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Lima fungsi bekerja; smoke/challenge hijau</a:t>
            </a:r>
            <a:endParaRPr sz="9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A8A5EED-631A-4FB7-A16E-2698C70E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61188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Sebagian tes lulus, alasan jelas</a:t>
            </a:r>
            <a:endParaRPr sz="9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5ADB8871-4C96-44A2-A3C6-8AD7CF90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1188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Skrip gagal atau tidak diuji</a:t>
            </a:r>
            <a:endParaRPr sz="9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6D25E89B-A450-402E-B241-C6F11447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F9BD7FA-BA21-44A8-91FE-C65A7F50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7413E77A-DADF-4154-A04B-FC3E1A0E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Penjelasan konsep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ADD844B9-25F8-47A2-BE79-422D43E3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48056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Konsep</a:t>
            </a:r>
            <a:endParaRPr sz="14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039A29D1-5CAF-4321-9D1F-5677F2B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48056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Enam jawaban hubungkan DNS/TCP/HTTP/TLS</a:t>
            </a:r>
            <a:endParaRPr sz="9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42384308-5AD8-44BB-A4B4-E5D097C1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48056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Sebagian jawaban tepat</a:t>
            </a:r>
            <a:endParaRPr sz="9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4F29422C-2046-4956-AE3E-597D8FDB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8056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Penjelasan belum menunjukkan alur</a:t>
            </a:r>
            <a:endParaRPr sz="90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B790429A-8FC9-411E-881F-41D5DD85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1124712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C99509F0-BBDF-41A6-893D-CCFF3034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13716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7F9BCAD2-44E3-426D-A286-4D5134E9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2423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Git aman</a:t>
            </a:r>
            <a:endParaRPr sz="11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CCBACF29-3216-4276-A51C-FBF0482F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5349240"/>
            <a:ext cx="822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Opsional</a:t>
            </a:r>
            <a:endParaRPr sz="1400"/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BE23CF03-E028-4B70-AB73-083FCD34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534924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Laporan, bukti sendiri, commit/push bersih</a:t>
            </a:r>
            <a:endParaRPr sz="900"/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B6DB24A7-7AAD-47A8-935A-2413FF7F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5349240"/>
            <a:ext cx="22860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Repo ada; bukti/metadata belum lengkap</a:t>
            </a:r>
            <a:endParaRPr sz="900"/>
          </a:p>
        </p:txBody>
      </p:sp>
      <p:sp>
        <p:nvSpPr>
          <p:cNvPr id="50" name="Text 46">
            <a:extLst xmlns:a="http://schemas.openxmlformats.org/drawingml/2006/main">
              <a:ext uri="{FF2B5EF4-FFF2-40B4-BE49-F238E27FC236}">
                <a16:creationId xmlns:a16="http://schemas.microsoft.com/office/drawing/2014/main" id="{0B9F9BBC-AB6B-4952-A080-CFA425FA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49240"/>
            <a:ext cx="23774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Tidak push atau secret terunggah</a:t>
            </a:r>
            <a:endParaRPr sz="900"/>
          </a:p>
        </p:txBody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0593281E-5EAA-4D40-AC9B-83B87110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Simpan bukti bila membantu proyek; jangan unggah secret.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68896038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1E76B56-D5A6-46D9-B34F-622D1004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3E0EDB-C682-47FF-A50A-39C1301B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D15690D-B18E-486B-9508-3C09BAA1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9898727ad44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d1bb31ccf4e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DE26765-B563-457B-A555-B92E4ECF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E765F6A3-62CE-49E0-B34D-38182C30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Masalah umum saat praktik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F1A8434-C71E-4290-80FF-64D4EB29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Cek gejala pada Compose, browser, dan toolbox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DF713FA-E94F-4380-A314-955F2D1A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7D21177-BF21-4E87-BFD7-5053B661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9987B13-4797-47A7-9A9B-0ED799F6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 host bentrok</a:t>
            </a:r>
            <a:endParaRPr sz="12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210D37A6-4E0A-44D7-BBF6-893CC5DE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8080, 3000, atau 5432 sedang dipakai service lain.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ACC3A38-1D2D-436A-9A1B-F99C341C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63F03DD-FF43-479A-A19F-4BEB78D4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CEK: docker compose ps dan hentikan service lama; jalankan up ulang.</a:t>
            </a:r>
            <a:endParaRPr sz="9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90ECB2A-7130-47C8-A7AB-E2427588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AB893B82-AC3E-4B0C-9F22-E18F244F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0931B34-2B76-438F-AB21-95F2F1EF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Alat tidak ditemukan</a:t>
            </a:r>
            <a:endParaRPr sz="12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2B10B6B-2793-4E6D-9333-35CB2ED5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Perintah dig/nmap/openssl dijalankan di host, bukan toolbox.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8F7CD3D-390E-4C7C-AF9B-A56326CA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89A1D660-1806-4704-8F92-E2173EA7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docker compose exec toolbox bash; alat sudah di image.</a:t>
            </a:r>
            <a:endParaRPr sz="9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FD7C47E-5E48-4067-A320-08109F86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770E062-F17B-4D57-8F3E-76BCED1AA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1E9D8E3-C543-4B68-86AA-26932006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1732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Codespaces build tertunda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83CF0C3-66EB-44DC-AEB2-346B2917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Image pull atau postCreateCommand belum selesai.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1B492D9-516D-4FBE-82B8-8639B7F6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88036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ED40324C-9FE2-4FFA-8630-056820CC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2608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ulangi docker compose up -d --build --wait; cek logs.</a:t>
            </a:r>
            <a:endParaRPr sz="9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8282102-BE42-4EF7-9668-005E8216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EF75EFA-8AA0-42EE-BF3A-E7BED381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6F4005B-E098-4C3C-ADA5-9F5A7EB2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Pindai target salah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06E31ABB-454A-4DC0-814E-72F52ADD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localhost di toolbox menunjuk toolbox sendiri.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F3B37DF5-343B-42CD-B6F2-6D5AEE5C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888EE463-7ED3-425E-BECD-17B2B1FE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pakai web, api, db, atau host.docker.internal untuk stack sendiri.</a:t>
            </a:r>
            <a:endParaRPr sz="9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2E5C6AE-C2C9-46EC-9619-DA9B51DA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F763D7F4-863A-48E1-9375-5C849BC8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D2F39E3E-DC95-49D7-9530-B2E5F75B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Browser peringatan TLS</a:t>
            </a:r>
            <a:endParaRPr sz="12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BC3B8773-441A-4428-9439-F28DE8CD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Sertifikat self-signed lab belum dipercaya browser.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7CE8A06A-36F0-46DA-8C20-C6C7C5C4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669949C-D682-4D5A-80DB-2E510E78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verifikasi dengan curl --cacert; jangan pakai -k sebagai bukti.</a:t>
            </a:r>
            <a:endParaRPr sz="950"/>
          </a:p>
        </p:txBody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657D774D-A51A-4DE6-99FA-5DB811A6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8465BCC1-D5B5-4781-9C2A-163AB87C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8F38E92C-89DA-4802-8A14-A883F281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79476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Challenge masih merah</a:t>
            </a:r>
            <a:endParaRPr sz="12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91E556D0-F237-4125-BBD2-475B636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Starter memang memiliki TODO dan port host berlebih.</a:t>
            </a:r>
            <a:endParaRPr sz="1050"/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A0BA6587-350A-438B-8C9C-963F1B94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257800"/>
            <a:ext cx="333756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FFF815CF-3485-4695-94F0-623A79FB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15468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FIX: ikuti hint; lengkapi healthcheck, TLS, dan segmentasi.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20591717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DB7958-4A71-45D1-A463-E83101DC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87C5C0-812D-4FB1-90A1-AFC44AD6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01E059A-C6D0-4AA6-8D66-DEA6AC3E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b7796506f45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78d44ebe647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53DD7AA-915D-4598-8358-8F38CE74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605B245-A60D-4DE9-AE1A-EEF2571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Lab 03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11889DA-5744-4729-BF10-2B592A9E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Jalankan dari root repo; alat jaringan lewat toolbox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3B129AE-CB3D-48CC-A399-A30E2D5A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8591EF47-C959-4941-A828-25CEEB7C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0B8D673-85D5-417B-AEF7-86757D49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Compose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B050C54-1C41-478E-9476-21A5CA55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compose config -q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compose up -d --build --wait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compose ps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compose logs web api db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F52B6FBC-65D4-45F7-9CDC-5D99877E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F0F31C4-BA83-41BC-8D2B-4478E79D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D226407-FE23-4980-AD1F-49620135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DNS + rute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61ED6E2-07C4-4545-850A-CD560F19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compose exec toolbox bash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dig +short web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nslookup api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ping -c 3 web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traceroute -m 5 web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A342E3E0-872B-4055-AF79-1A0C45B0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135EAC3-590E-4824-919C-2111EEFF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1CF55BC-D1F2-4430-94D1-4B4F0FE3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HTTP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BFC4E6DE-BD18-46B5-B324-F8914C4C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curl -i http://web/api/health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curl -i http://web/api/notes/999999999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wget -qO- http://web/api/health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POST /api/notes -&gt; 201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316643F-DF6B-44FB-849A-A78E544A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65C87F81-CCFB-46D7-B59F-B5C2E021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FB38F5C9-4589-4678-A2F0-8D607780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Port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94DBE5D-EDB6-4A4E-8185-E31700AC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nc -vz -w 2 api 3000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nmap -sT -Pn -p 8080,3000,5432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host.docker.internal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Pindai hanya stack sendiri.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CECD023-5090-4893-8599-6F139786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57051DC1-7F55-4E22-951B-61CA2242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0C0BC59-9C5A-4EF2-A09E-E4283581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TLS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9B6475F-7E11-49E3-8DF2-AA6C41C3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Masuk: docker compose exec toolbox bash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bash scripts/make-cert.sh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openssl x509 -in /lab/web/certs/lab.crt ...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curl --cacert /lab/web/certs/lab.crt https://web/api/health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7A0CAAEA-3071-4F71-B47E-15F2F16F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2EC9FBAE-93B5-4391-A8CA-D6B39C77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691DD545-E196-421D-94A2-EEBB3AD7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3E0A3E89-E6E4-41DA-AA52-5317899B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bash tests/smoke.sh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bash tests/challenge.sh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docker compose exec toolbox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  bash scripts/healthcheck.sh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5035E85D-1788-416C-89FD-E618A7CA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34EDCF6C-0D62-495A-87C6-AA991663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C940C43-1702-4842-B668-B556CC11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Status HTTP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146FB692-EB88-4A5D-86F4-6C50DD53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200 = GET berhasil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201 = catatan dibuat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400 = input salah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404 = resource tak ada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73FAC292-C5A1-45CD-92CB-CE9954A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276D2FFF-2930-41BF-9E31-4881F9C8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1B99F4AA-3709-48E8-9D8C-F5506E41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BF9E5989-DF79-48BF-805B-9BF53621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 opsional pada repo pribadi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isi student.json tanpa NIM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 diff --cached --check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git check-ignore -v web/certs/lab.key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496599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EF830B-AAAB-4723-A621-91AE3D32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B3FB2F-90AB-4CF2-935D-2CA4E1C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F41788-B867-4A16-848C-AEF2BC25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5271fac244c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fa1b5fe2d41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DDA88B5-929C-43E3-BCD5-CBAAF801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F3D252FD-FB71-422C-99F2-D8CEA511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Rencana Kelas 120 Menit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97543CA-01D5-43D5-9D9E-72C0C1C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Urutan mengikuti lima checkpoint modul; Git untuk menyimpan praktik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1A44A8E-6D78-4B41-87A9-6720D5D7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DF4BAF43-252B-4F16-9B85-FF8D6EE7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3716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8CF52A8D-D8C0-41E8-83B9-B905384C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DC0E6A12-BB8B-4392-A655-3379D5E2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361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0-10 min</a:t>
            </a:r>
            <a:endParaRPr sz="1000"/>
          </a:p>
        </p:txBody>
      </p:sp>
      <p:pic>
        <p:nvPicPr>
          <p:cNvPr id="8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2847874bb4e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158191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687DC7B2-817F-43F6-82A7-80671A54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46304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Repo pribadi</a:t>
            </a:r>
            <a:endParaRPr sz="11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CF8E5F44-B7C3-49C3-B55C-5F8DA455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737360"/>
            <a:ext cx="8686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 this template; buat Codespace atau clone lokal; kenali empat service.</a:t>
            </a:r>
            <a:endParaRPr sz="9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65581FCD-AAD7-44AC-A9E8-436D7730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11247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1DDDF61D-93D4-4FEC-944E-395A11C9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3120"/>
            <a:ext cx="13716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CB8A6D4C-6A25-4EE8-8DB3-E5D651DC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2199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BCA51D10-561F-4A06-A7F2-C96B0374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219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10-25 min</a:t>
            </a:r>
            <a:endParaRPr sz="1000"/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719a4258df49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226771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166EF72A-F88D-428D-9CEE-489F205E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14884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Stack + web</a:t>
            </a:r>
            <a:endParaRPr sz="11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3F3D48F1-3343-46A7-92A4-2593AE2B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423160"/>
            <a:ext cx="8686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Compose up, smoke 12/0, buka port 8080, isi student.json.</a:t>
            </a:r>
            <a:endParaRPr sz="9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D7E9DCBB-8E41-4161-9308-107E01FD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3A58F60D-5D98-4445-9B0A-83C7DBF8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3716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A7438B53-E954-45E4-B2F6-ADE9BBF5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0779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C2C8B400-D75C-4CC6-9138-9A7FF8F5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077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25-45 min</a:t>
            </a:r>
            <a:endParaRPr sz="1000"/>
          </a:p>
        </p:txBody>
      </p:sp>
      <p:pic>
        <p:nvPicPr>
          <p:cNvPr id="9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50bdb9a5c49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295351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E04AA9BF-D752-4C65-BE7E-CB288E5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83464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DNS + rute</a:t>
            </a:r>
            <a:endParaRPr sz="11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83DA144C-D2FD-43D2-9922-1E238917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108960"/>
            <a:ext cx="8686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dig/nslookup, ping/traceroute dari toolbox; catat IP dan loss.</a:t>
            </a:r>
            <a:endParaRPr sz="95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090EBCA9-EFA6-47CA-A835-70C0EC19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0"/>
            <a:ext cx="11247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5C662AA3-C848-4827-BD44-8C2F3402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0"/>
            <a:ext cx="13716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A1C54221-46A3-4628-9635-6E8389D0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9359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2854F8-2F58-41CD-BED0-CB6FC766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935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45-65 min</a:t>
            </a:r>
            <a:endParaRPr sz="1000"/>
          </a:p>
        </p:txBody>
      </p:sp>
      <p:pic>
        <p:nvPicPr>
          <p:cNvPr id="10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fdd4cdb8b46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363931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A760B651-8305-4B6F-AB82-F7016370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52044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HTTP</a:t>
            </a:r>
            <a:endParaRPr sz="11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08B01977-E256-4340-8AD8-B5E80722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794760"/>
            <a:ext cx="8686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curl/wget; bandingkan 200, 201, 404, 400 dan header proxy.</a:t>
            </a:r>
            <a:endParaRPr sz="95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3DD7C8AB-176E-4157-8AA9-BED36A89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1247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685BE4E0-57C3-472D-980C-0DB0EA69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3716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75BDD5C2-4FC3-4D60-AD92-CD9729A0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41" name="Text 33">
            <a:extLst xmlns:a="http://schemas.openxmlformats.org/drawingml/2006/main">
              <a:ext uri="{FF2B5EF4-FFF2-40B4-BE49-F238E27FC236}">
                <a16:creationId xmlns:a16="http://schemas.microsoft.com/office/drawing/2014/main" id="{3549F9A1-E660-48E3-BB4B-7E68F9C6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65-80 min</a:t>
            </a:r>
            <a:endParaRPr sz="1000"/>
          </a:p>
        </p:txBody>
      </p:sp>
      <p:pic>
        <p:nvPicPr>
          <p:cNvPr id="10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d09ce4400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432511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DECBA963-9941-4653-B764-BD9382E5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20624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Audit port</a:t>
            </a:r>
            <a:endParaRPr sz="110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83548083-DEBE-4191-A633-ADBFD681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480560"/>
            <a:ext cx="8686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nc/nmap pada stack sendiri; jalankan challenge awal yang merah.</a:t>
            </a:r>
            <a:endParaRPr sz="95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5E3C4D41-3255-47BF-8C94-C146E65B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11247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8ADD20BD-E000-4446-9A2D-CF3D1FA7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46320"/>
            <a:ext cx="13716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7" name="Shape 38">
            <a:extLst xmlns:a="http://schemas.openxmlformats.org/drawingml/2006/main">
              <a:ext uri="{FF2B5EF4-FFF2-40B4-BE49-F238E27FC236}">
                <a16:creationId xmlns:a16="http://schemas.microsoft.com/office/drawing/2014/main" id="{A13AE21F-C225-484F-9ABC-F09A2774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6519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212471C4-08CA-4E1B-9E33-ECA52C7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651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80-105 min</a:t>
            </a:r>
            <a:endParaRPr sz="1000"/>
          </a:p>
        </p:txBody>
      </p:sp>
      <p:pic>
        <p:nvPicPr>
          <p:cNvPr id="116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b8dc163584d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501091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CF588C41-36D0-4B5C-95D4-55849801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89204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TLS + healthcheck</a:t>
            </a:r>
            <a:endParaRPr sz="1100"/>
          </a:p>
        </p:txBody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97EEBE07-C8E9-46DB-BE40-9E4C1EE3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166360"/>
            <a:ext cx="8686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 sertifikat, segmentasi port, isi lima TODO, uji ulang.</a:t>
            </a:r>
            <a:endParaRPr sz="950"/>
          </a:p>
        </p:txBody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ED57678E-5E5B-46A6-B577-A4851340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2120"/>
            <a:ext cx="1124712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3" name="Shape 43">
            <a:extLst xmlns:a="http://schemas.openxmlformats.org/drawingml/2006/main">
              <a:ext uri="{FF2B5EF4-FFF2-40B4-BE49-F238E27FC236}">
                <a16:creationId xmlns:a16="http://schemas.microsoft.com/office/drawing/2014/main" id="{50662ED8-2F18-49E7-8D3F-EC1B0E66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32120"/>
            <a:ext cx="13716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655FBDF1-A9E2-492A-BEF4-4002FBC1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50992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55" name="Text 45">
            <a:extLst xmlns:a="http://schemas.openxmlformats.org/drawingml/2006/main">
              <a:ext uri="{FF2B5EF4-FFF2-40B4-BE49-F238E27FC236}">
                <a16:creationId xmlns:a16="http://schemas.microsoft.com/office/drawing/2014/main" id="{DB3AC378-288B-4F19-AE8C-B337AFF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50992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105-120 min</a:t>
            </a:r>
            <a:endParaRPr sz="1000"/>
          </a:p>
        </p:txBody>
      </p:sp>
      <p:pic>
        <p:nvPicPr>
          <p:cNvPr id="12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7a2a849c44e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3160" y="569671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BF3BA427-3224-4A49-B6CA-05066AF3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577840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Bukti + Git</a:t>
            </a:r>
            <a:endParaRPr sz="110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9D745F42-0D15-4E78-A6B2-7DE4D64E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5852160"/>
            <a:ext cx="868680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Catat hasil, simpan screenshot sendiri, cek staged diff, commit/push.</a:t>
            </a:r>
            <a:endParaRPr sz="950"/>
          </a:p>
        </p:txBody>
      </p:sp>
      <p:sp>
        <p:nvSpPr>
          <p:cNvPr id="59" name="Text 48">
            <a:extLst xmlns:a="http://schemas.openxmlformats.org/drawingml/2006/main">
              <a:ext uri="{FF2B5EF4-FFF2-40B4-BE49-F238E27FC236}">
                <a16:creationId xmlns:a16="http://schemas.microsoft.com/office/drawing/2014/main" id="{BC521FAD-D471-4313-AF3B-CF776302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Jika waktu habis, lanjutkan TODO dan catat hasil aktual; jangan salin solusi.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8148070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181A274-F76A-429D-A57F-96FD6965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220E67-1033-439D-B02A-534A8EF2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713570-A7FD-4B07-9A00-DE9826E2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f31dba22047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3ed447359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D03F0E5-9D91-4890-84AE-E53B9B2A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8CF733D-2CF3-450F-AD69-5A05571D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Rujukan dan Troubleshoot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E77553A-07A8-4720-B9AD-3F954B7D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Gunakan README repo, modul mahasiswa, dan log Compose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6F35F44-A828-44FD-8ED5-DF77C163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3543076-D90B-4FE4-8139-B19047F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Berkas utama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DF8C4E6-6D46-4738-9265-FA3A512C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28a76404a6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214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12D28C3B-F793-4B32-B9E2-800CFA72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README repo</a:t>
            </a:r>
            <a:endParaRPr sz="11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D523F46A-8EA5-43DA-8550-93071258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1168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Langkah lokal Windows utama</a:t>
            </a:r>
            <a:endParaRPr sz="9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4830E90D-8A18-4862-97C3-882B665F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3354681834e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71576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A3740C2F-25EB-4777-90EE-A23AF63D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5176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Modul mahasiswa</a:t>
            </a:r>
            <a:endParaRPr sz="1100"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8A7126B8-9BC1-4B19-AAA7-6D64988B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60604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Checkpoint dan target hasil</a:t>
            </a:r>
            <a:endParaRPr sz="950"/>
          </a:p>
        </p:txBody>
      </p:sp>
      <p:sp>
        <p:nvSpPr>
          <p:cNvPr id="20" name="Shape 14">
            <a:extLst xmlns:a="http://schemas.openxmlformats.org/drawingml/2006/main">
              <a:ext uri="{FF2B5EF4-FFF2-40B4-BE49-F238E27FC236}">
                <a16:creationId xmlns:a16="http://schemas.microsoft.com/office/drawing/2014/main" id="{24160B55-25F3-4133-A68B-605851F2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355e14b304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1012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100FE05C-6DB2-4F22-BBF6-9339C3A4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612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Panduan Git</a:t>
            </a:r>
            <a:endParaRPr sz="1100"/>
          </a:p>
        </p:txBody>
      </p:sp>
      <p:sp>
        <p:nvSpPr>
          <p:cNvPr id="23" name="Text 16">
            <a:extLst xmlns:a="http://schemas.openxmlformats.org/drawingml/2006/main">
              <a:ext uri="{FF2B5EF4-FFF2-40B4-BE49-F238E27FC236}">
                <a16:creationId xmlns:a16="http://schemas.microsoft.com/office/drawing/2014/main" id="{9CD0E25E-63E9-4408-852E-8F9F006E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20040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Commit, push, Actions</a:t>
            </a:r>
            <a:endParaRPr sz="950"/>
          </a:p>
        </p:txBody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90FB4C18-8AE3-43EA-9724-0A23E35E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a82c8277e4e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0448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44DB163D-6706-4CE8-B435-C6FF469C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048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Template laporan</a:t>
            </a:r>
            <a:endParaRPr sz="11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0D1B39C1-A815-423B-8F82-DB006BE9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79476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hasil/TEMPLATE_LAPORAN.md</a:t>
            </a:r>
            <a:endParaRPr sz="95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02DD7A34-922B-48A0-B11B-6FE6B793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97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a485115ed48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49884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2A4C4FBB-612C-4BD5-8BB7-D2154EE1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3484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Tes</a:t>
            </a:r>
            <a:endParaRPr sz="1100"/>
          </a:p>
        </p:txBody>
      </p:sp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9B9557F7-C9B3-4CF0-BC5B-4F617294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38912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tests/smoke.sh + challenge.sh</a:t>
            </a:r>
            <a:endParaRPr sz="950"/>
          </a:p>
        </p:txBody>
      </p:sp>
      <p:sp>
        <p:nvSpPr>
          <p:cNvPr id="32" name="Shape 23">
            <a:extLst xmlns:a="http://schemas.openxmlformats.org/drawingml/2006/main">
              <a:ext uri="{FF2B5EF4-FFF2-40B4-BE49-F238E27FC236}">
                <a16:creationId xmlns:a16="http://schemas.microsoft.com/office/drawing/2014/main" id="{658FD9F0-C483-4B43-B2C6-A0BC8ECC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98348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2c3cfc4184d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0932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4" name="Text 24">
            <a:extLst xmlns:a="http://schemas.openxmlformats.org/drawingml/2006/main">
              <a:ext uri="{FF2B5EF4-FFF2-40B4-BE49-F238E27FC236}">
                <a16:creationId xmlns:a16="http://schemas.microsoft.com/office/drawing/2014/main" id="{485DCC91-458A-4AC0-B602-914BAEDF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29200"/>
            <a:ext cx="1828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Repo template</a:t>
            </a:r>
            <a:endParaRPr sz="1100"/>
          </a:p>
        </p:txBody>
      </p:sp>
      <p:sp>
        <p:nvSpPr>
          <p:cNvPr id="35" name="Text 25">
            <a:extLst xmlns:a="http://schemas.openxmlformats.org/drawingml/2006/main">
              <a:ext uri="{FF2B5EF4-FFF2-40B4-BE49-F238E27FC236}">
                <a16:creationId xmlns:a16="http://schemas.microsoft.com/office/drawing/2014/main" id="{CD853BF6-E505-4E36-B46E-69221596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983480"/>
            <a:ext cx="27889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976D2"/>
                </a:solidFill>
                <a:latin typeface="Consolas"/>
                <a:ea typeface="Consolas"/>
                <a:cs typeface="Consolas"/>
              </a:rPr>
              <a:t>github.com/SeedFlora/meet3CloudService</a:t>
            </a:r>
            <a:endParaRPr sz="950"/>
          </a:p>
        </p:txBody>
      </p:sp>
      <p:sp>
        <p:nvSpPr>
          <p:cNvPr id="36" name="Shape 26">
            <a:extLst xmlns:a="http://schemas.openxmlformats.org/drawingml/2006/main">
              <a:ext uri="{FF2B5EF4-FFF2-40B4-BE49-F238E27FC236}">
                <a16:creationId xmlns:a16="http://schemas.microsoft.com/office/drawing/2014/main" id="{EAA7451B-7F41-4378-99CC-9364DA4F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2C65F542-991C-4654-8CA5-FDC47E9C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5448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Cek cepat</a:t>
            </a:r>
            <a:endParaRPr sz="1400"/>
          </a:p>
        </p:txBody>
      </p:sp>
      <p:sp>
        <p:nvSpPr>
          <p:cNvPr id="38" name="Shape 28">
            <a:extLst xmlns:a="http://schemas.openxmlformats.org/drawingml/2006/main">
              <a:ext uri="{FF2B5EF4-FFF2-40B4-BE49-F238E27FC236}">
                <a16:creationId xmlns:a16="http://schemas.microsoft.com/office/drawing/2014/main" id="{9F158A76-EC1A-420B-8433-29315883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29">
            <a:extLst xmlns:a="http://schemas.openxmlformats.org/drawingml/2006/main">
              <a:ext uri="{FF2B5EF4-FFF2-40B4-BE49-F238E27FC236}">
                <a16:creationId xmlns:a16="http://schemas.microsoft.com/office/drawing/2014/main" id="{23DC46E5-4914-4982-903F-DF487762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0" name="Text 30">
            <a:extLst xmlns:a="http://schemas.openxmlformats.org/drawingml/2006/main">
              <a:ext uri="{FF2B5EF4-FFF2-40B4-BE49-F238E27FC236}">
                <a16:creationId xmlns:a16="http://schemas.microsoft.com/office/drawing/2014/main" id="{E5B5D424-03F4-456D-AACB-5F02A75A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Docker belum siap</a:t>
            </a:r>
            <a:endParaRPr sz="1050"/>
          </a:p>
        </p:txBody>
      </p:sp>
      <p:sp>
        <p:nvSpPr>
          <p:cNvPr id="41" name="Text 31">
            <a:extLst xmlns:a="http://schemas.openxmlformats.org/drawingml/2006/main">
              <a:ext uri="{FF2B5EF4-FFF2-40B4-BE49-F238E27FC236}">
                <a16:creationId xmlns:a16="http://schemas.microsoft.com/office/drawing/2014/main" id="{76E0C840-CC3E-46C6-ADDD-FAE8D65A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428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version, tunggu Engine running</a:t>
            </a:r>
            <a:endParaRPr sz="950"/>
          </a:p>
        </p:txBody>
      </p:sp>
      <p:sp>
        <p:nvSpPr>
          <p:cNvPr id="42" name="Shape 32">
            <a:extLst xmlns:a="http://schemas.openxmlformats.org/drawingml/2006/main">
              <a:ext uri="{FF2B5EF4-FFF2-40B4-BE49-F238E27FC236}">
                <a16:creationId xmlns:a16="http://schemas.microsoft.com/office/drawing/2014/main" id="{0D3A23F9-140D-4769-967F-3B433D60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176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3">
            <a:extLst xmlns:a="http://schemas.openxmlformats.org/drawingml/2006/main">
              <a:ext uri="{FF2B5EF4-FFF2-40B4-BE49-F238E27FC236}">
                <a16:creationId xmlns:a16="http://schemas.microsoft.com/office/drawing/2014/main" id="{0A3A1BE0-F1CE-4565-9C9D-BED87186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5176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435BB481-F168-4522-940D-458187F6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9748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Port 8080 bentrok</a:t>
            </a:r>
            <a:endParaRPr sz="1050"/>
          </a:p>
        </p:txBody>
      </p:sp>
      <p:sp>
        <p:nvSpPr>
          <p:cNvPr id="45" name="Text 35">
            <a:extLst xmlns:a="http://schemas.openxmlformats.org/drawingml/2006/main">
              <a:ext uri="{FF2B5EF4-FFF2-40B4-BE49-F238E27FC236}">
                <a16:creationId xmlns:a16="http://schemas.microsoft.com/office/drawing/2014/main" id="{D0684FD6-7BFC-4F63-9A49-AD0AF126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4436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Hentikan proses lama; cek docker compose ps</a:t>
            </a:r>
            <a:endParaRPr sz="950"/>
          </a:p>
        </p:txBody>
      </p:sp>
      <p:sp>
        <p:nvSpPr>
          <p:cNvPr id="46" name="Shape 36">
            <a:extLst xmlns:a="http://schemas.openxmlformats.org/drawingml/2006/main">
              <a:ext uri="{FF2B5EF4-FFF2-40B4-BE49-F238E27FC236}">
                <a16:creationId xmlns:a16="http://schemas.microsoft.com/office/drawing/2014/main" id="{3284BD19-D1F7-4A17-B326-52B5CB26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184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37">
            <a:extLst xmlns:a="http://schemas.openxmlformats.org/drawingml/2006/main">
              <a:ext uri="{FF2B5EF4-FFF2-40B4-BE49-F238E27FC236}">
                <a16:creationId xmlns:a16="http://schemas.microsoft.com/office/drawing/2014/main" id="{30440693-3590-4555-90FD-55DF8CB8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184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55B793F5-4E13-4F5D-B749-5EAB3630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3756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API/DB tidak sehat</a:t>
            </a:r>
            <a:endParaRPr sz="105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51F7E5C8-4442-4AC7-B282-8A6B6517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444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compose logs api db; periksa jaringan</a:t>
            </a:r>
            <a:endParaRPr sz="950"/>
          </a:p>
        </p:txBody>
      </p:sp>
      <p:sp>
        <p:nvSpPr>
          <p:cNvPr id="50" name="Shape 40">
            <a:extLst xmlns:a="http://schemas.openxmlformats.org/drawingml/2006/main">
              <a:ext uri="{FF2B5EF4-FFF2-40B4-BE49-F238E27FC236}">
                <a16:creationId xmlns:a16="http://schemas.microsoft.com/office/drawing/2014/main" id="{90ADCE73-D400-42E7-8EFF-DA844212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192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1" name="Shape 41">
            <a:extLst xmlns:a="http://schemas.openxmlformats.org/drawingml/2006/main">
              <a:ext uri="{FF2B5EF4-FFF2-40B4-BE49-F238E27FC236}">
                <a16:creationId xmlns:a16="http://schemas.microsoft.com/office/drawing/2014/main" id="{58E292D2-A055-4CA1-9BDC-0438D0BD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3192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52" name="Text 42">
            <a:extLst xmlns:a="http://schemas.openxmlformats.org/drawingml/2006/main">
              <a:ext uri="{FF2B5EF4-FFF2-40B4-BE49-F238E27FC236}">
                <a16:creationId xmlns:a16="http://schemas.microsoft.com/office/drawing/2014/main" id="{B049F20E-B0EC-494D-BF7E-4677EFA1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7764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Challenge merah awal</a:t>
            </a:r>
            <a:endParaRPr sz="1050"/>
          </a:p>
        </p:txBody>
      </p:sp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1A7318D5-323C-455B-AA5D-FB7D723F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2452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Memang ada TODO; baca hint dari skrip</a:t>
            </a:r>
            <a:endParaRPr sz="950"/>
          </a:p>
        </p:txBody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4FA884C7-72E7-4857-A619-D07084F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5" name="Shape 45">
            <a:extLst xmlns:a="http://schemas.openxmlformats.org/drawingml/2006/main">
              <a:ext uri="{FF2B5EF4-FFF2-40B4-BE49-F238E27FC236}">
                <a16:creationId xmlns:a16="http://schemas.microsoft.com/office/drawing/2014/main" id="{FC68BE3D-9747-42B8-884F-2290854C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7200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56" name="Text 46">
            <a:extLst xmlns:a="http://schemas.openxmlformats.org/drawingml/2006/main">
              <a:ext uri="{FF2B5EF4-FFF2-40B4-BE49-F238E27FC236}">
                <a16:creationId xmlns:a16="http://schemas.microsoft.com/office/drawing/2014/main" id="{96D096F0-0102-4AA8-9D2F-82799C5C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772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TLS gagal</a:t>
            </a:r>
            <a:endParaRPr sz="1050"/>
          </a:p>
        </p:txBody>
      </p:sp>
      <p:sp>
        <p:nvSpPr>
          <p:cNvPr id="57" name="Text 47">
            <a:extLst xmlns:a="http://schemas.openxmlformats.org/drawingml/2006/main">
              <a:ext uri="{FF2B5EF4-FFF2-40B4-BE49-F238E27FC236}">
                <a16:creationId xmlns:a16="http://schemas.microsoft.com/office/drawing/2014/main" id="{8AFF6BA7-08F4-4465-8C43-9A673F1D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6460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sertifikat, SAN web, curl --cacert</a:t>
            </a:r>
            <a:endParaRPr sz="950"/>
          </a:p>
        </p:txBody>
      </p:sp>
      <p:sp>
        <p:nvSpPr>
          <p:cNvPr id="58" name="Shape 48">
            <a:extLst xmlns:a="http://schemas.openxmlformats.org/drawingml/2006/main">
              <a:ext uri="{FF2B5EF4-FFF2-40B4-BE49-F238E27FC236}">
                <a16:creationId xmlns:a16="http://schemas.microsoft.com/office/drawing/2014/main" id="{5CA8E7F8-C3D5-452B-B29D-56CE4D75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2080"/>
            <a:ext cx="512064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9" name="Shape 49">
            <a:extLst xmlns:a="http://schemas.openxmlformats.org/drawingml/2006/main">
              <a:ext uri="{FF2B5EF4-FFF2-40B4-BE49-F238E27FC236}">
                <a16:creationId xmlns:a16="http://schemas.microsoft.com/office/drawing/2014/main" id="{3BCAD603-F45A-4488-8722-AF4A4BC4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208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60" name="Text 50">
            <a:extLst xmlns:a="http://schemas.openxmlformats.org/drawingml/2006/main">
              <a:ext uri="{FF2B5EF4-FFF2-40B4-BE49-F238E27FC236}">
                <a16:creationId xmlns:a16="http://schemas.microsoft.com/office/drawing/2014/main" id="{4653E464-F129-411B-B5E0-99A9122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57800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DC2626"/>
                </a:solidFill>
                <a:latin typeface="Consolas"/>
                <a:ea typeface="Consolas"/>
                <a:cs typeface="Consolas"/>
              </a:rPr>
              <a:t>Actions merah</a:t>
            </a:r>
            <a:endParaRPr sz="1050"/>
          </a:p>
        </p:txBody>
      </p:sp>
      <p:sp>
        <p:nvSpPr>
          <p:cNvPr id="61" name="Text 51">
            <a:extLst xmlns:a="http://schemas.openxmlformats.org/drawingml/2006/main">
              <a:ext uri="{FF2B5EF4-FFF2-40B4-BE49-F238E27FC236}">
                <a16:creationId xmlns:a16="http://schemas.microsoft.com/office/drawing/2014/main" id="{788C2BB1-0A5D-4D0D-8F11-094789E0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504688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Isi student.json; selesaikan challenge; stack harus hijau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47290680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BAC02F5-AB9C-4170-9F65-602ADC96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D4C1188-B62B-496B-BA20-2739392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EA175F4-AE30-4EE8-9545-B801FCA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7203811fe844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b0c40ebd4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AC033E5-183F-4A74-8299-734FCE26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3ADC541-19DE-4519-A406-B522DC26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Ringkasan Lab 03 untuk proyek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E18734C0-2ACD-46B9-BF4C-C81D6F66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Lima checkpoint menghubungkan browser, Docker, jaringan, dan Git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4A882FD-A436-4F3E-9047-5F1AB8ED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Yang Sudah Anda Uji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BAE9472-E456-44B1-AA89-3EC136CE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e27bf8b5f941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8745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4E861FB2-58A5-4207-AD37-83E21E48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2880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Empat service Compose berjalan dan smoke lulus.</a:t>
            </a:r>
            <a:endParaRPr sz="105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8B952034-C6E9-454D-9516-B845D973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32b2558d141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2860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F2081471-A7A1-4949-BF7A-41D583BD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028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DNS nama service dan konektivitas antarkontainer.</a:t>
            </a:r>
            <a:endParaRPr sz="1050"/>
          </a:p>
        </p:txBody>
      </p:sp>
      <p:sp>
        <p:nvSpPr>
          <p:cNvPr id="17" name="Shape 11">
            <a:extLst xmlns:a="http://schemas.openxmlformats.org/drawingml/2006/main">
              <a:ext uri="{FF2B5EF4-FFF2-40B4-BE49-F238E27FC236}">
                <a16:creationId xmlns:a16="http://schemas.microsoft.com/office/drawing/2014/main" id="{A4E49088-1131-4393-8041-225B620E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9748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156e4b27149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6974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07414949-4566-41CB-8289-9863322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5176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HTTP 200/201/404/400 melalui reverse proxy.</a:t>
            </a:r>
            <a:endParaRPr sz="1050"/>
          </a:p>
        </p:txBody>
      </p:sp>
      <p:sp>
        <p:nvSpPr>
          <p:cNvPr id="20" name="Shape 13">
            <a:extLst xmlns:a="http://schemas.openxmlformats.org/drawingml/2006/main">
              <a:ext uri="{FF2B5EF4-FFF2-40B4-BE49-F238E27FC236}">
                <a16:creationId xmlns:a16="http://schemas.microsoft.com/office/drawing/2014/main" id="{8F1151D2-EC8A-4FD2-B5E9-B11B2545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896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61370fc644a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1089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2" name="Text 14">
            <a:extLst xmlns:a="http://schemas.openxmlformats.org/drawingml/2006/main">
              <a:ext uri="{FF2B5EF4-FFF2-40B4-BE49-F238E27FC236}">
                <a16:creationId xmlns:a16="http://schemas.microsoft.com/office/drawing/2014/main" id="{16956A77-2436-492B-944C-9BD30BF0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06324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curl dan wget membaca endpoint API dari toolbox.</a:t>
            </a:r>
            <a:endParaRPr sz="1050"/>
          </a:p>
        </p:txBody>
      </p:sp>
      <p:sp>
        <p:nvSpPr>
          <p:cNvPr id="23" name="Shape 15">
            <a:extLst xmlns:a="http://schemas.openxmlformats.org/drawingml/2006/main">
              <a:ext uri="{FF2B5EF4-FFF2-40B4-BE49-F238E27FC236}">
                <a16:creationId xmlns:a16="http://schemas.microsoft.com/office/drawing/2014/main" id="{DF3523BB-1460-4531-8A2F-5F18182D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4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1c9a19ef542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52044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8749C280-938B-4A91-850E-6B66D3FD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47472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nc dan nmap memeriksa port stack sendiri.</a:t>
            </a:r>
            <a:endParaRPr sz="1050"/>
          </a:p>
        </p:txBody>
      </p:sp>
      <p:sp>
        <p:nvSpPr>
          <p:cNvPr id="26" name="Shape 17">
            <a:extLst xmlns:a="http://schemas.openxmlformats.org/drawingml/2006/main">
              <a:ext uri="{FF2B5EF4-FFF2-40B4-BE49-F238E27FC236}">
                <a16:creationId xmlns:a16="http://schemas.microsoft.com/office/drawing/2014/main" id="{14FC5485-5BFA-4811-ABC8-ADD7FF3B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3192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9c5fb3b004b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393192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0207ADF4-B378-4FBB-BC18-E1EB8E0B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Jaringan app/data memisahkan API dan database.</a:t>
            </a:r>
            <a:endParaRPr sz="1050"/>
          </a:p>
        </p:txBody>
      </p:sp>
      <p:sp>
        <p:nvSpPr>
          <p:cNvPr id="29" name="Shape 19">
            <a:extLst xmlns:a="http://schemas.openxmlformats.org/drawingml/2006/main">
              <a:ext uri="{FF2B5EF4-FFF2-40B4-BE49-F238E27FC236}">
                <a16:creationId xmlns:a16="http://schemas.microsoft.com/office/drawing/2014/main" id="{5A1BB51C-B673-4290-9169-B79970E4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6b79f6b54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34340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1" name="Text 20">
            <a:extLst xmlns:a="http://schemas.openxmlformats.org/drawingml/2006/main">
              <a:ext uri="{FF2B5EF4-FFF2-40B4-BE49-F238E27FC236}">
                <a16:creationId xmlns:a16="http://schemas.microsoft.com/office/drawing/2014/main" id="{EA7493CF-E6E5-46D1-A4F4-5E414AC2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9768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Sertifikat TLS diverifikasi dengan OpenSSL dan curl.</a:t>
            </a:r>
            <a:endParaRPr sz="1050"/>
          </a:p>
        </p:txBody>
      </p:sp>
      <p:sp>
        <p:nvSpPr>
          <p:cNvPr id="32" name="Shape 21">
            <a:extLst xmlns:a="http://schemas.openxmlformats.org/drawingml/2006/main">
              <a:ext uri="{FF2B5EF4-FFF2-40B4-BE49-F238E27FC236}">
                <a16:creationId xmlns:a16="http://schemas.microsoft.com/office/drawing/2014/main" id="{666DE71A-4369-4134-8306-94BF25D6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5488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83e3491ac40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475488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4" name="Text 22">
            <a:extLst xmlns:a="http://schemas.openxmlformats.org/drawingml/2006/main">
              <a:ext uri="{FF2B5EF4-FFF2-40B4-BE49-F238E27FC236}">
                <a16:creationId xmlns:a16="http://schemas.microsoft.com/office/drawing/2014/main" id="{97FA8062-54B1-4AF0-99CC-A80B42BB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09160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Healthcheck dan challenge akhir lulus.</a:t>
            </a:r>
            <a:endParaRPr sz="1050"/>
          </a:p>
        </p:txBody>
      </p:sp>
      <p:sp>
        <p:nvSpPr>
          <p:cNvPr id="35" name="Shape 23">
            <a:extLst xmlns:a="http://schemas.openxmlformats.org/drawingml/2006/main">
              <a:ext uri="{FF2B5EF4-FFF2-40B4-BE49-F238E27FC236}">
                <a16:creationId xmlns:a16="http://schemas.microsoft.com/office/drawing/2014/main" id="{62A92A72-0E83-4D85-9A5A-1022EDD9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96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77df4daef34b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7" name="Text 24">
            <a:extLst xmlns:a="http://schemas.openxmlformats.org/drawingml/2006/main">
              <a:ext uri="{FF2B5EF4-FFF2-40B4-BE49-F238E27FC236}">
                <a16:creationId xmlns:a16="http://schemas.microsoft.com/office/drawing/2014/main" id="{AB900DE7-5CAB-435D-9222-DCFA9584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GUNAKAN UNTUK PROYEK</a:t>
            </a:r>
            <a:endParaRPr sz="1100"/>
          </a:p>
        </p:txBody>
      </p:sp>
      <p:sp>
        <p:nvSpPr>
          <p:cNvPr id="38" name="Text 25">
            <a:extLst xmlns:a="http://schemas.openxmlformats.org/drawingml/2006/main">
              <a:ext uri="{FF2B5EF4-FFF2-40B4-BE49-F238E27FC236}">
                <a16:creationId xmlns:a16="http://schemas.microsoft.com/office/drawing/2014/main" id="{AC77E45B-B839-42D3-95AC-853155A5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Tim 3 orang, satu aplikasi multi-tier</a:t>
            </a:r>
            <a:endParaRPr sz="1400"/>
          </a:p>
        </p:txBody>
      </p:sp>
      <p:sp>
        <p:nvSpPr>
          <p:cNvPr id="39" name="Text 26">
            <a:extLst xmlns:a="http://schemas.openxmlformats.org/drawingml/2006/main">
              <a:ext uri="{FF2B5EF4-FFF2-40B4-BE49-F238E27FC236}">
                <a16:creationId xmlns:a16="http://schemas.microsoft.com/office/drawing/2014/main" id="{8B494CB7-1376-49F2-9EF6-7507D645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31720"/>
            <a:ext cx="52120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Gambarkan jalur request</a:t>
            </a:r>
            <a:endParaRPr sz="11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Tunjukkan port dan TLS</a:t>
            </a:r>
            <a:endParaRPr sz="11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Simpan catatan bila berguna</a:t>
            </a:r>
            <a:endParaRPr sz="11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[ ] Presentasi minggu 7 dan 14</a:t>
            </a:r>
            <a:endParaRPr sz="1100"/>
          </a:p>
        </p:txBody>
      </p:sp>
      <p:sp>
        <p:nvSpPr>
          <p:cNvPr id="40" name="Shape 27">
            <a:extLst xmlns:a="http://schemas.openxmlformats.org/drawingml/2006/main">
              <a:ext uri="{FF2B5EF4-FFF2-40B4-BE49-F238E27FC236}">
                <a16:creationId xmlns:a16="http://schemas.microsoft.com/office/drawing/2014/main" id="{F353C953-D841-4CBE-ACF2-FF3DA1CD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40480"/>
            <a:ext cx="54864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101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6db3f60754d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9776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2" name="Text 28">
            <a:extLst xmlns:a="http://schemas.openxmlformats.org/drawingml/2006/main">
              <a:ext uri="{FF2B5EF4-FFF2-40B4-BE49-F238E27FC236}">
                <a16:creationId xmlns:a16="http://schemas.microsoft.com/office/drawing/2014/main" id="{5E9738EC-BB0A-470D-8B5F-F4CC0946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97764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4 - MINGGU DEPAN</a:t>
            </a:r>
            <a:endParaRPr sz="1100"/>
          </a:p>
        </p:txBody>
      </p:sp>
      <p:sp>
        <p:nvSpPr>
          <p:cNvPr id="43" name="Text 29">
            <a:extLst xmlns:a="http://schemas.openxmlformats.org/drawingml/2006/main">
              <a:ext uri="{FF2B5EF4-FFF2-40B4-BE49-F238E27FC236}">
                <a16:creationId xmlns:a16="http://schemas.microsoft.com/office/drawing/2014/main" id="{FCE4ACA8-507B-4E79-887E-3A73E4A9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3484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Virtualisasi + Container Concepts</a:t>
            </a:r>
            <a:endParaRPr sz="1400"/>
          </a:p>
        </p:txBody>
      </p:sp>
      <p:sp>
        <p:nvSpPr>
          <p:cNvPr id="44" name="Text 30">
            <a:extLst xmlns:a="http://schemas.openxmlformats.org/drawingml/2006/main">
              <a:ext uri="{FF2B5EF4-FFF2-40B4-BE49-F238E27FC236}">
                <a16:creationId xmlns:a16="http://schemas.microsoft.com/office/drawing/2014/main" id="{CAD49150-65D6-4D6C-A468-0AF0CF4C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80060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Lab 03 menjadi contoh awal; Lab 04 membahas image dan lifecycle container.</a:t>
            </a:r>
            <a:endParaRPr sz="1100"/>
          </a:p>
        </p:txBody>
      </p:sp>
      <p:sp>
        <p:nvSpPr>
          <p:cNvPr id="45" name="Shape 31">
            <a:extLst xmlns:a="http://schemas.openxmlformats.org/drawingml/2006/main">
              <a:ext uri="{FF2B5EF4-FFF2-40B4-BE49-F238E27FC236}">
                <a16:creationId xmlns:a16="http://schemas.microsoft.com/office/drawing/2014/main" id="{5DDC8572-08ED-450C-A483-399E0CF2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49240"/>
            <a:ext cx="54864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06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b5ba506df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532120"/>
            <a:ext cx="594360" cy="594360"/>
          </a:xfrm>
          <a:prstGeom xmlns:a="http://schemas.openxmlformats.org/drawingml/2006/main" prst="rect">
            <a:avLst/>
          </a:prstGeom>
        </p:spPr>
      </p:pic>
      <p:sp>
        <p:nvSpPr>
          <p:cNvPr id="47" name="Text 32">
            <a:extLst xmlns:a="http://schemas.openxmlformats.org/drawingml/2006/main">
              <a:ext uri="{FF2B5EF4-FFF2-40B4-BE49-F238E27FC236}">
                <a16:creationId xmlns:a16="http://schemas.microsoft.com/office/drawing/2014/main" id="{98DE6381-CD99-4710-804A-5D7A4F19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94960"/>
            <a:ext cx="4069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Butuh bantuan?</a:t>
            </a:r>
            <a:endParaRPr sz="2000"/>
          </a:p>
        </p:txBody>
      </p:sp>
      <p:sp>
        <p:nvSpPr>
          <p:cNvPr id="48" name="Text 33">
            <a:extLst xmlns:a="http://schemas.openxmlformats.org/drawingml/2006/main">
              <a:ext uri="{FF2B5EF4-FFF2-40B4-BE49-F238E27FC236}">
                <a16:creationId xmlns:a16="http://schemas.microsoft.com/office/drawing/2014/main" id="{A3671099-AE38-4380-853A-379B2B1B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06440"/>
            <a:ext cx="4069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Tunjukkan output command dan log, tanpa secret.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366820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39602B-9131-4108-80E7-84C49831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28CC8D7-D06A-4694-9312-04B0EE80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8DF14A-FF5E-42DF-AB4C-D127C6AB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42839de9d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0c321cda54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81DE1B7-1950-4E2E-951F-BDF2CCC3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96A38C6-D2D5-4D24-86CF-F8A820CE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Jalur Kode Praktikum 3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004B624-3895-414D-945D-DCF22BA0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Repo: github.com/SeedFlora/meet3CloudService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1386118C-8335-447A-B947-91903B2D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C92778D-53E8-4517-9F5A-2C403E7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LANGKAH DI KELAS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/>
            </a:r>
            <a:endParaRPr sz="1100"/>
          </a:p>
        </p:txBody>
      </p:sp>
      <p:pic>
        <p:nvPicPr>
          <p:cNvPr id="4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377db939af40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D5A78FE-3A23-4A73-96BD-B27F58D9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repo lokal dan terminal Git Bash</a:t>
            </a:r>
            <a:endParaRPr sz="1100"/>
          </a:p>
        </p:txBody>
      </p:sp>
      <p:pic>
        <p:nvPicPr>
          <p:cNvPr id="4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d94fc473b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64408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A5CC008C-67D1-4F61-9C33-16A09509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172968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docker compose up -d --build --wait</a:t>
            </a:r>
            <a:endParaRPr sz="1100"/>
          </a:p>
        </p:txBody>
      </p:sp>
      <p:pic>
        <p:nvPicPr>
          <p:cNvPr id="5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c49b68504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831336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5DB07BA1-7D7C-4E23-A8A4-7D0C89FD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739896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 stack dengan bash tests/smoke.sh</a:t>
            </a:r>
            <a:endParaRPr sz="1100"/>
          </a:p>
        </p:txBody>
      </p:sp>
      <p:pic>
        <p:nvPicPr>
          <p:cNvPr id="53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9ac82bacc4d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398264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3B8BA09D-2CFE-47D3-AB11-09E4625A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306824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Periksa DNS, HTTP, port, dan TLS dari toolbox</a:t>
            </a:r>
            <a:endParaRPr sz="1100"/>
          </a:p>
        </p:txBody>
      </p:sp>
      <p:pic>
        <p:nvPicPr>
          <p:cNvPr id="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7b8abe6fb4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965192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619AEE47-689A-427B-B358-9BFDB8AF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73752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Isi student.json, catatan/Git opsional</a:t>
            </a:r>
            <a:endParaRPr sz="1100"/>
          </a:p>
        </p:txBody>
      </p:sp>
      <p:pic>
        <p:nvPicPr>
          <p:cNvPr id="5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21a43309ee4f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5321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855617F0-6C0D-4D7E-B2EE-D134CF52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4406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web port 8080 dan catat hasil observasi</a:t>
            </a:r>
            <a:endParaRPr sz="1100"/>
          </a:p>
        </p:txBody>
      </p:sp>
      <p:sp>
        <p:nvSpPr>
          <p:cNvPr id="24" name="Shape 14">
            <a:extLst xmlns:a="http://schemas.openxmlformats.org/drawingml/2006/main">
              <a:ext uri="{FF2B5EF4-FFF2-40B4-BE49-F238E27FC236}">
                <a16:creationId xmlns:a16="http://schemas.microsoft.com/office/drawing/2014/main" id="{3F63E87B-7EA6-48EB-A259-762B146F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5" name="Text 15">
            <a:extLst xmlns:a="http://schemas.openxmlformats.org/drawingml/2006/main">
              <a:ext uri="{FF2B5EF4-FFF2-40B4-BE49-F238E27FC236}">
                <a16:creationId xmlns:a16="http://schemas.microsoft.com/office/drawing/2014/main" id="{569EED1A-19FC-4381-80F0-B9260495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BERKAS PENDAMPING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/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100"/>
          </a:p>
        </p:txBody>
      </p:sp>
      <p:sp>
        <p:nvSpPr>
          <p:cNvPr id="26" name="Text 16">
            <a:extLst xmlns:a="http://schemas.openxmlformats.org/drawingml/2006/main">
              <a:ext uri="{FF2B5EF4-FFF2-40B4-BE49-F238E27FC236}">
                <a16:creationId xmlns:a16="http://schemas.microsoft.com/office/drawing/2014/main" id="{0060A71C-0BFA-4C00-ADCC-D05B1BC6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README, modul mahasiswa, Compose, tests/, screenshots/
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200"/>
          </a:p>
        </p:txBody>
      </p:sp>
      <p:sp>
        <p:nvSpPr>
          <p:cNvPr id="27" name="Shape 17">
            <a:extLst xmlns:a="http://schemas.openxmlformats.org/drawingml/2006/main">
              <a:ext uri="{FF2B5EF4-FFF2-40B4-BE49-F238E27FC236}">
                <a16:creationId xmlns:a16="http://schemas.microsoft.com/office/drawing/2014/main" id="{655FD27A-D09A-4C5A-9D09-CDBE3B7B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Text 18">
            <a:extLst xmlns:a="http://schemas.openxmlformats.org/drawingml/2006/main">
              <a:ext uri="{FF2B5EF4-FFF2-40B4-BE49-F238E27FC236}">
                <a16:creationId xmlns:a16="http://schemas.microsoft.com/office/drawing/2014/main" id="{7B72A9CF-1736-4344-AAF2-9E084E4A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Ikuti MODUL_MAHASISWA.md dan catat hasil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5331537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1b7d0979d4be4"/>
          <a:stretch xmlns:a="http://schemas.openxmlformats.org/drawingml/2006/main"/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4ebf28b394cb3"/>
          <a:stretch xmlns:a="http://schemas.openxmlformats.org/drawingml/2006/main"/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17605-DD82-46B7-BCA7-473E1AC0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CE852-D5F7-4A0D-9E9E-5B35AF39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55494-EAD3-4D47-97A4-6C2D848F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C2B61-DE7C-4A26-BAD6-7E826DB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343F1-21C4-44B0-9210-884BB7F7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Repo template dan Codespaces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298C1-3A7B-4529-A05E-94653EB9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https://github.com/SeedFlora/meet3CloudService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e24fc6ca3439d"/>
          <a:stretch xmlns:a="http://schemas.openxmlformats.org/drawingml/2006/main"/>
        </p:blipFill>
        <p:spPr>
          <a:xfrm xmlns:a="http://schemas.openxmlformats.org/drawingml/2006/main">
            <a:off x="844439" y="1574398"/>
            <a:ext cx="10503122" cy="284242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8890C-9DBF-48F2-88C6-4923975A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Klik: Use this template &gt; Create a new repository; Code &gt; Codespaces &gt; Create codespace on main.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DA3CE-A1B4-4103-9FF9-5B7246CA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815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Tujuan: tiap mahasiswa punya salinan repo dan lingkungan Linux sendiri.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EBC0E-C912-4555-BC81-F8D2A3CF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911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.devcontainer menyiapkan terminal dan Docker-in-Docker.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3FFDC-D64C-425A-9FB3-F89BE20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007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halaman repo menunjukkan label Public template.</a:t>
            </a:r>
          </a:p>
        </p:txBody>
      </p:sp>
    </p:spTree>
    <p:extLst>
      <p:ext uri="{BB962C8B-B14F-4D97-AF65-F5344CB8AC3E}">
        <p14:creationId xmlns:p14="http://schemas.microsoft.com/office/powerpoint/2010/main" val="213430909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c7fe56b7c497e"/>
          <a:stretch xmlns:a="http://schemas.openxmlformats.org/drawingml/2006/main"/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8f62d3898423d"/>
          <a:stretch xmlns:a="http://schemas.openxmlformats.org/drawingml/2006/main"/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08FF9-CFC6-4369-A3F6-AD9A30DF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86AF8-19EA-4D6C-A921-25661A9A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B5AB7-2645-4459-8D23-220C41D4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C78088-5E7F-4966-B910-0C96BF69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1F947-29C0-4BF7-A552-6E92F891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Docker Compose di Codespaces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3B511-BC4A-4A30-AE5A-31655491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Periksa status sesudah docker compose up -d --build --wait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1176adc7a4dfc"/>
          <a:stretch xmlns:a="http://schemas.openxmlformats.org/drawingml/2006/main"/>
        </p:blipFill>
        <p:spPr>
          <a:xfrm xmlns:a="http://schemas.openxmlformats.org/drawingml/2006/main">
            <a:off x="619125" y="1759683"/>
            <a:ext cx="10953750" cy="225278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C9E51-26A9-4803-8A2A-BDAD04D1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910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Perintah: docker compose ps --format "{{.Service}} {{.State}} {{.Health}}" &amp;&amp; bash tests/smoke.sh | tail -n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70F1B-8492-49B6-B5BB-F1549041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Tujuan: periksa empat service lalu jalankan smoke dari root repo.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B9576-DE8D-4897-968A-49E7206E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29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&amp;&amp; lanjut jika ps sukses; tail -n 4 meringkas hasil smoke.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FE1825-C1CA-46AF-91E0-3B72D3CE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empat service aktif dan smoke 12 PASS, 0 FAIL.</a:t>
            </a:r>
          </a:p>
        </p:txBody>
      </p:sp>
    </p:spTree>
    <p:extLst>
      <p:ext uri="{BB962C8B-B14F-4D97-AF65-F5344CB8AC3E}">
        <p14:creationId xmlns:p14="http://schemas.microsoft.com/office/powerpoint/2010/main" val="151081327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b2d54ca364ffc"/>
          <a:stretch xmlns:a="http://schemas.openxmlformats.org/drawingml/2006/main"/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905681ce9f43b5"/>
          <a:stretch xmlns:a="http://schemas.openxmlformats.org/drawingml/2006/main"/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ED5E8-8D25-4A9C-BAD9-E064091F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71832-A888-4C41-A199-CE681072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45F9-D701-4026-93F3-25AEB9D2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02153-2F36-4E48-B766-48164FCC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61A8A5-0646-43D1-A01A-FD7B064C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Halaman web pada port 8080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C93AA-68A6-4B48-A170-4D0EB9D2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Ports &gt; 8080 &gt; Open in Browser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2415a67f84e51"/>
          <a:stretch xmlns:a="http://schemas.openxmlformats.org/drawingml/2006/main"/>
        </p:blipFill>
        <p:spPr>
          <a:xfrm xmlns:a="http://schemas.openxmlformats.org/drawingml/2006/main">
            <a:off x="625549" y="1666875"/>
            <a:ext cx="10940902" cy="2800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77D023-2AD5-439B-8034-9C3911DF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339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Klik: Ports &gt; 8080 &gt; Open in Browser; lalu Periksa ulang.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DACA7-1F0E-43E6-A5EA-D346FE27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434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Tujuan: amati status tiga tier dari browser.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B9017-4746-43BC-A72C-B3758503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53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nginx meneruskan /api/health ke Node.js; API membaca PostgreSQL.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A632D-D999-48DE-8919-FDCB02A2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web, api, dan db berlabel berjalan.</a:t>
            </a:r>
          </a:p>
        </p:txBody>
      </p:sp>
    </p:spTree>
    <p:extLst>
      <p:ext uri="{BB962C8B-B14F-4D97-AF65-F5344CB8AC3E}">
        <p14:creationId xmlns:p14="http://schemas.microsoft.com/office/powerpoint/2010/main" val="1407764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59631247c407f"/>
          <a:stretch xmlns:a="http://schemas.openxmlformats.org/drawingml/2006/main"/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d63156c3094f2c"/>
          <a:stretch xmlns:a="http://schemas.openxmlformats.org/drawingml/2006/main"/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8578B2-D2DB-47BA-B62D-A6951D44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6645E-C46C-48D7-A772-A9A0C24A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B6D6B-F108-4B9B-92C8-A3CE458A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E9A8B-D07C-4CD0-9858-E5783043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CDC60-F464-4D99-A0BC-BA49BDA3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DNS dan rute antarkontainer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FEBE9-A369-4E10-94BC-CE82DB85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Jalankan dig, nslookup, ping, dan traceroute dari toolbox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61d1ad13e43d8"/>
          <a:stretch xmlns:a="http://schemas.openxmlformats.org/drawingml/2006/main"/>
        </p:blipFill>
        <p:spPr>
          <a:xfrm xmlns:a="http://schemas.openxmlformats.org/drawingml/2006/main">
            <a:off x="716003" y="1666875"/>
            <a:ext cx="10759995" cy="2533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3637C-DD90-406B-989F-3BBF9B3A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17212C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17212C"/>
                </a:solidFill>
                <a:latin typeface="Consolas"/>
                <a:ea typeface="Consolas"/>
                <a:cs typeface="Consolas"/>
              </a:rPr>
              <a:t>Perintah gambar: docker compose exec -T toolbox bash -lc 'echo DNS; dig +short web; nslookup api | tail -n 4;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17212C"/>
                </a:solidFill>
                <a:latin typeface="Consolas"/>
                <a:ea typeface="Consolas"/>
                <a:cs typeface="Consolas"/>
              </a:defRPr>
            </a:pPr>
            <a:r>
              <a:rPr sz="1050" b="0" i="0">
                <a:solidFill>
                  <a:srgbClr val="17212C"/>
                </a:solidFill>
                <a:latin typeface="Consolas"/>
                <a:ea typeface="Consolas"/>
                <a:cs typeface="Consolas"/>
              </a:rPr>
              <a:t>echo PING; ping -c 1 web | tail -n 2; echo TRACE; traceroute -m 3 web | head -n 2'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AD328-36EE-435D-AFE9-21A8C493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625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Tujuan: uji DNS, ping, dan traceroute pada nama service Compose.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193DC-B370-4A40-BBC1-45AC4FB1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816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; memisah perintah; | tail/head meringkas output tiap alat.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BCFBD-B2C0-45C6-BD76-325C756D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007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web/api mendapat IP Docker, ping 0% loss, traceroute 1 hop.</a:t>
            </a:r>
          </a:p>
        </p:txBody>
      </p:sp>
    </p:spTree>
    <p:extLst>
      <p:ext uri="{BB962C8B-B14F-4D97-AF65-F5344CB8AC3E}">
        <p14:creationId xmlns:p14="http://schemas.microsoft.com/office/powerpoint/2010/main" val="32482283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81444ffbd4f9c"/>
          <a:stretch xmlns:a="http://schemas.openxmlformats.org/drawingml/2006/main"/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6ddeb97404413"/>
          <a:stretch xmlns:a="http://schemas.openxmlformats.org/drawingml/2006/main"/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D8714-CB69-4BA2-AECA-A2057810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B1AC6-F35F-4AE5-9C37-DE100CF9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1C191-FFB6-468E-BCDF-45A036E5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A52D7-A7A5-4570-A23D-A14EF501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EF37C-C580-46F7-AF25-4105ADC2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HTTP, port, dan OpenSSL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E28BE-93AE-44BF-A3CF-3D039551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curl, wget, nmap, nc, dan openssl dari toolbox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bd15a2e12c4b13"/>
          <a:stretch xmlns:a="http://schemas.openxmlformats.org/drawingml/2006/main"/>
        </p:blipFill>
        <p:spPr>
          <a:xfrm xmlns:a="http://schemas.openxmlformats.org/drawingml/2006/main">
            <a:off x="1285875" y="1390650"/>
            <a:ext cx="962025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B70A6-EAF4-415E-A95F-41CCE3A3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672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05" b="0" i="0">
                <a:solidFill>
                  <a:srgbClr val="17212C"/>
                </a:solidFill>
                <a:latin typeface="Consolas"/>
                <a:ea typeface="Consolas"/>
                <a:cs typeface="Consolas"/>
              </a:defRPr>
            </a:pPr>
            <a:r>
              <a:rPr sz="1005" b="0" i="0">
                <a:solidFill>
                  <a:srgbClr val="17212C"/>
                </a:solidFill>
                <a:latin typeface="Consolas"/>
                <a:ea typeface="Consolas"/>
                <a:cs typeface="Consolas"/>
              </a:rPr>
              <a:t>Perintah gambar: docker compose exec -T toolbox bash -lc 'curl -s -o /dev/null -w "HTTP %{http_code}\n" http://web/api/health; wget -qO- http://web/api/health; echo; nmap -sT -Pn -p 3000,5432,8080 host.docker.internal | tail -n 6; nc -vz -w 2 api 3000; openssl version'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DFA31-7200-46A0-8620-4C4C573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0545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Tujuan: cek HTTP, port host, koneksi TCP API, dan ketersediaan OpenSSL.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D0EFC-F7C0-4AE1-8BC0-39C27B14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531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; memisah perintah; | tail -n 6 meringkas hasil nmap.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A6C37-EF95-4B57-8B14-16F33B23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0075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HTTP 200, status db up, koneksi nc sukses. Sertifikat diuji setelah HTTPS aktif.</a:t>
            </a:r>
          </a:p>
        </p:txBody>
      </p:sp>
    </p:spTree>
    <p:extLst>
      <p:ext uri="{BB962C8B-B14F-4D97-AF65-F5344CB8AC3E}">
        <p14:creationId xmlns:p14="http://schemas.microsoft.com/office/powerpoint/2010/main" val="162207468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07b2b91fb47e5"/>
          <a:stretch xmlns:a="http://schemas.openxmlformats.org/drawingml/2006/main"/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d64cfa8f14998"/>
          <a:stretch xmlns:a="http://schemas.openxmlformats.org/drawingml/2006/main"/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5A7017-7AB7-4949-B0A1-12FF5AF3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3EA7FA-9BD2-4DF2-B86E-02B2715A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59801-1FE1-4BE8-A2A4-A9169DD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B4939-F2DE-498D-BB60-EFB78624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32DF6-D53C-4C43-B3DB-56129BF7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Target akhir: port host hanya pada web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31D34-B340-4CF5-852C-0AECF76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Bukti setelah segmentasi jaringan dan TLS selesai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d7cf4998f54e7d"/>
          <a:stretch xmlns:a="http://schemas.openxmlformats.org/drawingml/2006/main"/>
        </p:blipFill>
        <p:spPr>
          <a:xfrm xmlns:a="http://schemas.openxmlformats.org/drawingml/2006/main">
            <a:off x="619125" y="1735534"/>
            <a:ext cx="10953750" cy="228203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FF59C-167E-47EE-A2E0-38902612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910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Perintah: docker compose ps --format 'table {{.Service}}\t{{.Status}}\t{{.Ports}}'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12198-DCF2-4F99-8B08-B66B41F4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Tujuan: bandingkan port host dengan port internal setiap service.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6DB8C0-33F5-44B6-9E3E-2DEFB6BC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292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Docker merangkum status health dan mapping ports dari Compose.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0F4DA-1114-4807-9ED3-088FBBD3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hanya web mem-publish 8080-&gt;80 dan 8443-&gt;443; API/DB tetap healthy.</a:t>
            </a:r>
          </a:p>
        </p:txBody>
      </p:sp>
    </p:spTree>
    <p:extLst>
      <p:ext uri="{BB962C8B-B14F-4D97-AF65-F5344CB8AC3E}">
        <p14:creationId xmlns:p14="http://schemas.microsoft.com/office/powerpoint/2010/main" val="99953396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1686f1eac4eaf"/>
          <a:stretch xmlns:a="http://schemas.openxmlformats.org/drawingml/2006/main"/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4146f83bd42ee"/>
          <a:stretch xmlns:a="http://schemas.openxmlformats.org/drawingml/2006/main"/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6B3E9-40F9-42AA-8DB5-91EDFED9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0938C-6F6B-4E20-8CFA-77D965B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94C03B-6BC5-4E7F-B9FC-E34D601A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F9DD2-308E-4046-8F56-BB8F7CEA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63CF9-BC17-4ED0-B972-03C3CF9D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Target akhir: HTTPS tervalidasi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88824-A199-4FD0-8710-ECC25C70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Sesudah edit compose.yaml dan docker compose up --force-recreate --wait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49bc25bf0a47b8"/>
          <a:stretch xmlns:a="http://schemas.openxmlformats.org/drawingml/2006/main"/>
        </p:blipFill>
        <p:spPr>
          <a:xfrm xmlns:a="http://schemas.openxmlformats.org/drawingml/2006/main">
            <a:off x="1393371" y="1457325"/>
            <a:ext cx="9405257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DC990-0E7D-4A2F-9FA7-4EC0B58B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196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Perintah: docker compose exec toolbox bash scripts/make-cert.sh, lalu salin https.conf.example ke https.conf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7E849-97F3-4FB1-B118-C02C1888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768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Lanjut: masuk dengan docker compose exec toolbox bash, lalu curl --cacert /lab/web/certs/lab.crt https://web/api/health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D4AB8-1A7F-4B06-8BBE-C2BC098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340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Tujuan/cara: nginx menyajikan TLS di 443; curl --cacert memverifikasi sertifikat sebelum request ke API.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DF477-69B4-44B5-A957-4CD93C1C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badge HTTPS, 8443-&gt;443, web/api/db berjalan; curl HTTP 200.</a:t>
            </a:r>
          </a:p>
        </p:txBody>
      </p:sp>
    </p:spTree>
    <p:extLst>
      <p:ext uri="{BB962C8B-B14F-4D97-AF65-F5344CB8AC3E}">
        <p14:creationId xmlns:p14="http://schemas.microsoft.com/office/powerpoint/2010/main" val="146316136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af0c3059b498a"/>
          <a:stretch xmlns:a="http://schemas.openxmlformats.org/drawingml/2006/main"/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b3810eea74d97"/>
          <a:stretch xmlns:a="http://schemas.openxmlformats.org/drawingml/2006/main"/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88161-3595-40CC-9A98-6D829134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6E8D8-8EAC-4E04-B89D-BD3291D1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2DE2D-F3FD-4DAF-ABE0-4E520F4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AA69E-FCDC-4D6B-9494-8F23803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82E5C-0A17-4C8D-9521-9DD9AAB7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Target akhir: POST menghasilkan 201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C6347-CAF2-4D8E-9281-0D819D91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Catatan dari browser tersimpan ke PostgreSQL melalui HTTPS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a66a27a174d10"/>
          <a:stretch xmlns:a="http://schemas.openxmlformats.org/drawingml/2006/main"/>
        </p:blipFill>
        <p:spPr>
          <a:xfrm xmlns:a="http://schemas.openxmlformats.org/drawingml/2006/main">
            <a:off x="621290" y="1504950"/>
            <a:ext cx="5805920" cy="42576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CDEBE-F286-449D-8663-9780626A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430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Klik: buka https://localhost:8443, isi Tulis catatan, lalu Simpan catatan.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CE182-1A01-48C3-9766-7BDED06A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5747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Tujuan: buktikan jalur tulis browser ke nginx, API, lalu PostgreSQL.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DC2DB-8675-42ED-A466-25D61A39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956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POST /api/notes menyimpan baris; API mengembalikan 201 Created.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05CDA-506E-4E66-AD5D-07B86423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767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pesan Catatan #4 tersimpan dan catatan baru muncul di daftar.</a:t>
            </a:r>
          </a:p>
        </p:txBody>
      </p:sp>
    </p:spTree>
    <p:extLst>
      <p:ext uri="{BB962C8B-B14F-4D97-AF65-F5344CB8AC3E}">
        <p14:creationId xmlns:p14="http://schemas.microsoft.com/office/powerpoint/2010/main" val="213679952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11ccfc1124b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bc23f8903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17605-DD82-46B7-BCA7-473E1AC0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5CE852-D5F7-4A0D-9E9E-5B35AF39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55494-EAD3-4D47-97A4-6C2D848F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C2B61-DE7C-4A26-BAD6-7E826DB8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2343F1-21C4-44B0-9210-884BB7F7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contoh repo template 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298C1-3A7B-4529-A05E-94653EB9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Screenshot template; mahasiswa cek repo pribadi setelah 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28890C-9DBF-48F2-88C6-4923975A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Perintah: git push -u origin main; lalu buka URL repo pribadi mahasiswa.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DA3CE-A1B4-4103-9FF9-5B7246CA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8157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Fungsi: pastikan commit, modul, screenshot, dan kode muncul di repo pribadi.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EBC0E-C912-4555-BC81-F8D2A3CF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911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Git mengirim commit ke origin; GitHub menampilkan isi branch main.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3FFDC-D64C-425A-9FB3-F89BE208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00725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gambar ini template SeedFlora; cek commit dan Actions repo pribadi. X merah template = TODO awal.</a:t>
            </a:r>
          </a:p>
        </p:txBody>
      </p:sp>
      <p:pic>
        <p:nvPicPr>
          <p:cNvPr id="2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792f700ea4b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3827" y="1574398"/>
            <a:ext cx="8744345" cy="28424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38937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3e5a1b42d4b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5194"/>
            <a:ext cx="914400" cy="602299"/>
          </a:xfrm>
          <a:prstGeom xmlns:a="http://schemas.openxmlformats.org/drawingml/2006/main" prst="rect">
            <a:avLst/>
          </a:prstGeom>
        </p:spPr>
      </p:pic>
      <p:pic>
        <p:nvPicPr>
          <p:cNvPr id="18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5c46de2734e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3387"/>
            <a:ext cx="1005840" cy="5110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88161-3595-40CC-9A98-6D829134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ln xmlns:a="http://schemas.openxmlformats.org/drawingml/2006/main" w="12668">
            <a:solidFill>
              <a:srgbClr val="E2E8F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6E8D8-8EAC-4E04-B89D-BD3291D1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0">
            <a:solidFill>
              <a:srgbClr val="F3702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2DE2D-F3FD-4DAF-ABE0-4E520F4E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315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AA69E-FCDC-4D6B-9494-8F238033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82E5C-0A17-4C8D-9521-9DD9AAB7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95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defRPr>
            </a:pPr>
            <a:r>
              <a:rPr sz="2200" b="1" i="0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Penutup: cleanup Compose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C6347-CAF2-4D8E-9281-0D819D91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Visualisasi output command aktual; bukan screenshot terminal mentah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CDEBE-F286-449D-8663-9780626A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430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Perintah: docker compose down; lalu docker compose 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CE182-1A01-48C3-9766-7BDED06A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5747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Fungsi: hentikan lab dan pastikan daftar container Compose kosong.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DC2DB-8675-42ED-A466-25D61A39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9567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Cara kerja: down menghapus container/network; tanpa -v volume DB tetap 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05CDA-506E-4E66-AD5D-07B86423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767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17212C"/>
                </a:solidFill>
                <a:latin typeface="Calibri"/>
                <a:ea typeface="Calibri"/>
                <a:cs typeface="Calibri"/>
              </a:rPr>
              <a:t>Baca hasil: exit 0 dan ps kosong; data volume dipertahankan.</a:t>
            </a:r>
          </a:p>
        </p:txBody>
      </p:sp>
      <p:pic>
        <p:nvPicPr>
          <p:cNvPr id="2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a8de32cd7f4c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290" y="1651700"/>
            <a:ext cx="5805920" cy="39641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73023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2026-10-07T19:08:53.3050000Z</dcterms:created>
  <dcterms:modified xsi:type="dcterms:W3CDTF">2026-10-07T19:08:53.3050000Z</dcterms:modified>
</coreProperties>
</file>